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Gracias, presidente.
Soy Fernando Román Hidalgo y presento el Trabajo Fin de Grado «Estrategias de gestión energética para una estación de repostaje multi-energía», dirigido por el catedrático Miguel Ángel Ridao Carlini, del Departamento de Ingeniería de Sistemas y Automática.
La charla tiene tres movimientos: el planteamiento y los datos, los dos modelos de predicción, y los tres gestores de energía que comparo.
— — — — —
NO SE DICE · objetivo 0:29 · No leas el título: ya está en pantalla. Anuncia la estructura y levanta la vista.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transporte es una cuarta parte de las emisiones de la Unión, y casi tres cuartas partes de esa fracción son carretera. Es uno de los focos que el Pacto Verde Europeo tiene que cerrar.
El marco ya pone fechas. La Hoja de Ruta del Hidrógeno española fija entre cien y ciento cincuenta hidrogeneras públicas para dos mil treinta y sitúa los corredores de repostaje verde como prioridad; el PNIEC fija cinco millones y medio de vehículos eléctricos para esa fecha; y el reglamento europeo AFIR convierte el despliegue de recarga en objetivos vinculantes.
El problema es esa fragmentación: cada vector arrastra hoy su propia infraestructura y su propia inversión.
Y ya hay precedentes. Repsol inauguró en dos mil veinticinco la estación de Morro Jable, en Fuerteventura: fotovoltaica, baterías, pila de hidrógeno y recarga eléctrica. Es casi la combinación de OASIS, a menor escala y sin electrolizador propio.
Con esa integración el reto deja de ser de dimensionamiento y pasa a ser de operación: decidir, en cada instante, de dónde sale cada kilovatio.
— — — — —
NO SE DICE · objetivo 1:17 · Las dos referencias que demuestran que has investigado —H2ME y Morro Jable— van habladas, no en pantalla. Morro Jable es tu mejor baza: casi los mismos componentes que OASIS.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instalación: la microrred OASIS del departamento, modelada en Simulink sobre la librería Simugrid. Quinientos kilovatios pico de fotovoltaica en marquesina, una batería de un megavatio-hora, un electrolizador PEM de doscientos kilovatios, dos tanques de hidrógeno a distinta presión con su compresor, una pila de combustible y dos cargadores rápidos.
El caso base con el que se ha dimensionado es el panorama actual proyectado a dos mil treinta, el de las cifras de la diapositiva anterior, y no un escenario de penetración masiva.
De todas estas cifras, dos están dimensionadas en este trabajo y no heredadas: la potencia del cargador y su número. Las justifico enseguida con los datos de demanda.
— — — — —
NO SE DICE · objetivo 0:51 · No recites la tabla: está en pantalla. Lo que aportas hablando es la distinción entre heredado y dimensionado.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gestor de energía es este único bloque de Simulink, y toma tres decisiones.
Cuando sobra sol, cómo repartir el excedente entre cargar la batería y producir hidrógeno. Cuando falta, en qué orden cubrir el déficit: batería, pila, red. Y en todo momento, si conviene producir hidrógeno o reponerlo desde fuera, comparando el coste del kilogramo producido aquí con su precio de reposición.
Todas las versiones que voy a comparar mantienen exactamente esta firma. Cambia el script del bloque de decisión y nada más: el mismo modelo físico, los mismos perfiles de entrada, la misma semilla de demanda.
Y el objetivo del trabajo no es solo mejorar ese gestor, sino poder atribuir la mejora: cuánto viene de la predicción y cuánto de las reglas que la consumen.
— — — — —
NO SE DICE · objetivo 0:56 · «Solo cambia el bloque de decisión» es tu primer blindaje metodológico.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primer bloque de datos sirve para dimensionar, y fija dos parámetros de la instalación.
La fuente es DESL-EPFL, casi mil novecientas sesiones reales de carga rápida, con una energía media de treinta y dos kilovatios-hora. La contrasto con Caltech, que es carga lenta, para comprobar que son familias distintas.
De ahí salen las dos decisiones. Los cincuenta kilovatios del cargador, que es el estándar europeo de carga rápida en continua y que con la energía media cubren una sesión en unos cuarenta minutos, sin exigir transformador de media tensión. Y que los cargadores sean dos, por teoría de colas sobre la hora punta: con dos, la espera se mantiene acotada.
Dimensiono sobre el panorama actual a propósito: es el escenario del que hay datos reales, y escalar hacia arriba siempre es más fácil que hacia abajo, más aún con una arquitectura modular como esta.
Con esas distribuciones se genera el perfil de demanda de cada simulación. Es estocástico, y eso importará en la comparación.
— — — — —
NO SE DICE · objetivo 1:14 · Este bloque es trabajo tuyo de principio a fin. Cuéntalo con calma: es lo que justifica que la instalación sea creíble.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segundo bloque es el de entrenamiento, y son dos fuentes públicas alineadas hora a hora.
Para la irradiancia, NASA POWER, que es un reanálisis meteorológico: de ahí saco, para el punto de Sevilla, casi veinte años de registro horario y las variables que explican la nubosidad. Un detalle que merece la pena: la hora y el día no entran como un número, sino codificados en seno y coseno, para que el modelo sepa que las once y las doce de la noche son contiguas y no los dos extremos de una escala.
Para el precio, las casaciones del mercado diario español a través de ENTSO-E. Además del histórico, entra el contexto que explica su deriva: sobre todo la capacidad fotovoltaica instalada en España, que ha crecido lo suficiente como para cambiar la forma del precio a mediodía.
Y un detalle que importa: el reparto entre entrenamiento y prueba es temporal, nunca aleatorio. Mezclar horas le regalaría al modelo información del futuro.
— — — — —
NO SE DICE · objetivo 1:12 · La frase del split es la que te compra credibilidad con un tribunal que sabe de aprendizaje automático.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dos redes comparten arquitectura: dos capas LSTM apiladas, de ciento veintiocho y sesenta y cuatro unidades, con dropout, capa densa y salida de veinticuatro valores, el horizonte de un día. Se entrenan con Adam y paran por criterio de validación. En pantalla, la curva de RMSE: azul entrenamiento, negro validación. No se separan: no hay sobreajuste.
Entreno con RMSE, el error cuadrático medio, porque al elevar al cuadrado penaliza mucho más un fallo grande que varios pequeños, y aquí lo que rompe una decisión es el fallo grande: no ver una punta de precio o una caída de sol. Para comparar modelos uso después el error absoluto medio, que está en las unidades de la variable y no lo dominan cuatro horas atípicas.
Una diferencia que importa: el modelo solar puede imponer que la irradiancia predicha no sea negativa. El de precio no, porque el precio admite negativos.
— — — — —
NO SE DICE · objetivo 1:06 · Rápida. Es la diapositiva de «así están hechas», no de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aquí está el problema, el resultado que reorientó este capítulo.
Cada red se evalúa contra su línea base: la solar contra la persistencia de cielo claro, la de precio contra la de veinticuatro horas. Y no es una vara de medir cualquiera: en estas dos series el día de hoy se parece muchísimo al de ayer, así que «lo mismo que ayer» acierta la mayor parte del tiempo. Es una referencia dura.
Ninguna de las dos la bate: la solar queda un ocho coma ocho por ciento por detrás, la de precio un siete coma uno.
Pero el motivo de esa derrota es lo que abre la solución. Una red recurrente está pensada para anticipar cambios, no para repetir lo de ayer. En las horas en que no cambia nada, que son la mayoría, la persistencia es imbatible; en las que sí cambia, que son las que deciden, aporta la red. Aciertan en sitios distintos: la salida no es elegir una, sino combinarlas.
— — — — —
NO SE DICE · objetivo 1:13 · Presentar esto como resultado medido, no como fallo. Es lo que demuestra que validaste contra la referencia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solución tiene tres partes, y ninguna exige reentrenar.
La primera es física: acotar la predicción a la envolvente de cielo claro, no dejar que la irradiancia prevista supere la de un día despejado. Con eso el error absoluto medio diurno —cuánto me equivoco de media cada hora, en las unidades de la variable— baja de cincuenta y nueve a cincuenta y seis vatios-hora por metro cuadrado.
La segunda da nombre a la diapositiva: ponderar la red con su propia línea base, una combinación convexa con un peso distinto por cada hora del horizonte, ajustado en validación y nunca en test.
La tercera es la corrección del lazo cerrado, realimentando con el precio real de la hora ya transcurrida, que sigue siendo causal.
El resultado son esas dos cifras, y conviene decir sobre qué se miden: no sobre no predecir nada, sino sobre la persistencia, que ya acierta la mayor parte del tiempo.
— — — — —
NO SE DICE · objetivo 1:08 · Esta es la diapositiva que cierra el bloque de redes. Deja claro que lo desplegado es la señal combinada.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comparar los gestores hacen falta escenarios, y no los elegí al azar: cruzan las dos variables que gobiernan la decisión del EMS, recurso solar y régimen de precio.
Un laborable soleado con precio plano. Un laborable nublado, con índice de claridad de cero coma treinta y seis y punta de ciento noventa y cuatro euros el megavatio-hora, que es el caso sin excedente. Un fin de semana soleado con precio casi nulo a mediodía. Y el día de mayor diferencial de dos mil veinticinco, de veinticuatro a doscientos cincuenta y dos euros.
Y cada uno se repite con varias semillas del generador de demanda, porque la demanda es estocástica.
— — — — —
NO SE DICE · objetivo 0:49 · Enlaza directa con la siguiente: «y esas semillas son la clave de cómo comparo».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las cifras, las cuatro piezas que las sostienen.
La primera es comparar en pareja, que es el esquema: la misma semilla genera el mismo perfil de demanda para todas las versiones, así que comparo dos versiones sobre la misma semana y no dos promedios. El azar de la demanda se va en la resta. Veinte pares: cuatro escenarios por cinco semillas.
La segunda es el test de Wilcoxon: en vez de mirar si la media mejora, mira si las diferencias caen siempre del mismo lado. Lo elegí porque unas pocas semanas nubladas muy caras bastaban para arrastrar la media.
La tercera es un umbral de relevancia, y es el que me pongo en contra: por debajo de nueve euros a la semana, que es lo que varía la propia referencia solo por cambiar de semillas, lo doy por empate. Fijado antes de simular.
Y la cuarta es el oráculo: repetir la tanda con la previsión perfecta. Es un techo. Si con previsión perfecta una idea no gana, mejorar la predicción no la va a salvar.
— — — — —
NO SE DICE · objetivo 1:19 · Ritmo pausado, una pieza cada vez. Es la diapositiva que te compra credibilidad para todo el bloque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primer gestor, la Versión A, es la referencia: viene del TFM previo del grupo y lo he portado a esta arquitectura.
Quiero insistir en lo que ya trae, porque condiciona cómo se lee todo lo demás. Reparto dinámico de potencia entre batería y electrolizador por tramos de estado de carga. Tiempo mínimo de funcionamiento de dos horas con histéresis y anti-rebote, para que los equipos electroquímicos no conmuten cada pocos minutos. La gestión de los dos niveles de presión con su compresor. Y una decisión económica de producir hidrógeno frente a reponerlo fuera.
Es decir, ya tiene los mecanismos que distinguen a un gestor de reglas maduro de un reparto por prioridades. Lo que no tiene es ninguna predicción.
— — — — —
NO SE DICE · objetivo 0:54 · Si el tribunal no retiene esto, el 14 % del final parecerá fácil. Insiste.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Versión B es la misma heurística con las dos previsiones metidas dentro. No cambia la arquitectura: cambia lo que mira la regla en el momento de decidir.
La previsión solar entra en el reparto del excedente: antes dependía solo del estado de carga de ese instante; ahora, si la previsión anticipa que el excedente va a caer, el reparto se desplaza hacia la batería antes de que caiga. Y la de precio gobierna un arbitraje de batería.
B tiene una victoria y un empate. La victoria es el servicio de hidrógeno, en treinta y nueve de cuarenta pares, y lo importante no es el tamaño sino que escala con la calidad de la previsión: con el oráculo se multiplica por diez. Lo que limita es la predicción, no el diseño.
El empate es el coste, y de ahí sale la regla de diseño que aplico después: la primera versión del arbitraje traducía «el precio va a subir» en una acción de tamaño fijo, y empeoraba el coste, más cuanto mejor era la previsión. Una acción disparada por una previsión tiene que estar condicionada, y su tamaño salir del margen económico disponible.
— — — — —
NO SE DICE · objetivo 1:25 · Tono de quien informa. B tiene su victoria y la cuentas primero; el empate en coste viene después y sin disculpas.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descomponer la importación de la Versión A por destinos aparece esto, y es lo que motiva el tercer gestor.
De los mil trescientos veintiún kilovatios-hora que compra a la red en una semana, el setenta y seis por ciento van al electrolizador, a ciento veintiuno con cinco euros el megavatio-hora. Y en los instantes exactos en que los compra, la batería está al ochenta y cinco por ciento de media.
Pongan eso junto al otro lado del balance: en esa misma semana la estación exporta catorce mil kilovatios-hora a treinta y nueve euros. Vende diez veces más energía de la que compra, y la compra tres veces más cara de lo que la vende. Está pasando la misma energía dos veces por el contador, y perdiendo en los dos sentidos.
El motivo está en el orden del código: la batería cubre primero los vehículos y, en un paso posterior, la decisión económica enciende el electrolizador; esa carga nueva no se le vuelve a ofrecer, así que la absorbe la red.
— — — — —
NO SE DICE · objetivo 1:17 · Sobrio. Es un diagnóstico de ingeniería, no una revelación. Deja aire entre las tres cifras y sigue.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Versión C separa dos decisiones que la heurística tomaba juntas: de dónde sale la energía del electrolizador y cuándo conviene producir. En pantalla, los cuatro pasos de la lógica común, con los dos que sustituyo en ámbar.
El primero son diez líneas: la carga que crea la decisión de producir hidrógeno se le ofrece a la batería antes que a la red, mientras el estado de carga esté por encima del sesenta por ciento. Ese sesenta sale del contrafactual del diagnóstico anterior.
El segundo es un planificador: estima cuánto hidrógeno falta y cuánto excedente gratis viene, y de ahí salen las horas de electrolizador que hay que comprar a la red, que se colocan en las más baratas del horizonte.
Conviene precisar de dónde sale ese precio. El mercado diario publica sobre la una de la tarde las veinticuatro horas del día siguiente: la parte del horizonte ya publicada se usa tal cual, y solo se predice el tramo que aún no ha salido a mercado.
Y lo que hace defendible la regla es que solo usa el orden: la decisión es «estoy entre las ene más baratas, sí o no», y eso no cambia si la previsión falla en el nivel mientras acierte en el orden.
— — — — —
NO SE DICE · objetivo 1:33 · La invariancia monótona es el argumento más elegante del trabajo. Dilo despacio.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resultados de la Versión C, sobre siete días y veinte pares escenario-semilla.
La figura es la diferencia de coste de cada versión frente a la A, escenario por escenario, y la banda gris es el umbral de relevancia. La Versión B cae dentro de la banda en los cuatro: en coste empata. La C se sale por la izquierda en los cuatro, y por bastante.
En la tabla, las tres métricas: cincuenta y dos euros con tres menos por semana, un trece coma nueve por ciento, ganando en los veinte pares; un cincuenta y cuatro por ciento menos de importación; y la autosuficiencia del ochenta y siete coma siete al noventa y cuatro coma tres.
El orden entre escenarios no lo fija el excedente disponible, sino el precio al que compraba el electrolizador: se ahorra más donde más caro compraba.
Y la mejora tiene un precio, que declaro yo: la batería cicla dos coma dos veces más, con la degradación sin modelar, y en el nublado hay que reponer desde fuera tres kilos de hidrógeno a la semana en vez de uno. Valorado dentro del coste, pero es un dato de operación.
— — — — —
NO SE DICE · objetivo 1:26 · El contrapeso va en la misma diapositiva y lo dices tú. No lo dejes para que lo pregunten.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como cada mecanismo tiene su interruptor, la mejora se puede atribuir pieza a pieza. Tres tandas, el mismo fichero, los mismos veinte pares. C-cero es solo el primer cambio; C-pe le añade el planificador con el precio ya publicado; y C es la versión completa.
Alimentar el electrolizador desde la batería, solo eso: menos cuarenta y siete euros con uno. El noventa por ciento del ahorro, en veinte de veinte pares.
Añadir la programación de las horas: cinco euros con uno más. Significativa, pero por debajo de mi umbral de relevancia, así que la declaro como tal. El mecanismo no es comprar más barato, sino comprar menos.
Y añadir la red neuronal de precio: cero. Las dos tandas salen idénticas a precisión de máquina en los cuarenta indicadores. La razón es de disponibilidad de información: el mercado diario publica a las trece horas el precio del día siguiente, así que entre once y treinta y cinco horas del horizonte no hay nada que predecir.
— — — — —
NO SE DICE · objetivo 1:14 · Sin dramatizar el cero. Es un dato de la atribución, y la atribución es la aportación metodológica del trabajo. SI TE ATACAN EL TÍTULO («habla de LSTM y el 90 % no la usa»): el título dice CUANTIFICAR la mejora de la predicción, y cuantificar incluye que salga pequeña. B sí usa previsión y sí mejora, pero en servicio de hidrógeno, no en coste. Ver pregunta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limitaciones, agrupadas por a qué afectan.
Del modelo físico: algunos bloques asumen simplificaciones, la más relevante la ecuación de gas ideal en los tanques, que hace caber más hidrógeno del que cabría de verdad. Y la pila no llega a arrancar, que no es un fallo del gestor sino la decisión correcta: recuperar electricidad a partir del hidrógeno es el camino más caro y con más pérdidas de la estación, y mientras haya batería o red nunca compensa. La pila tiene sentido en modo isla, y ese modo no lo ejercito.
De los datos: la irradiancia sale de un reanálisis, que es lo que hace falta para entrenar, pero no es la señal que tendría la estación en tiempo real; cambiarla por una previsión operativa no toca el modelo, solo la entrada. Y la demanda de hidrógeno se construye por analogía con la eléctrica porque aún no hay flota de la que medirla; lo importante es que es la misma para las tres versiones, así que no favorece a ninguna.
Y de alcance: el coste no incluye peajes ni cargos, así que las cifras son comparativas. Y los umbrales están ajustados a esta instalación: llevar el algoritmo a otra exige recalibrarlos, no solo copiarlo.
— — — — —
NO SE DICE · objetivo 1:31 · Rápido y sin dramatizar. Cada una de estas seis es una pregunta que el tribunal ya no necesita hacerte. SI PREGUNTAN POR EL GAS IDEAL: la cifra exacta con tablas NIST es 40 %, no 45 (Z = 1,40 a 600 bar y 15 °C); el 45 sale de interpolar entre dos densidades publicadas. Dala tú. SI PREGUNTAN POR LA PILA: el bloque tiene 120 celdas de 600 cm² y 600 A; su curva de polarización da el máximo en ~156 A y son unos 11 kW, no los 130 del criterio de diseño. No contamina ningún resultado porque la pila no arranca nunca, pero el modo isla no está cubierto ni sobre el papel del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del trabajo era si una previsión con redes LSTM mejora a un EMS heurístico ya maduro. La respuesta, medida, son estas tres conclusiones.
Dos modelos entrenados, validados y corregidos, cuya señal combinada supera a la línea base en solar y en precio, y es la que consume el simulador.
Tres gestores comparados sobre la misma instalación: la predictiva mejora la seguridad de suministro de hidrógeno, y la final reduce el coste semanal casi un catorce por ciento en los veinte casos.
Y la tercera, que da sentido a las otras dos: la cadena de medida permite atribuir la mejora pieza a pieza. El valor de una previsión depende de en qué decisión se inserte y de qué información no esté ya disponible.
Cuatro líneas futuras. Aislar la previsión solar, dándole al planificador el excedente real en vez del previsto, para medir por separado lo que hoy va sumado. Dar al tanque un nivel objetivo antes de un día nublado previsto, que corregiría el único indicador que C empeora. Modelar la degradación de la batería. Y ampliar el horizonte a cuarenta y ocho horas con control predictivo: es el único tramo donde el mercado ya no está publicado y una red de precio volvería a aportar.
Muchas gracias por su atención.
— — — — —
NO SE DICE · objetivo 1:34 · Levanta la vista en la tercera conclusión. Cierra con firmeza, sin arrastrar el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Separador. Ten memorizado qué reserva es cuál para no perder tiempo buscándola.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preguntas sobre comportamiento dinámico, la reserva del 60 % o el ciclado de la batería.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explicar el mecanismo de C con un caso concreto.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la pregunta sobre el servicio de hidrógeno que empeora. C pasa más tiempo por debajo del nivel crítico que A: es la contrapartida del ahorro y está valorada dentro de la métrica de coste. SI PREGUNTAN POR EL TRAMO NEGATIVO: es un artefacto declarado del modelo — los integradores de los tanques no saturan a cero, así que el inventario puede bajar de cero. Ese tramo es exactamente el hidrógeno que hay que comprar fuera, y se valora a 8 €/kg dentro de la métrica principal. Activar la saturación queda como corrección pendiente, y está declarado en la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394A"/>
        </a:solidFill>
      </p:bgPr>
    </p:bg>
    <p:spTree>
      <p:nvGrpSpPr>
        <p:cNvPr id="1" name=""/>
        <p:cNvGrpSpPr/>
        <p:nvPr/>
      </p:nvGrpSpPr>
      <p:grpSpPr>
        <a:xfrm>
          <a:off x="0" y="0"/>
          <a:ext cx="0" cy="0"/>
          <a:chOff x="0" y="0"/>
          <a:chExt cx="0" cy="0"/>
        </a:xfrm>
      </p:grpSpPr>
      <p:sp>
        <p:nvSpPr>
          <p:cNvPr id="2" name="Text 0"/>
          <p:cNvSpPr txBox="1"/>
          <p:nvPr/>
        </p:nvSpPr>
        <p:spPr>
          <a:xfrm>
            <a:off x="822960" y="1143000"/>
            <a:ext cx="8229600" cy="292608"/>
          </a:xfrm>
          <a:prstGeom prst="rect">
            <a:avLst/>
          </a:prstGeom>
          <a:noFill/>
          <a:ln/>
        </p:spPr>
        <p:txBody>
          <a:bodyPr wrap="square" lIns="0" tIns="0" rIns="0" bIns="0" rtlCol="0" anchor="ctr"/>
          <a:lstStyle/>
          <a:p>
            <a:pPr indent="0" marL="0">
              <a:buNone/>
            </a:pPr>
            <a:r>
              <a:rPr lang="en-US" sz="1200" b="1" spc="300" kern="0" dirty="0">
                <a:solidFill>
                  <a:srgbClr val="C8861E"/>
                </a:solidFill>
                <a:latin typeface="Calibri" pitchFamily="34" charset="0"/>
                <a:ea typeface="Calibri" pitchFamily="34" charset="-122"/>
                <a:cs typeface="Calibri" pitchFamily="34" charset="-120"/>
              </a:rPr>
              <a:t>TRABAJO FIN DE GRADO</a:t>
            </a:r>
            <a:endParaRPr lang="en-US" sz="1200" dirty="0"/>
          </a:p>
        </p:txBody>
      </p:sp>
      <p:sp>
        <p:nvSpPr>
          <p:cNvPr id="3" name="Text 1"/>
          <p:cNvSpPr txBox="1"/>
          <p:nvPr/>
        </p:nvSpPr>
        <p:spPr>
          <a:xfrm>
            <a:off x="822960" y="1600200"/>
            <a:ext cx="8778240" cy="1737360"/>
          </a:xfrm>
          <a:prstGeom prst="rect">
            <a:avLst/>
          </a:prstGeom>
          <a:noFill/>
          <a:ln/>
        </p:spPr>
        <p:txBody>
          <a:bodyPr wrap="square" lIns="0" tIns="0" rIns="0" bIns="0" rtlCol="0" anchor="ctr"/>
          <a:lstStyle/>
          <a:p>
            <a:pPr indent="0" marL="0">
              <a:lnSpc>
                <a:spcPct val="106000"/>
              </a:lnSpc>
              <a:buNone/>
            </a:pPr>
            <a:r>
              <a:rPr lang="en-US" sz="3200" b="1" dirty="0">
                <a:solidFill>
                  <a:srgbClr val="FFFFFF"/>
                </a:solidFill>
                <a:latin typeface="Cambria" pitchFamily="34" charset="0"/>
                <a:ea typeface="Cambria" pitchFamily="34" charset="-122"/>
                <a:cs typeface="Cambria" pitchFamily="34" charset="-120"/>
              </a:rPr>
              <a:t>Estrategias de gestión energética para una estación de repostaje multi-energía</a:t>
            </a:r>
            <a:endParaRPr lang="en-US" sz="3200" dirty="0"/>
          </a:p>
        </p:txBody>
      </p:sp>
      <p:sp>
        <p:nvSpPr>
          <p:cNvPr id="4" name="Text 2"/>
          <p:cNvSpPr txBox="1"/>
          <p:nvPr/>
        </p:nvSpPr>
        <p:spPr>
          <a:xfrm>
            <a:off x="822960" y="3429000"/>
            <a:ext cx="8778240" cy="457200"/>
          </a:xfrm>
          <a:prstGeom prst="rect">
            <a:avLst/>
          </a:prstGeom>
          <a:noFill/>
          <a:ln/>
        </p:spPr>
        <p:txBody>
          <a:bodyPr wrap="square" lIns="0" tIns="0" rIns="0" bIns="0" rtlCol="0" anchor="ctr"/>
          <a:lstStyle/>
          <a:p>
            <a:pPr indent="0" marL="0">
              <a:buNone/>
            </a:pPr>
            <a:r>
              <a:rPr lang="en-US" sz="1600" i="1" dirty="0">
                <a:solidFill>
                  <a:srgbClr val="A9C2D0"/>
                </a:solidFill>
                <a:latin typeface="Calibri" pitchFamily="34" charset="0"/>
                <a:ea typeface="Calibri" pitchFamily="34" charset="-122"/>
                <a:cs typeface="Calibri" pitchFamily="34" charset="-120"/>
              </a:rPr>
              <a:t>Cuantificación de la mejora aportada por la predicción con redes LSTM</a:t>
            </a:r>
            <a:endParaRPr lang="en-US" sz="1600" dirty="0"/>
          </a:p>
        </p:txBody>
      </p:sp>
      <p:sp>
        <p:nvSpPr>
          <p:cNvPr id="5" name="Text 3"/>
          <p:cNvSpPr txBox="1"/>
          <p:nvPr/>
        </p:nvSpPr>
        <p:spPr>
          <a:xfrm>
            <a:off x="822960" y="4343400"/>
            <a:ext cx="8778240" cy="1554480"/>
          </a:xfrm>
          <a:prstGeom prst="rect">
            <a:avLst/>
          </a:prstGeom>
          <a:noFill/>
          <a:ln/>
        </p:spPr>
        <p:txBody>
          <a:bodyPr wrap="square" lIns="0" tIns="0" rIns="0" bIns="0" rtlCol="0" anchor="ctr"/>
          <a:lstStyle/>
          <a:p>
            <a:pPr indent="0" marL="0">
              <a:lnSpc>
                <a:spcPct val="128000"/>
              </a:lnSpc>
              <a:buNone/>
            </a:pPr>
            <a:r>
              <a:rPr lang="en-US" sz="1700" b="1" dirty="0">
                <a:solidFill>
                  <a:srgbClr val="FFFFFF"/>
                </a:solidFill>
                <a:latin typeface="Calibri" pitchFamily="34" charset="0"/>
                <a:ea typeface="Calibri" pitchFamily="34" charset="-122"/>
                <a:cs typeface="Calibri" pitchFamily="34" charset="-120"/>
              </a:rPr>
              <a:t>Fernando Román Hidalgo
</a:t>
            </a:r>
            <a:pPr indent="0" marL="0">
              <a:lnSpc>
                <a:spcPct val="128000"/>
              </a:lnSpc>
              <a:buNone/>
            </a:pPr>
            <a:r>
              <a:rPr lang="en-US" sz="1300" dirty="0">
                <a:solidFill>
                  <a:srgbClr val="A9C2D0"/>
                </a:solidFill>
                <a:latin typeface="Calibri" pitchFamily="34" charset="0"/>
                <a:ea typeface="Calibri" pitchFamily="34" charset="-122"/>
                <a:cs typeface="Calibri" pitchFamily="34" charset="-120"/>
              </a:rPr>
              <a:t>Tutor: Miguel Ángel Ridao Carlini · Catedrático de Universidad
</a:t>
            </a:r>
            <a:pPr indent="0" marL="0">
              <a:lnSpc>
                <a:spcPct val="128000"/>
              </a:lnSpc>
              <a:buNone/>
            </a:pPr>
            <a:r>
              <a:rPr lang="en-US" sz="1300" dirty="0">
                <a:solidFill>
                  <a:srgbClr val="A9C2D0"/>
                </a:solidFill>
                <a:latin typeface="Calibri" pitchFamily="34" charset="0"/>
                <a:ea typeface="Calibri" pitchFamily="34" charset="-122"/>
                <a:cs typeface="Calibri" pitchFamily="34" charset="-120"/>
              </a:rPr>
              <a:t>Dpto. de Ingeniería de Sistemas y Automática · ETSI · Universidad de Sevilla
</a:t>
            </a:r>
            <a:pPr indent="0" marL="0">
              <a:lnSpc>
                <a:spcPct val="128000"/>
              </a:lnSpc>
              <a:buNone/>
            </a:pPr>
            <a:r>
              <a:rPr lang="en-US" sz="1300" dirty="0">
                <a:solidFill>
                  <a:srgbClr val="A9C2D0"/>
                </a:solidFill>
                <a:latin typeface="Calibri" pitchFamily="34" charset="0"/>
                <a:ea typeface="Calibri" pitchFamily="34" charset="-122"/>
                <a:cs typeface="Calibri" pitchFamily="34" charset="-120"/>
              </a:rPr>
              <a:t>Grado en Ingeniería Electrónica, Robótica y Mecatrónica</a:t>
            </a:r>
            <a:endParaRPr lang="en-US" sz="1700" dirty="0"/>
          </a:p>
        </p:txBody>
      </p:sp>
      <p:pic>
        <p:nvPicPr>
          <p:cNvPr id="6" name="Image 0" descr="img/US-marca-principal.png">    </p:cNvPr>
          <p:cNvPicPr>
            <a:picLocks noChangeAspect="1"/>
          </p:cNvPicPr>
          <p:nvPr/>
        </p:nvPicPr>
        <p:blipFill>
          <a:blip r:embed="rId1"/>
          <a:stretch>
            <a:fillRect/>
          </a:stretch>
        </p:blipFill>
        <p:spPr>
          <a:xfrm>
            <a:off x="10653231" y="457200"/>
            <a:ext cx="1051089" cy="914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PLANTEAMIENTO  ·  1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El marco ya pone fechas; la infraestructura sigue separada por vector</a:t>
            </a:r>
            <a:endParaRPr lang="en-US" sz="2600" dirty="0"/>
          </a:p>
        </p:txBody>
      </p:sp>
      <p:sp>
        <p:nvSpPr>
          <p:cNvPr id="4" name="Text 2"/>
          <p:cNvSpPr txBox="1"/>
          <p:nvPr/>
        </p:nvSpPr>
        <p:spPr>
          <a:xfrm>
            <a:off x="502920" y="1536192"/>
            <a:ext cx="3515258" cy="603504"/>
          </a:xfrm>
          <a:prstGeom prst="rect">
            <a:avLst/>
          </a:prstGeom>
          <a:noFill/>
          <a:ln/>
        </p:spPr>
        <p:txBody>
          <a:bodyPr wrap="square" lIns="0" tIns="0" rIns="0" bIns="0" rtlCol="0" anchor="ctr"/>
          <a:lstStyle/>
          <a:p>
            <a:pPr indent="0" marL="0">
              <a:buNone/>
            </a:pPr>
            <a:r>
              <a:rPr lang="en-US" sz="3400" b="1" dirty="0">
                <a:solidFill>
                  <a:srgbClr val="C8861E"/>
                </a:solidFill>
                <a:latin typeface="Cambria" pitchFamily="34" charset="0"/>
                <a:ea typeface="Cambria" pitchFamily="34" charset="-122"/>
                <a:cs typeface="Cambria" pitchFamily="34" charset="-120"/>
              </a:rPr>
              <a:t>25 %</a:t>
            </a:r>
            <a:endParaRPr lang="en-US" sz="3400" dirty="0"/>
          </a:p>
        </p:txBody>
      </p:sp>
      <p:sp>
        <p:nvSpPr>
          <p:cNvPr id="5" name="Text 3"/>
          <p:cNvSpPr txBox="1"/>
          <p:nvPr/>
        </p:nvSpPr>
        <p:spPr>
          <a:xfrm>
            <a:off x="502920" y="2157984"/>
            <a:ext cx="3515258" cy="868680"/>
          </a:xfrm>
          <a:prstGeom prst="rect">
            <a:avLst/>
          </a:prstGeom>
          <a:noFill/>
          <a:ln/>
        </p:spPr>
        <p:txBody>
          <a:bodyPr wrap="square" lIns="0" tIns="0" rIns="0" bIns="0" rtlCol="0" anchor="t"/>
          <a:lstStyle/>
          <a:p>
            <a:pPr indent="0" marL="0">
              <a:lnSpc>
                <a:spcPct val="112000"/>
              </a:lnSpc>
              <a:buNone/>
            </a:pPr>
            <a:r>
              <a:rPr lang="en-US" sz="1200" dirty="0">
                <a:solidFill>
                  <a:srgbClr val="5F6B72"/>
                </a:solidFill>
                <a:latin typeface="Calibri" pitchFamily="34" charset="0"/>
                <a:ea typeface="Calibri" pitchFamily="34" charset="-122"/>
                <a:cs typeface="Calibri" pitchFamily="34" charset="-120"/>
              </a:rPr>
              <a:t>de las emisiones de gases de efecto invernadero de la UE son del transporte, y el 72 % de ellas del transporte por carretera</a:t>
            </a:r>
            <a:endParaRPr lang="en-US" sz="1200" dirty="0"/>
          </a:p>
        </p:txBody>
      </p:sp>
      <p:sp>
        <p:nvSpPr>
          <p:cNvPr id="6" name="Text 4"/>
          <p:cNvSpPr txBox="1"/>
          <p:nvPr/>
        </p:nvSpPr>
        <p:spPr>
          <a:xfrm>
            <a:off x="4338218" y="1536192"/>
            <a:ext cx="3515258" cy="603504"/>
          </a:xfrm>
          <a:prstGeom prst="rect">
            <a:avLst/>
          </a:prstGeom>
          <a:noFill/>
          <a:ln/>
        </p:spPr>
        <p:txBody>
          <a:bodyPr wrap="square" lIns="0" tIns="0" rIns="0" bIns="0" rtlCol="0" anchor="ctr"/>
          <a:lstStyle/>
          <a:p>
            <a:pPr indent="0" marL="0">
              <a:buNone/>
            </a:pPr>
            <a:r>
              <a:rPr lang="en-US" sz="3400" b="1" dirty="0">
                <a:solidFill>
                  <a:srgbClr val="C8861E"/>
                </a:solidFill>
                <a:latin typeface="Cambria" pitchFamily="34" charset="0"/>
                <a:ea typeface="Cambria" pitchFamily="34" charset="-122"/>
                <a:cs typeface="Cambria" pitchFamily="34" charset="-120"/>
              </a:rPr>
              <a:t>100 – 150</a:t>
            </a:r>
            <a:endParaRPr lang="en-US" sz="3400" dirty="0"/>
          </a:p>
        </p:txBody>
      </p:sp>
      <p:sp>
        <p:nvSpPr>
          <p:cNvPr id="7" name="Text 5"/>
          <p:cNvSpPr txBox="1"/>
          <p:nvPr/>
        </p:nvSpPr>
        <p:spPr>
          <a:xfrm>
            <a:off x="4338218" y="2157984"/>
            <a:ext cx="3515258" cy="868680"/>
          </a:xfrm>
          <a:prstGeom prst="rect">
            <a:avLst/>
          </a:prstGeom>
          <a:noFill/>
          <a:ln/>
        </p:spPr>
        <p:txBody>
          <a:bodyPr wrap="square" lIns="0" tIns="0" rIns="0" bIns="0" rtlCol="0" anchor="t"/>
          <a:lstStyle/>
          <a:p>
            <a:pPr indent="0" marL="0">
              <a:lnSpc>
                <a:spcPct val="112000"/>
              </a:lnSpc>
              <a:buNone/>
            </a:pPr>
            <a:r>
              <a:rPr lang="en-US" sz="1200" dirty="0">
                <a:solidFill>
                  <a:srgbClr val="5F6B72"/>
                </a:solidFill>
                <a:latin typeface="Calibri" pitchFamily="34" charset="0"/>
                <a:ea typeface="Calibri" pitchFamily="34" charset="-122"/>
                <a:cs typeface="Calibri" pitchFamily="34" charset="-120"/>
              </a:rPr>
              <a:t>hidrogeneras públicas previstas en España para 2030, con los corredores de repostaje verde como línea prioritaria</a:t>
            </a:r>
            <a:endParaRPr lang="en-US" sz="1200" dirty="0"/>
          </a:p>
        </p:txBody>
      </p:sp>
      <p:sp>
        <p:nvSpPr>
          <p:cNvPr id="8" name="Text 6"/>
          <p:cNvSpPr txBox="1"/>
          <p:nvPr/>
        </p:nvSpPr>
        <p:spPr>
          <a:xfrm>
            <a:off x="8173517" y="1536192"/>
            <a:ext cx="3515258" cy="603504"/>
          </a:xfrm>
          <a:prstGeom prst="rect">
            <a:avLst/>
          </a:prstGeom>
          <a:noFill/>
          <a:ln/>
        </p:spPr>
        <p:txBody>
          <a:bodyPr wrap="square" lIns="0" tIns="0" rIns="0" bIns="0" rtlCol="0" anchor="ctr"/>
          <a:lstStyle/>
          <a:p>
            <a:pPr indent="0" marL="0">
              <a:buNone/>
            </a:pPr>
            <a:r>
              <a:rPr lang="en-US" sz="3400" b="1" dirty="0">
                <a:solidFill>
                  <a:srgbClr val="C8861E"/>
                </a:solidFill>
                <a:latin typeface="Cambria" pitchFamily="34" charset="0"/>
                <a:ea typeface="Cambria" pitchFamily="34" charset="-122"/>
                <a:cs typeface="Cambria" pitchFamily="34" charset="-120"/>
              </a:rPr>
              <a:t>5,5 M</a:t>
            </a:r>
            <a:endParaRPr lang="en-US" sz="3400" dirty="0"/>
          </a:p>
        </p:txBody>
      </p:sp>
      <p:sp>
        <p:nvSpPr>
          <p:cNvPr id="9" name="Text 7"/>
          <p:cNvSpPr txBox="1"/>
          <p:nvPr/>
        </p:nvSpPr>
        <p:spPr>
          <a:xfrm>
            <a:off x="8173517" y="2157984"/>
            <a:ext cx="3515258" cy="868680"/>
          </a:xfrm>
          <a:prstGeom prst="rect">
            <a:avLst/>
          </a:prstGeom>
          <a:noFill/>
          <a:ln/>
        </p:spPr>
        <p:txBody>
          <a:bodyPr wrap="square" lIns="0" tIns="0" rIns="0" bIns="0" rtlCol="0" anchor="t"/>
          <a:lstStyle/>
          <a:p>
            <a:pPr indent="0" marL="0">
              <a:lnSpc>
                <a:spcPct val="112000"/>
              </a:lnSpc>
              <a:buNone/>
            </a:pPr>
            <a:r>
              <a:rPr lang="en-US" sz="1200" dirty="0">
                <a:solidFill>
                  <a:srgbClr val="5F6B72"/>
                </a:solidFill>
                <a:latin typeface="Calibri" pitchFamily="34" charset="0"/>
                <a:ea typeface="Calibri" pitchFamily="34" charset="-122"/>
                <a:cs typeface="Calibri" pitchFamily="34" charset="-120"/>
              </a:rPr>
              <a:t>vehículos eléctricos en circulación en 2030, con objetivos vinculantes de infraestructura de recarga</a:t>
            </a:r>
            <a:endParaRPr lang="en-US" sz="1200" dirty="0"/>
          </a:p>
        </p:txBody>
      </p:sp>
      <p:sp>
        <p:nvSpPr>
          <p:cNvPr id="10" name="Text 8"/>
          <p:cNvSpPr txBox="1"/>
          <p:nvPr/>
        </p:nvSpPr>
        <p:spPr>
          <a:xfrm>
            <a:off x="502920" y="3072384"/>
            <a:ext cx="11185855" cy="274320"/>
          </a:xfrm>
          <a:prstGeom prst="rect">
            <a:avLst/>
          </a:prstGeom>
          <a:noFill/>
          <a:ln/>
        </p:spPr>
        <p:txBody>
          <a:bodyPr wrap="square" lIns="0" tIns="0" rIns="0" bIns="0" rtlCol="0" anchor="ctr"/>
          <a:lstStyle/>
          <a:p>
            <a:pPr indent="0" marL="0">
              <a:buNone/>
            </a:pPr>
            <a:r>
              <a:rPr lang="en-US" sz="1000" i="1" dirty="0">
                <a:solidFill>
                  <a:srgbClr val="93A2AA"/>
                </a:solidFill>
                <a:latin typeface="Calibri" pitchFamily="34" charset="0"/>
                <a:ea typeface="Calibri" pitchFamily="34" charset="-122"/>
                <a:cs typeface="Calibri" pitchFamily="34" charset="-120"/>
              </a:rPr>
              <a:t>Agencia Europea de Medio Ambiente · Pacto Verde Europeo · Hoja de Ruta del Hidrógeno (MITECO) · PNIEC 2023-2030 · Reglamento europeo AFIR</a:t>
            </a:r>
            <a:endParaRPr lang="en-US" sz="1000" dirty="0"/>
          </a:p>
        </p:txBody>
      </p:sp>
      <p:sp>
        <p:nvSpPr>
          <p:cNvPr id="11" name="Shape 9"/>
          <p:cNvSpPr/>
          <p:nvPr/>
        </p:nvSpPr>
        <p:spPr>
          <a:xfrm>
            <a:off x="502920" y="3438144"/>
            <a:ext cx="11185855" cy="0"/>
          </a:xfrm>
          <a:prstGeom prst="line">
            <a:avLst/>
          </a:prstGeom>
          <a:noFill/>
          <a:ln w="9525">
            <a:solidFill>
              <a:srgbClr val="DDE3E6"/>
            </a:solidFill>
            <a:prstDash val="solid"/>
          </a:ln>
        </p:spPr>
      </p:sp>
      <p:sp>
        <p:nvSpPr>
          <p:cNvPr id="12" name="Text 10"/>
          <p:cNvSpPr txBox="1"/>
          <p:nvPr/>
        </p:nvSpPr>
        <p:spPr>
          <a:xfrm>
            <a:off x="502920" y="3621024"/>
            <a:ext cx="5455768" cy="365760"/>
          </a:xfrm>
          <a:prstGeom prst="rect">
            <a:avLst/>
          </a:prstGeom>
          <a:noFill/>
          <a:ln/>
        </p:spPr>
        <p:txBody>
          <a:bodyPr wrap="square" lIns="0" tIns="0" rIns="0" bIns="0" rtlCol="0" anchor="ctr"/>
          <a:lstStyle/>
          <a:p>
            <a:pPr indent="0" marL="0">
              <a:buNone/>
            </a:pPr>
            <a:r>
              <a:rPr lang="en-US" sz="1800" b="1" dirty="0">
                <a:solidFill>
                  <a:srgbClr val="10394A"/>
                </a:solidFill>
                <a:latin typeface="Cambria" pitchFamily="34" charset="0"/>
                <a:ea typeface="Cambria" pitchFamily="34" charset="-122"/>
                <a:cs typeface="Cambria" pitchFamily="34" charset="-120"/>
              </a:rPr>
              <a:t>Vehículo eléctrico de batería</a:t>
            </a:r>
            <a:endParaRPr lang="en-US" sz="1800" dirty="0"/>
          </a:p>
        </p:txBody>
      </p:sp>
      <p:sp>
        <p:nvSpPr>
          <p:cNvPr id="13" name="Text 11"/>
          <p:cNvSpPr txBox="1"/>
          <p:nvPr/>
        </p:nvSpPr>
        <p:spPr>
          <a:xfrm>
            <a:off x="502920" y="4005072"/>
            <a:ext cx="5455768" cy="640080"/>
          </a:xfrm>
          <a:prstGeom prst="rect">
            <a:avLst/>
          </a:prstGeom>
          <a:noFill/>
          <a:ln/>
        </p:spPr>
        <p:txBody>
          <a:bodyPr wrap="square" lIns="0" tIns="0" rIns="0" bIns="0" rtlCol="0" anchor="t"/>
          <a:lstStyle/>
          <a:p>
            <a:pPr indent="0" marL="0">
              <a:lnSpc>
                <a:spcPct val="115000"/>
              </a:lnSpc>
              <a:buNone/>
            </a:pPr>
            <a:r>
              <a:rPr lang="en-US" sz="1400" dirty="0">
                <a:solidFill>
                  <a:srgbClr val="1C1C1C"/>
                </a:solidFill>
                <a:latin typeface="Calibri" pitchFamily="34" charset="0"/>
                <a:ea typeface="Calibri" pitchFamily="34" charset="-122"/>
                <a:cs typeface="Calibri" pitchFamily="34" charset="-120"/>
              </a:rPr>
              <a:t>Tecnología consolidada y de despliegue masivo.</a:t>
            </a:r>
            <a:endParaRPr lang="en-US" sz="1400" dirty="0"/>
          </a:p>
        </p:txBody>
      </p:sp>
      <p:sp>
        <p:nvSpPr>
          <p:cNvPr id="14" name="Text 12"/>
          <p:cNvSpPr txBox="1"/>
          <p:nvPr/>
        </p:nvSpPr>
        <p:spPr>
          <a:xfrm>
            <a:off x="6233008" y="3621024"/>
            <a:ext cx="5455768" cy="365760"/>
          </a:xfrm>
          <a:prstGeom prst="rect">
            <a:avLst/>
          </a:prstGeom>
          <a:noFill/>
          <a:ln/>
        </p:spPr>
        <p:txBody>
          <a:bodyPr wrap="square" lIns="0" tIns="0" rIns="0" bIns="0" rtlCol="0" anchor="ctr"/>
          <a:lstStyle/>
          <a:p>
            <a:pPr indent="0" marL="0">
              <a:buNone/>
            </a:pPr>
            <a:r>
              <a:rPr lang="en-US" sz="1800" b="1" dirty="0">
                <a:solidFill>
                  <a:srgbClr val="10394A"/>
                </a:solidFill>
                <a:latin typeface="Cambria" pitchFamily="34" charset="0"/>
                <a:ea typeface="Cambria" pitchFamily="34" charset="-122"/>
                <a:cs typeface="Cambria" pitchFamily="34" charset="-120"/>
              </a:rPr>
              <a:t>Vehículo de pila de combustible</a:t>
            </a:r>
            <a:endParaRPr lang="en-US" sz="1800" dirty="0"/>
          </a:p>
        </p:txBody>
      </p:sp>
      <p:sp>
        <p:nvSpPr>
          <p:cNvPr id="15" name="Text 13"/>
          <p:cNvSpPr txBox="1"/>
          <p:nvPr/>
        </p:nvSpPr>
        <p:spPr>
          <a:xfrm>
            <a:off x="6233008" y="4005072"/>
            <a:ext cx="5455768" cy="640080"/>
          </a:xfrm>
          <a:prstGeom prst="rect">
            <a:avLst/>
          </a:prstGeom>
          <a:noFill/>
          <a:ln/>
        </p:spPr>
        <p:txBody>
          <a:bodyPr wrap="square" lIns="0" tIns="0" rIns="0" bIns="0" rtlCol="0" anchor="t"/>
          <a:lstStyle/>
          <a:p>
            <a:pPr indent="0" marL="0">
              <a:lnSpc>
                <a:spcPct val="115000"/>
              </a:lnSpc>
              <a:buNone/>
            </a:pPr>
            <a:r>
              <a:rPr lang="en-US" sz="1400" dirty="0">
                <a:solidFill>
                  <a:srgbClr val="1C1C1C"/>
                </a:solidFill>
                <a:latin typeface="Calibri" pitchFamily="34" charset="0"/>
                <a:ea typeface="Calibri" pitchFamily="34" charset="-122"/>
                <a:cs typeface="Calibri" pitchFamily="34" charset="-120"/>
              </a:rPr>
              <a:t>Dos o tres órdenes de magnitud por detrás en parque y en estaciones.</a:t>
            </a:r>
            <a:endParaRPr lang="en-US" sz="1400" dirty="0"/>
          </a:p>
        </p:txBody>
      </p:sp>
      <p:sp>
        <p:nvSpPr>
          <p:cNvPr id="16" name="Shape 14"/>
          <p:cNvSpPr/>
          <p:nvPr/>
        </p:nvSpPr>
        <p:spPr>
          <a:xfrm>
            <a:off x="502920" y="5230368"/>
            <a:ext cx="11185855" cy="841248"/>
          </a:xfrm>
          <a:prstGeom prst="roundRect">
            <a:avLst>
              <a:gd name="adj" fmla="val 6522"/>
            </a:avLst>
          </a:prstGeom>
          <a:solidFill>
            <a:srgbClr val="10394A"/>
          </a:solidFill>
          <a:ln/>
        </p:spPr>
      </p:sp>
      <p:sp>
        <p:nvSpPr>
          <p:cNvPr id="17" name="Text 15"/>
          <p:cNvSpPr txBox="1"/>
          <p:nvPr/>
        </p:nvSpPr>
        <p:spPr>
          <a:xfrm>
            <a:off x="777240" y="5248656"/>
            <a:ext cx="10637215" cy="80467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Los dos dependen de una infraestructura hoy separada, y eso fragmenta la inversión. La estación multi-energía los integra — y con ella el reto pasa a ser de operación: decidir, en cada instante, de dónde sale cada kilovatio.</a:t>
            </a:r>
            <a:endParaRPr lang="en-US" sz="1350" dirty="0"/>
          </a:p>
        </p:txBody>
      </p:sp>
      <p:sp>
        <p:nvSpPr>
          <p:cNvPr id="18" name="Text 16"/>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PLANTEAMIENTO  ·  1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La estación OASIS, modelada en Simulink</a:t>
            </a:r>
            <a:endParaRPr lang="en-US" sz="2600" dirty="0"/>
          </a:p>
        </p:txBody>
      </p:sp>
      <p:pic>
        <p:nvPicPr>
          <p:cNvPr id="4" name="Image 0" descr="img/electrolinera-iso-NE.png">    </p:cNvPr>
          <p:cNvPicPr>
            <a:picLocks noChangeAspect="1"/>
          </p:cNvPicPr>
          <p:nvPr/>
        </p:nvPicPr>
        <p:blipFill>
          <a:blip r:embed="rId1"/>
          <a:stretch>
            <a:fillRect/>
          </a:stretch>
        </p:blipFill>
        <p:spPr>
          <a:xfrm>
            <a:off x="502920" y="1840992"/>
            <a:ext cx="6400800" cy="3733800"/>
          </a:xfrm>
          <a:prstGeom prst="rect">
            <a:avLst/>
          </a:prstGeom>
        </p:spPr>
      </p:pic>
      <p:sp>
        <p:nvSpPr>
          <p:cNvPr id="5" name="Shape 2"/>
          <p:cNvSpPr/>
          <p:nvPr/>
        </p:nvSpPr>
        <p:spPr>
          <a:xfrm>
            <a:off x="7040880" y="1719072"/>
            <a:ext cx="292608" cy="292608"/>
          </a:xfrm>
          <a:prstGeom prst="ellipse">
            <a:avLst/>
          </a:prstGeom>
          <a:solidFill>
            <a:srgbClr val="10394A"/>
          </a:solidFill>
          <a:ln/>
        </p:spPr>
      </p:sp>
      <p:sp>
        <p:nvSpPr>
          <p:cNvPr id="6" name="Text 3"/>
          <p:cNvSpPr txBox="1"/>
          <p:nvPr/>
        </p:nvSpPr>
        <p:spPr>
          <a:xfrm>
            <a:off x="7040880" y="171907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4"/>
          <p:cNvSpPr txBox="1"/>
          <p:nvPr/>
        </p:nvSpPr>
        <p:spPr>
          <a:xfrm>
            <a:off x="7452360" y="1591056"/>
            <a:ext cx="1783080" cy="54864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≈500 kWp</a:t>
            </a:r>
            <a:endParaRPr lang="en-US" sz="1600" dirty="0"/>
          </a:p>
        </p:txBody>
      </p:sp>
      <p:sp>
        <p:nvSpPr>
          <p:cNvPr id="8" name="Text 5"/>
          <p:cNvSpPr txBox="1"/>
          <p:nvPr/>
        </p:nvSpPr>
        <p:spPr>
          <a:xfrm>
            <a:off x="9281160" y="1591056"/>
            <a:ext cx="2423160" cy="548640"/>
          </a:xfrm>
          <a:prstGeom prst="rect">
            <a:avLst/>
          </a:prstGeom>
          <a:noFill/>
          <a:ln/>
        </p:spPr>
        <p:txBody>
          <a:bodyPr wrap="square" lIns="0" tIns="0" rIns="0" bIns="0" rtlCol="0" anchor="ctr"/>
          <a:lstStyle/>
          <a:p>
            <a:pPr indent="0" marL="0">
              <a:buNone/>
            </a:pPr>
            <a:r>
              <a:rPr lang="en-US" sz="1150" dirty="0">
                <a:solidFill>
                  <a:srgbClr val="5F6B72"/>
                </a:solidFill>
                <a:latin typeface="Calibri" pitchFamily="34" charset="0"/>
                <a:ea typeface="Calibri" pitchFamily="34" charset="-122"/>
                <a:cs typeface="Calibri" pitchFamily="34" charset="-120"/>
              </a:rPr>
              <a:t>Fotovoltaica en marquesina</a:t>
            </a:r>
            <a:endParaRPr lang="en-US" sz="1150" dirty="0"/>
          </a:p>
        </p:txBody>
      </p:sp>
      <p:sp>
        <p:nvSpPr>
          <p:cNvPr id="9" name="Shape 6"/>
          <p:cNvSpPr/>
          <p:nvPr/>
        </p:nvSpPr>
        <p:spPr>
          <a:xfrm>
            <a:off x="7040880" y="2212848"/>
            <a:ext cx="4663440" cy="0"/>
          </a:xfrm>
          <a:prstGeom prst="line">
            <a:avLst/>
          </a:prstGeom>
          <a:noFill/>
          <a:ln w="9525">
            <a:solidFill>
              <a:srgbClr val="DDE3E6"/>
            </a:solidFill>
            <a:prstDash val="solid"/>
          </a:ln>
        </p:spPr>
      </p:sp>
      <p:sp>
        <p:nvSpPr>
          <p:cNvPr id="10" name="Shape 7"/>
          <p:cNvSpPr/>
          <p:nvPr/>
        </p:nvSpPr>
        <p:spPr>
          <a:xfrm>
            <a:off x="7040880" y="2432304"/>
            <a:ext cx="292608" cy="292608"/>
          </a:xfrm>
          <a:prstGeom prst="ellipse">
            <a:avLst/>
          </a:prstGeom>
          <a:solidFill>
            <a:srgbClr val="10394A"/>
          </a:solidFill>
          <a:ln/>
        </p:spPr>
      </p:sp>
      <p:sp>
        <p:nvSpPr>
          <p:cNvPr id="11" name="Text 8"/>
          <p:cNvSpPr txBox="1"/>
          <p:nvPr/>
        </p:nvSpPr>
        <p:spPr>
          <a:xfrm>
            <a:off x="7040880" y="243230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txBox="1"/>
          <p:nvPr/>
        </p:nvSpPr>
        <p:spPr>
          <a:xfrm>
            <a:off x="7452360" y="2304288"/>
            <a:ext cx="1783080" cy="54864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1 MWh</a:t>
            </a:r>
            <a:endParaRPr lang="en-US" sz="1600" dirty="0"/>
          </a:p>
        </p:txBody>
      </p:sp>
      <p:sp>
        <p:nvSpPr>
          <p:cNvPr id="13" name="Text 10"/>
          <p:cNvSpPr txBox="1"/>
          <p:nvPr/>
        </p:nvSpPr>
        <p:spPr>
          <a:xfrm>
            <a:off x="9281160" y="2304288"/>
            <a:ext cx="2423160" cy="548640"/>
          </a:xfrm>
          <a:prstGeom prst="rect">
            <a:avLst/>
          </a:prstGeom>
          <a:noFill/>
          <a:ln/>
        </p:spPr>
        <p:txBody>
          <a:bodyPr wrap="square" lIns="0" tIns="0" rIns="0" bIns="0" rtlCol="0" anchor="ctr"/>
          <a:lstStyle/>
          <a:p>
            <a:pPr indent="0" marL="0">
              <a:buNone/>
            </a:pPr>
            <a:r>
              <a:rPr lang="en-US" sz="1150" dirty="0">
                <a:solidFill>
                  <a:srgbClr val="5F6B72"/>
                </a:solidFill>
                <a:latin typeface="Calibri" pitchFamily="34" charset="0"/>
                <a:ea typeface="Calibri" pitchFamily="34" charset="-122"/>
                <a:cs typeface="Calibri" pitchFamily="34" charset="-120"/>
              </a:rPr>
              <a:t>Batería, ≈494 kW de potencia</a:t>
            </a:r>
            <a:endParaRPr lang="en-US" sz="1150" dirty="0"/>
          </a:p>
        </p:txBody>
      </p:sp>
      <p:sp>
        <p:nvSpPr>
          <p:cNvPr id="14" name="Shape 11"/>
          <p:cNvSpPr/>
          <p:nvPr/>
        </p:nvSpPr>
        <p:spPr>
          <a:xfrm>
            <a:off x="7040880" y="2926080"/>
            <a:ext cx="4663440" cy="0"/>
          </a:xfrm>
          <a:prstGeom prst="line">
            <a:avLst/>
          </a:prstGeom>
          <a:noFill/>
          <a:ln w="9525">
            <a:solidFill>
              <a:srgbClr val="DDE3E6"/>
            </a:solidFill>
            <a:prstDash val="solid"/>
          </a:ln>
        </p:spPr>
      </p:sp>
      <p:sp>
        <p:nvSpPr>
          <p:cNvPr id="15" name="Shape 12"/>
          <p:cNvSpPr/>
          <p:nvPr/>
        </p:nvSpPr>
        <p:spPr>
          <a:xfrm>
            <a:off x="7040880" y="3145536"/>
            <a:ext cx="292608" cy="292608"/>
          </a:xfrm>
          <a:prstGeom prst="ellipse">
            <a:avLst/>
          </a:prstGeom>
          <a:solidFill>
            <a:srgbClr val="10394A"/>
          </a:solidFill>
          <a:ln/>
        </p:spPr>
      </p:sp>
      <p:sp>
        <p:nvSpPr>
          <p:cNvPr id="16" name="Text 13"/>
          <p:cNvSpPr txBox="1"/>
          <p:nvPr/>
        </p:nvSpPr>
        <p:spPr>
          <a:xfrm>
            <a:off x="7040880" y="314553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txBox="1"/>
          <p:nvPr/>
        </p:nvSpPr>
        <p:spPr>
          <a:xfrm>
            <a:off x="7452360" y="3017520"/>
            <a:ext cx="1783080" cy="54864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200 kW</a:t>
            </a:r>
            <a:endParaRPr lang="en-US" sz="1600" dirty="0"/>
          </a:p>
        </p:txBody>
      </p:sp>
      <p:sp>
        <p:nvSpPr>
          <p:cNvPr id="18" name="Text 15"/>
          <p:cNvSpPr txBox="1"/>
          <p:nvPr/>
        </p:nvSpPr>
        <p:spPr>
          <a:xfrm>
            <a:off x="9281160" y="3017520"/>
            <a:ext cx="2423160" cy="548640"/>
          </a:xfrm>
          <a:prstGeom prst="rect">
            <a:avLst/>
          </a:prstGeom>
          <a:noFill/>
          <a:ln/>
        </p:spPr>
        <p:txBody>
          <a:bodyPr wrap="square" lIns="0" tIns="0" rIns="0" bIns="0" rtlCol="0" anchor="ctr"/>
          <a:lstStyle/>
          <a:p>
            <a:pPr indent="0" marL="0">
              <a:buNone/>
            </a:pPr>
            <a:r>
              <a:rPr lang="en-US" sz="1150" dirty="0">
                <a:solidFill>
                  <a:srgbClr val="5F6B72"/>
                </a:solidFill>
                <a:latin typeface="Calibri" pitchFamily="34" charset="0"/>
                <a:ea typeface="Calibri" pitchFamily="34" charset="-122"/>
                <a:cs typeface="Calibri" pitchFamily="34" charset="-120"/>
              </a:rPr>
              <a:t>Electrolizador PEM, ≈50 kWh/kg</a:t>
            </a:r>
            <a:endParaRPr lang="en-US" sz="1150" dirty="0"/>
          </a:p>
        </p:txBody>
      </p:sp>
      <p:sp>
        <p:nvSpPr>
          <p:cNvPr id="19" name="Shape 16"/>
          <p:cNvSpPr/>
          <p:nvPr/>
        </p:nvSpPr>
        <p:spPr>
          <a:xfrm>
            <a:off x="7040880" y="3639312"/>
            <a:ext cx="4663440" cy="0"/>
          </a:xfrm>
          <a:prstGeom prst="line">
            <a:avLst/>
          </a:prstGeom>
          <a:noFill/>
          <a:ln w="9525">
            <a:solidFill>
              <a:srgbClr val="DDE3E6"/>
            </a:solidFill>
            <a:prstDash val="solid"/>
          </a:ln>
        </p:spPr>
      </p:sp>
      <p:sp>
        <p:nvSpPr>
          <p:cNvPr id="20" name="Shape 17"/>
          <p:cNvSpPr/>
          <p:nvPr/>
        </p:nvSpPr>
        <p:spPr>
          <a:xfrm>
            <a:off x="7040880" y="3858768"/>
            <a:ext cx="292608" cy="292608"/>
          </a:xfrm>
          <a:prstGeom prst="ellipse">
            <a:avLst/>
          </a:prstGeom>
          <a:solidFill>
            <a:srgbClr val="10394A"/>
          </a:solidFill>
          <a:ln/>
        </p:spPr>
      </p:sp>
      <p:sp>
        <p:nvSpPr>
          <p:cNvPr id="21" name="Text 18"/>
          <p:cNvSpPr txBox="1"/>
          <p:nvPr/>
        </p:nvSpPr>
        <p:spPr>
          <a:xfrm>
            <a:off x="7040880" y="3858768"/>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2" name="Text 19"/>
          <p:cNvSpPr txBox="1"/>
          <p:nvPr/>
        </p:nvSpPr>
        <p:spPr>
          <a:xfrm>
            <a:off x="7452360" y="3730752"/>
            <a:ext cx="1783080" cy="54864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40 / 600 bar</a:t>
            </a:r>
            <a:endParaRPr lang="en-US" sz="1600" dirty="0"/>
          </a:p>
        </p:txBody>
      </p:sp>
      <p:sp>
        <p:nvSpPr>
          <p:cNvPr id="23" name="Text 20"/>
          <p:cNvSpPr txBox="1"/>
          <p:nvPr/>
        </p:nvSpPr>
        <p:spPr>
          <a:xfrm>
            <a:off x="9281160" y="3730752"/>
            <a:ext cx="2423160" cy="548640"/>
          </a:xfrm>
          <a:prstGeom prst="rect">
            <a:avLst/>
          </a:prstGeom>
          <a:noFill/>
          <a:ln/>
        </p:spPr>
        <p:txBody>
          <a:bodyPr wrap="square" lIns="0" tIns="0" rIns="0" bIns="0" rtlCol="0" anchor="ctr"/>
          <a:lstStyle/>
          <a:p>
            <a:pPr indent="0" marL="0">
              <a:buNone/>
            </a:pPr>
            <a:r>
              <a:rPr lang="en-US" sz="1150" dirty="0">
                <a:solidFill>
                  <a:srgbClr val="5F6B72"/>
                </a:solidFill>
                <a:latin typeface="Calibri" pitchFamily="34" charset="0"/>
                <a:ea typeface="Calibri" pitchFamily="34" charset="-122"/>
                <a:cs typeface="Calibri" pitchFamily="34" charset="-120"/>
              </a:rPr>
              <a:t>Dos tanques de H₂ + compresor de 15 kW</a:t>
            </a:r>
            <a:endParaRPr lang="en-US" sz="1150" dirty="0"/>
          </a:p>
        </p:txBody>
      </p:sp>
      <p:sp>
        <p:nvSpPr>
          <p:cNvPr id="24" name="Shape 21"/>
          <p:cNvSpPr/>
          <p:nvPr/>
        </p:nvSpPr>
        <p:spPr>
          <a:xfrm>
            <a:off x="7040880" y="4352544"/>
            <a:ext cx="4663440" cy="0"/>
          </a:xfrm>
          <a:prstGeom prst="line">
            <a:avLst/>
          </a:prstGeom>
          <a:noFill/>
          <a:ln w="9525">
            <a:solidFill>
              <a:srgbClr val="DDE3E6"/>
            </a:solidFill>
            <a:prstDash val="solid"/>
          </a:ln>
        </p:spPr>
      </p:sp>
      <p:sp>
        <p:nvSpPr>
          <p:cNvPr id="25" name="Shape 22"/>
          <p:cNvSpPr/>
          <p:nvPr/>
        </p:nvSpPr>
        <p:spPr>
          <a:xfrm>
            <a:off x="7040880" y="4572000"/>
            <a:ext cx="292608" cy="292608"/>
          </a:xfrm>
          <a:prstGeom prst="ellipse">
            <a:avLst/>
          </a:prstGeom>
          <a:solidFill>
            <a:srgbClr val="10394A"/>
          </a:solidFill>
          <a:ln/>
        </p:spPr>
      </p:sp>
      <p:sp>
        <p:nvSpPr>
          <p:cNvPr id="26" name="Text 23"/>
          <p:cNvSpPr txBox="1"/>
          <p:nvPr/>
        </p:nvSpPr>
        <p:spPr>
          <a:xfrm>
            <a:off x="7040880" y="4572000"/>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7" name="Text 24"/>
          <p:cNvSpPr txBox="1"/>
          <p:nvPr/>
        </p:nvSpPr>
        <p:spPr>
          <a:xfrm>
            <a:off x="7452360" y="4443984"/>
            <a:ext cx="1783080" cy="54864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130 kW</a:t>
            </a:r>
            <a:endParaRPr lang="en-US" sz="1600" dirty="0"/>
          </a:p>
        </p:txBody>
      </p:sp>
      <p:sp>
        <p:nvSpPr>
          <p:cNvPr id="28" name="Text 25"/>
          <p:cNvSpPr txBox="1"/>
          <p:nvPr/>
        </p:nvSpPr>
        <p:spPr>
          <a:xfrm>
            <a:off x="9281160" y="4443984"/>
            <a:ext cx="2423160" cy="548640"/>
          </a:xfrm>
          <a:prstGeom prst="rect">
            <a:avLst/>
          </a:prstGeom>
          <a:noFill/>
          <a:ln/>
        </p:spPr>
        <p:txBody>
          <a:bodyPr wrap="square" lIns="0" tIns="0" rIns="0" bIns="0" rtlCol="0" anchor="ctr"/>
          <a:lstStyle/>
          <a:p>
            <a:pPr indent="0" marL="0">
              <a:buNone/>
            </a:pPr>
            <a:r>
              <a:rPr lang="en-US" sz="1150" dirty="0">
                <a:solidFill>
                  <a:srgbClr val="5F6B72"/>
                </a:solidFill>
                <a:latin typeface="Calibri" pitchFamily="34" charset="0"/>
                <a:ea typeface="Calibri" pitchFamily="34" charset="-122"/>
                <a:cs typeface="Calibri" pitchFamily="34" charset="-120"/>
              </a:rPr>
              <a:t>Pila de combustible PEMFC</a:t>
            </a:r>
            <a:endParaRPr lang="en-US" sz="1150" dirty="0"/>
          </a:p>
        </p:txBody>
      </p:sp>
      <p:sp>
        <p:nvSpPr>
          <p:cNvPr id="29" name="Shape 26"/>
          <p:cNvSpPr/>
          <p:nvPr/>
        </p:nvSpPr>
        <p:spPr>
          <a:xfrm>
            <a:off x="7040880" y="5065776"/>
            <a:ext cx="4663440" cy="0"/>
          </a:xfrm>
          <a:prstGeom prst="line">
            <a:avLst/>
          </a:prstGeom>
          <a:noFill/>
          <a:ln w="9525">
            <a:solidFill>
              <a:srgbClr val="DDE3E6"/>
            </a:solidFill>
            <a:prstDash val="solid"/>
          </a:ln>
        </p:spPr>
      </p:sp>
      <p:sp>
        <p:nvSpPr>
          <p:cNvPr id="30" name="Shape 27"/>
          <p:cNvSpPr/>
          <p:nvPr/>
        </p:nvSpPr>
        <p:spPr>
          <a:xfrm>
            <a:off x="7040880" y="5285232"/>
            <a:ext cx="292608" cy="292608"/>
          </a:xfrm>
          <a:prstGeom prst="ellipse">
            <a:avLst/>
          </a:prstGeom>
          <a:solidFill>
            <a:srgbClr val="10394A"/>
          </a:solidFill>
          <a:ln/>
        </p:spPr>
      </p:sp>
      <p:sp>
        <p:nvSpPr>
          <p:cNvPr id="31" name="Text 28"/>
          <p:cNvSpPr txBox="1"/>
          <p:nvPr/>
        </p:nvSpPr>
        <p:spPr>
          <a:xfrm>
            <a:off x="7040880" y="528523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2" name="Text 29"/>
          <p:cNvSpPr txBox="1"/>
          <p:nvPr/>
        </p:nvSpPr>
        <p:spPr>
          <a:xfrm>
            <a:off x="7452360" y="5157216"/>
            <a:ext cx="1783080" cy="54864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2 × 50 kW</a:t>
            </a:r>
            <a:endParaRPr lang="en-US" sz="1600" dirty="0"/>
          </a:p>
        </p:txBody>
      </p:sp>
      <p:sp>
        <p:nvSpPr>
          <p:cNvPr id="33" name="Text 30"/>
          <p:cNvSpPr txBox="1"/>
          <p:nvPr/>
        </p:nvSpPr>
        <p:spPr>
          <a:xfrm>
            <a:off x="9281160" y="5157216"/>
            <a:ext cx="2423160" cy="548640"/>
          </a:xfrm>
          <a:prstGeom prst="rect">
            <a:avLst/>
          </a:prstGeom>
          <a:noFill/>
          <a:ln/>
        </p:spPr>
        <p:txBody>
          <a:bodyPr wrap="square" lIns="0" tIns="0" rIns="0" bIns="0" rtlCol="0" anchor="ctr"/>
          <a:lstStyle/>
          <a:p>
            <a:pPr indent="0" marL="0">
              <a:buNone/>
            </a:pPr>
            <a:r>
              <a:rPr lang="en-US" sz="1150" dirty="0">
                <a:solidFill>
                  <a:srgbClr val="5F6B72"/>
                </a:solidFill>
                <a:latin typeface="Calibri" pitchFamily="34" charset="0"/>
                <a:ea typeface="Calibri" pitchFamily="34" charset="-122"/>
                <a:cs typeface="Calibri" pitchFamily="34" charset="-120"/>
              </a:rPr>
              <a:t>Cargadores DC + surtidor de hidrógeno</a:t>
            </a:r>
            <a:endParaRPr lang="en-US" sz="1150" dirty="0"/>
          </a:p>
        </p:txBody>
      </p:sp>
      <p:sp>
        <p:nvSpPr>
          <p:cNvPr id="34" name="Shape 31"/>
          <p:cNvSpPr/>
          <p:nvPr/>
        </p:nvSpPr>
        <p:spPr>
          <a:xfrm>
            <a:off x="7040880" y="5779008"/>
            <a:ext cx="4663440" cy="0"/>
          </a:xfrm>
          <a:prstGeom prst="line">
            <a:avLst/>
          </a:prstGeom>
          <a:noFill/>
          <a:ln w="9525">
            <a:solidFill>
              <a:srgbClr val="DDE3E6"/>
            </a:solidFill>
            <a:prstDash val="solid"/>
          </a:ln>
        </p:spPr>
      </p:sp>
      <p:sp>
        <p:nvSpPr>
          <p:cNvPr id="35" name="Text 32"/>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PLANTEAMIENTO  ·  1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El EMS decide tres cosas, y es lo único que cambia entre versiones</a:t>
            </a:r>
            <a:endParaRPr lang="en-US" sz="2600" dirty="0"/>
          </a:p>
        </p:txBody>
      </p:sp>
      <p:sp>
        <p:nvSpPr>
          <p:cNvPr id="4" name="Shape 2"/>
          <p:cNvSpPr/>
          <p:nvPr/>
        </p:nvSpPr>
        <p:spPr>
          <a:xfrm>
            <a:off x="502920" y="1645920"/>
            <a:ext cx="3520440" cy="2395728"/>
          </a:xfrm>
          <a:prstGeom prst="roundRect">
            <a:avLst>
              <a:gd name="adj" fmla="val 1908"/>
            </a:avLst>
          </a:prstGeom>
          <a:solidFill>
            <a:srgbClr val="F1F5F7"/>
          </a:solidFill>
          <a:ln w="12700">
            <a:solidFill>
              <a:srgbClr val="DDE3E6"/>
            </a:solidFill>
            <a:prstDash val="solid"/>
          </a:ln>
        </p:spPr>
      </p:sp>
      <p:sp>
        <p:nvSpPr>
          <p:cNvPr id="5" name="Text 3"/>
          <p:cNvSpPr txBox="1"/>
          <p:nvPr/>
        </p:nvSpPr>
        <p:spPr>
          <a:xfrm>
            <a:off x="704088" y="1792224"/>
            <a:ext cx="3118104" cy="237744"/>
          </a:xfrm>
          <a:prstGeom prst="rect">
            <a:avLst/>
          </a:prstGeom>
          <a:noFill/>
          <a:ln/>
        </p:spPr>
        <p:txBody>
          <a:bodyPr wrap="square" lIns="0" tIns="0" rIns="0" bIns="0" rtlCol="0" anchor="ctr"/>
          <a:lstStyle/>
          <a:p>
            <a:pPr indent="0" marL="0">
              <a:buNone/>
            </a:pPr>
            <a:r>
              <a:rPr lang="en-US" sz="950" b="1" spc="120" kern="0" dirty="0">
                <a:solidFill>
                  <a:srgbClr val="C8861E"/>
                </a:solidFill>
                <a:latin typeface="Calibri" pitchFamily="34" charset="0"/>
                <a:ea typeface="Calibri" pitchFamily="34" charset="-122"/>
                <a:cs typeface="Calibri" pitchFamily="34" charset="-120"/>
              </a:rPr>
              <a:t>ENTRADAS · 11 SEÑALES</a:t>
            </a:r>
            <a:endParaRPr lang="en-US" sz="950" dirty="0"/>
          </a:p>
        </p:txBody>
      </p:sp>
      <p:sp>
        <p:nvSpPr>
          <p:cNvPr id="6" name="Text 4"/>
          <p:cNvSpPr txBox="1"/>
          <p:nvPr/>
        </p:nvSpPr>
        <p:spPr>
          <a:xfrm>
            <a:off x="704088" y="2103120"/>
            <a:ext cx="3118104" cy="1792224"/>
          </a:xfrm>
          <a:prstGeom prst="rect">
            <a:avLst/>
          </a:prstGeom>
          <a:noFill/>
          <a:ln/>
        </p:spPr>
        <p:txBody>
          <a:bodyPr wrap="square" lIns="0" tIns="0" rIns="0" bIns="0" rtlCol="0" anchor="t"/>
          <a:lstStyle/>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Generación fotovoltaica</a:t>
            </a:r>
            <a:endParaRPr lang="en-US" sz="1200" dirty="0"/>
          </a:p>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Demanda de los cargadores</a:t>
            </a:r>
            <a:endParaRPr lang="en-US" sz="1200" dirty="0"/>
          </a:p>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Estado de carga de la batería</a:t>
            </a:r>
            <a:endParaRPr lang="en-US" sz="1200" dirty="0"/>
          </a:p>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Nivel de los dos tanques de H₂</a:t>
            </a:r>
            <a:endParaRPr lang="en-US" sz="1200" dirty="0"/>
          </a:p>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Precio de la electricidad</a:t>
            </a:r>
            <a:endParaRPr lang="en-US" sz="1200" dirty="0"/>
          </a:p>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Demanda de hidrógeno</a:t>
            </a:r>
            <a:endParaRPr lang="en-US" sz="1200" dirty="0"/>
          </a:p>
        </p:txBody>
      </p:sp>
      <p:sp>
        <p:nvSpPr>
          <p:cNvPr id="7" name="Shape 5"/>
          <p:cNvSpPr/>
          <p:nvPr/>
        </p:nvSpPr>
        <p:spPr>
          <a:xfrm>
            <a:off x="8220456" y="1645920"/>
            <a:ext cx="3468319" cy="2395728"/>
          </a:xfrm>
          <a:prstGeom prst="roundRect">
            <a:avLst>
              <a:gd name="adj" fmla="val 1908"/>
            </a:avLst>
          </a:prstGeom>
          <a:solidFill>
            <a:srgbClr val="F1F5F7"/>
          </a:solidFill>
          <a:ln w="12700">
            <a:solidFill>
              <a:srgbClr val="DDE3E6"/>
            </a:solidFill>
            <a:prstDash val="solid"/>
          </a:ln>
        </p:spPr>
      </p:sp>
      <p:sp>
        <p:nvSpPr>
          <p:cNvPr id="8" name="Text 6"/>
          <p:cNvSpPr txBox="1"/>
          <p:nvPr/>
        </p:nvSpPr>
        <p:spPr>
          <a:xfrm>
            <a:off x="8421624" y="1792224"/>
            <a:ext cx="3065983" cy="237744"/>
          </a:xfrm>
          <a:prstGeom prst="rect">
            <a:avLst/>
          </a:prstGeom>
          <a:noFill/>
          <a:ln/>
        </p:spPr>
        <p:txBody>
          <a:bodyPr wrap="square" lIns="0" tIns="0" rIns="0" bIns="0" rtlCol="0" anchor="ctr"/>
          <a:lstStyle/>
          <a:p>
            <a:pPr indent="0" marL="0">
              <a:buNone/>
            </a:pPr>
            <a:r>
              <a:rPr lang="en-US" sz="950" b="1" spc="120" kern="0" dirty="0">
                <a:solidFill>
                  <a:srgbClr val="C8861E"/>
                </a:solidFill>
                <a:latin typeface="Calibri" pitchFamily="34" charset="0"/>
                <a:ea typeface="Calibri" pitchFamily="34" charset="-122"/>
                <a:cs typeface="Calibri" pitchFamily="34" charset="-120"/>
              </a:rPr>
              <a:t>SALIDAS · 6 CONSIGNAS</a:t>
            </a:r>
            <a:endParaRPr lang="en-US" sz="950" dirty="0"/>
          </a:p>
        </p:txBody>
      </p:sp>
      <p:sp>
        <p:nvSpPr>
          <p:cNvPr id="9" name="Text 7"/>
          <p:cNvSpPr txBox="1"/>
          <p:nvPr/>
        </p:nvSpPr>
        <p:spPr>
          <a:xfrm>
            <a:off x="8421624" y="2103120"/>
            <a:ext cx="3065983" cy="1792224"/>
          </a:xfrm>
          <a:prstGeom prst="rect">
            <a:avLst/>
          </a:prstGeom>
          <a:noFill/>
          <a:ln/>
        </p:spPr>
        <p:txBody>
          <a:bodyPr wrap="square" lIns="0" tIns="0" rIns="0" bIns="0" rtlCol="0" anchor="t"/>
          <a:lstStyle/>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Consigna de batería</a:t>
            </a:r>
            <a:endParaRPr lang="en-US" sz="1200" dirty="0"/>
          </a:p>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Consigna de electrolizador</a:t>
            </a:r>
            <a:endParaRPr lang="en-US" sz="1200" dirty="0"/>
          </a:p>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Consigna de pila de combustible</a:t>
            </a:r>
            <a:endParaRPr lang="en-US" sz="1200" dirty="0"/>
          </a:p>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Marcha del compresor</a:t>
            </a:r>
            <a:endParaRPr lang="en-US" sz="1200" dirty="0"/>
          </a:p>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Conexión del electrolizador</a:t>
            </a:r>
            <a:endParaRPr lang="en-US" sz="1200" dirty="0"/>
          </a:p>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Conexión de la pila</a:t>
            </a:r>
            <a:endParaRPr lang="en-US" sz="1200" dirty="0"/>
          </a:p>
        </p:txBody>
      </p:sp>
      <p:sp>
        <p:nvSpPr>
          <p:cNvPr id="10" name="Shape 8"/>
          <p:cNvSpPr/>
          <p:nvPr/>
        </p:nvSpPr>
        <p:spPr>
          <a:xfrm>
            <a:off x="4590288" y="2212848"/>
            <a:ext cx="3063240" cy="1261872"/>
          </a:xfrm>
          <a:prstGeom prst="roundRect">
            <a:avLst>
              <a:gd name="adj" fmla="val 4348"/>
            </a:avLst>
          </a:prstGeom>
          <a:solidFill>
            <a:srgbClr val="10394A"/>
          </a:solidFill>
          <a:ln w="12700">
            <a:solidFill>
              <a:srgbClr val="10394A"/>
            </a:solidFill>
            <a:prstDash val="solid"/>
          </a:ln>
        </p:spPr>
      </p:sp>
      <p:sp>
        <p:nvSpPr>
          <p:cNvPr id="11" name="Text 9"/>
          <p:cNvSpPr txBox="1"/>
          <p:nvPr/>
        </p:nvSpPr>
        <p:spPr>
          <a:xfrm>
            <a:off x="4590288" y="2395728"/>
            <a:ext cx="3063240" cy="566928"/>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EMS</a:t>
            </a:r>
            <a:endParaRPr lang="en-US" sz="3000" dirty="0"/>
          </a:p>
        </p:txBody>
      </p:sp>
      <p:sp>
        <p:nvSpPr>
          <p:cNvPr id="12" name="Text 10"/>
          <p:cNvSpPr txBox="1"/>
          <p:nvPr/>
        </p:nvSpPr>
        <p:spPr>
          <a:xfrm>
            <a:off x="4590288" y="2962656"/>
            <a:ext cx="3063240" cy="274320"/>
          </a:xfrm>
          <a:prstGeom prst="rect">
            <a:avLst/>
          </a:prstGeom>
          <a:noFill/>
          <a:ln/>
        </p:spPr>
        <p:txBody>
          <a:bodyPr wrap="square" lIns="0" tIns="0" rIns="0" bIns="0" rtlCol="0" anchor="ctr"/>
          <a:lstStyle/>
          <a:p>
            <a:pPr algn="ctr" indent="0" marL="0">
              <a:buNone/>
            </a:pPr>
            <a:r>
              <a:rPr lang="en-US" sz="1150" dirty="0">
                <a:solidFill>
                  <a:srgbClr val="A8C4D0"/>
                </a:solidFill>
                <a:latin typeface="Calibri" pitchFamily="34" charset="0"/>
                <a:ea typeface="Calibri" pitchFamily="34" charset="-122"/>
                <a:cs typeface="Calibri" pitchFamily="34" charset="-120"/>
              </a:rPr>
              <a:t>un único bloque de Simulink</a:t>
            </a:r>
            <a:endParaRPr lang="en-US" sz="1150" dirty="0"/>
          </a:p>
        </p:txBody>
      </p:sp>
      <p:sp>
        <p:nvSpPr>
          <p:cNvPr id="13" name="Shape 11"/>
          <p:cNvSpPr/>
          <p:nvPr/>
        </p:nvSpPr>
        <p:spPr>
          <a:xfrm>
            <a:off x="4096512" y="2843784"/>
            <a:ext cx="438912" cy="0"/>
          </a:xfrm>
          <a:prstGeom prst="line">
            <a:avLst/>
          </a:prstGeom>
          <a:noFill/>
          <a:ln w="15875">
            <a:solidFill>
              <a:srgbClr val="5F6B72"/>
            </a:solidFill>
            <a:prstDash val="solid"/>
            <a:tailEnd type="triangle"/>
          </a:ln>
        </p:spPr>
      </p:sp>
      <p:sp>
        <p:nvSpPr>
          <p:cNvPr id="14" name="Shape 12"/>
          <p:cNvSpPr/>
          <p:nvPr/>
        </p:nvSpPr>
        <p:spPr>
          <a:xfrm>
            <a:off x="7708392" y="2843784"/>
            <a:ext cx="438912" cy="0"/>
          </a:xfrm>
          <a:prstGeom prst="line">
            <a:avLst/>
          </a:prstGeom>
          <a:noFill/>
          <a:ln w="15875">
            <a:solidFill>
              <a:srgbClr val="5F6B72"/>
            </a:solidFill>
            <a:prstDash val="solid"/>
            <a:tailEnd type="triangle"/>
          </a:ln>
        </p:spPr>
      </p:sp>
      <p:sp>
        <p:nvSpPr>
          <p:cNvPr id="15" name="Text 13"/>
          <p:cNvSpPr txBox="1"/>
          <p:nvPr/>
        </p:nvSpPr>
        <p:spPr>
          <a:xfrm>
            <a:off x="502920" y="4206240"/>
            <a:ext cx="11185855" cy="292608"/>
          </a:xfrm>
          <a:prstGeom prst="rect">
            <a:avLst/>
          </a:prstGeom>
          <a:noFill/>
          <a:ln/>
        </p:spPr>
        <p:txBody>
          <a:bodyPr wrap="square" lIns="0" tIns="0" rIns="0" bIns="0" rtlCol="0" anchor="ctr"/>
          <a:lstStyle/>
          <a:p>
            <a:pPr algn="ctr" indent="0" marL="0">
              <a:buNone/>
            </a:pPr>
            <a:r>
              <a:rPr lang="en-US" sz="1150" i="1" dirty="0">
                <a:solidFill>
                  <a:srgbClr val="5F6B72"/>
                </a:solidFill>
                <a:latin typeface="Calibri" pitchFamily="34" charset="0"/>
                <a:ea typeface="Calibri" pitchFamily="34" charset="-122"/>
                <a:cs typeface="Calibri" pitchFamily="34" charset="-120"/>
              </a:rPr>
              <a:t>Es lo único que cambia entre versiones: mismo modelo físico, mismos perfiles, misma semilla</a:t>
            </a:r>
            <a:endParaRPr lang="en-US" sz="1150" dirty="0"/>
          </a:p>
        </p:txBody>
      </p:sp>
      <p:sp>
        <p:nvSpPr>
          <p:cNvPr id="16" name="Shape 14"/>
          <p:cNvSpPr/>
          <p:nvPr/>
        </p:nvSpPr>
        <p:spPr>
          <a:xfrm>
            <a:off x="502920" y="4736592"/>
            <a:ext cx="329184" cy="329184"/>
          </a:xfrm>
          <a:prstGeom prst="ellipse">
            <a:avLst/>
          </a:prstGeom>
          <a:solidFill>
            <a:srgbClr val="C8861E"/>
          </a:solidFill>
          <a:ln/>
        </p:spPr>
      </p:sp>
      <p:sp>
        <p:nvSpPr>
          <p:cNvPr id="17" name="Text 15"/>
          <p:cNvSpPr txBox="1"/>
          <p:nvPr/>
        </p:nvSpPr>
        <p:spPr>
          <a:xfrm>
            <a:off x="502920" y="4736592"/>
            <a:ext cx="329184" cy="329184"/>
          </a:xfrm>
          <a:prstGeom prst="rect">
            <a:avLst/>
          </a:prstGeom>
          <a:noFill/>
          <a:ln/>
        </p:spPr>
        <p:txBody>
          <a:bodyPr wrap="square" lIns="0" tIns="0" rIns="0" bIns="0" rtlCol="0" anchor="ctr"/>
          <a:lstStyle/>
          <a:p>
            <a:pPr algn="ctr" indent="0" marL="0">
              <a:buNone/>
            </a:pPr>
            <a:r>
              <a:rPr lang="en-US" sz="1200" b="1" dirty="0">
                <a:solidFill>
                  <a:srgbClr val="10394A"/>
                </a:solidFill>
                <a:latin typeface="Calibri" pitchFamily="34" charset="0"/>
                <a:ea typeface="Calibri" pitchFamily="34" charset="-122"/>
                <a:cs typeface="Calibri" pitchFamily="34" charset="-120"/>
              </a:rPr>
              <a:t>1</a:t>
            </a:r>
            <a:endParaRPr lang="en-US" sz="1200" dirty="0"/>
          </a:p>
        </p:txBody>
      </p:sp>
      <p:sp>
        <p:nvSpPr>
          <p:cNvPr id="18" name="Text 16"/>
          <p:cNvSpPr txBox="1"/>
          <p:nvPr/>
        </p:nvSpPr>
        <p:spPr>
          <a:xfrm>
            <a:off x="923544" y="4736592"/>
            <a:ext cx="3125114" cy="329184"/>
          </a:xfrm>
          <a:prstGeom prst="rect">
            <a:avLst/>
          </a:prstGeom>
          <a:noFill/>
          <a:ln/>
        </p:spPr>
        <p:txBody>
          <a:bodyPr wrap="square" lIns="0" tIns="0" rIns="0" bIns="0" rtlCol="0" anchor="ctr"/>
          <a:lstStyle/>
          <a:p>
            <a:pPr indent="0" marL="0">
              <a:buNone/>
            </a:pPr>
            <a:r>
              <a:rPr lang="en-US" sz="1400" b="1" dirty="0">
                <a:solidFill>
                  <a:srgbClr val="10394A"/>
                </a:solidFill>
                <a:latin typeface="Calibri" pitchFamily="34" charset="0"/>
                <a:ea typeface="Calibri" pitchFamily="34" charset="-122"/>
                <a:cs typeface="Calibri" pitchFamily="34" charset="-120"/>
              </a:rPr>
              <a:t>Sobra sol</a:t>
            </a:r>
            <a:endParaRPr lang="en-US" sz="1400" dirty="0"/>
          </a:p>
        </p:txBody>
      </p:sp>
      <p:sp>
        <p:nvSpPr>
          <p:cNvPr id="19" name="Text 17"/>
          <p:cNvSpPr txBox="1"/>
          <p:nvPr/>
        </p:nvSpPr>
        <p:spPr>
          <a:xfrm>
            <a:off x="502920" y="5138928"/>
            <a:ext cx="3545738" cy="548640"/>
          </a:xfrm>
          <a:prstGeom prst="rect">
            <a:avLst/>
          </a:prstGeom>
          <a:noFill/>
          <a:ln/>
        </p:spPr>
        <p:txBody>
          <a:bodyPr wrap="square" lIns="0" tIns="0" rIns="0" bIns="0" rtlCol="0" anchor="t"/>
          <a:lstStyle/>
          <a:p>
            <a:pPr indent="0" marL="0">
              <a:lnSpc>
                <a:spcPct val="112000"/>
              </a:lnSpc>
              <a:buNone/>
            </a:pPr>
            <a:r>
              <a:rPr lang="en-US" sz="1150" dirty="0">
                <a:solidFill>
                  <a:srgbClr val="5F6B72"/>
                </a:solidFill>
                <a:latin typeface="Calibri" pitchFamily="34" charset="0"/>
                <a:ea typeface="Calibri" pitchFamily="34" charset="-122"/>
                <a:cs typeface="Calibri" pitchFamily="34" charset="-120"/>
              </a:rPr>
              <a:t>Cómo repartir el excedente entre batería y electrolizador</a:t>
            </a:r>
            <a:endParaRPr lang="en-US" sz="1150" dirty="0"/>
          </a:p>
        </p:txBody>
      </p:sp>
      <p:sp>
        <p:nvSpPr>
          <p:cNvPr id="20" name="Shape 18"/>
          <p:cNvSpPr/>
          <p:nvPr/>
        </p:nvSpPr>
        <p:spPr>
          <a:xfrm>
            <a:off x="4322978" y="4736592"/>
            <a:ext cx="329184" cy="329184"/>
          </a:xfrm>
          <a:prstGeom prst="ellipse">
            <a:avLst/>
          </a:prstGeom>
          <a:solidFill>
            <a:srgbClr val="C8861E"/>
          </a:solidFill>
          <a:ln/>
        </p:spPr>
      </p:sp>
      <p:sp>
        <p:nvSpPr>
          <p:cNvPr id="21" name="Text 19"/>
          <p:cNvSpPr txBox="1"/>
          <p:nvPr/>
        </p:nvSpPr>
        <p:spPr>
          <a:xfrm>
            <a:off x="4322978" y="4736592"/>
            <a:ext cx="329184" cy="329184"/>
          </a:xfrm>
          <a:prstGeom prst="rect">
            <a:avLst/>
          </a:prstGeom>
          <a:noFill/>
          <a:ln/>
        </p:spPr>
        <p:txBody>
          <a:bodyPr wrap="square" lIns="0" tIns="0" rIns="0" bIns="0" rtlCol="0" anchor="ctr"/>
          <a:lstStyle/>
          <a:p>
            <a:pPr algn="ctr" indent="0" marL="0">
              <a:buNone/>
            </a:pPr>
            <a:r>
              <a:rPr lang="en-US" sz="1200" b="1" dirty="0">
                <a:solidFill>
                  <a:srgbClr val="10394A"/>
                </a:solidFill>
                <a:latin typeface="Calibri" pitchFamily="34" charset="0"/>
                <a:ea typeface="Calibri" pitchFamily="34" charset="-122"/>
                <a:cs typeface="Calibri" pitchFamily="34" charset="-120"/>
              </a:rPr>
              <a:t>2</a:t>
            </a:r>
            <a:endParaRPr lang="en-US" sz="1200" dirty="0"/>
          </a:p>
        </p:txBody>
      </p:sp>
      <p:sp>
        <p:nvSpPr>
          <p:cNvPr id="22" name="Text 20"/>
          <p:cNvSpPr txBox="1"/>
          <p:nvPr/>
        </p:nvSpPr>
        <p:spPr>
          <a:xfrm>
            <a:off x="4743602" y="4736592"/>
            <a:ext cx="3125114" cy="329184"/>
          </a:xfrm>
          <a:prstGeom prst="rect">
            <a:avLst/>
          </a:prstGeom>
          <a:noFill/>
          <a:ln/>
        </p:spPr>
        <p:txBody>
          <a:bodyPr wrap="square" lIns="0" tIns="0" rIns="0" bIns="0" rtlCol="0" anchor="ctr"/>
          <a:lstStyle/>
          <a:p>
            <a:pPr indent="0" marL="0">
              <a:buNone/>
            </a:pPr>
            <a:r>
              <a:rPr lang="en-US" sz="1400" b="1" dirty="0">
                <a:solidFill>
                  <a:srgbClr val="10394A"/>
                </a:solidFill>
                <a:latin typeface="Calibri" pitchFamily="34" charset="0"/>
                <a:ea typeface="Calibri" pitchFamily="34" charset="-122"/>
                <a:cs typeface="Calibri" pitchFamily="34" charset="-120"/>
              </a:rPr>
              <a:t>Falta energía</a:t>
            </a:r>
            <a:endParaRPr lang="en-US" sz="1400" dirty="0"/>
          </a:p>
        </p:txBody>
      </p:sp>
      <p:sp>
        <p:nvSpPr>
          <p:cNvPr id="23" name="Text 21"/>
          <p:cNvSpPr txBox="1"/>
          <p:nvPr/>
        </p:nvSpPr>
        <p:spPr>
          <a:xfrm>
            <a:off x="4322978" y="5138928"/>
            <a:ext cx="3545738" cy="548640"/>
          </a:xfrm>
          <a:prstGeom prst="rect">
            <a:avLst/>
          </a:prstGeom>
          <a:noFill/>
          <a:ln/>
        </p:spPr>
        <p:txBody>
          <a:bodyPr wrap="square" lIns="0" tIns="0" rIns="0" bIns="0" rtlCol="0" anchor="t"/>
          <a:lstStyle/>
          <a:p>
            <a:pPr indent="0" marL="0">
              <a:lnSpc>
                <a:spcPct val="112000"/>
              </a:lnSpc>
              <a:buNone/>
            </a:pPr>
            <a:r>
              <a:rPr lang="en-US" sz="1150" dirty="0">
                <a:solidFill>
                  <a:srgbClr val="5F6B72"/>
                </a:solidFill>
                <a:latin typeface="Calibri" pitchFamily="34" charset="0"/>
                <a:ea typeface="Calibri" pitchFamily="34" charset="-122"/>
                <a:cs typeface="Calibri" pitchFamily="34" charset="-120"/>
              </a:rPr>
              <a:t>En qué orden cubrir el déficit: batería, pila, red</a:t>
            </a:r>
            <a:endParaRPr lang="en-US" sz="1150" dirty="0"/>
          </a:p>
        </p:txBody>
      </p:sp>
      <p:sp>
        <p:nvSpPr>
          <p:cNvPr id="24" name="Shape 22"/>
          <p:cNvSpPr/>
          <p:nvPr/>
        </p:nvSpPr>
        <p:spPr>
          <a:xfrm>
            <a:off x="8143037" y="4736592"/>
            <a:ext cx="329184" cy="329184"/>
          </a:xfrm>
          <a:prstGeom prst="ellipse">
            <a:avLst/>
          </a:prstGeom>
          <a:solidFill>
            <a:srgbClr val="C8861E"/>
          </a:solidFill>
          <a:ln/>
        </p:spPr>
      </p:sp>
      <p:sp>
        <p:nvSpPr>
          <p:cNvPr id="25" name="Text 23"/>
          <p:cNvSpPr txBox="1"/>
          <p:nvPr/>
        </p:nvSpPr>
        <p:spPr>
          <a:xfrm>
            <a:off x="8143037" y="4736592"/>
            <a:ext cx="329184" cy="329184"/>
          </a:xfrm>
          <a:prstGeom prst="rect">
            <a:avLst/>
          </a:prstGeom>
          <a:noFill/>
          <a:ln/>
        </p:spPr>
        <p:txBody>
          <a:bodyPr wrap="square" lIns="0" tIns="0" rIns="0" bIns="0" rtlCol="0" anchor="ctr"/>
          <a:lstStyle/>
          <a:p>
            <a:pPr algn="ctr" indent="0" marL="0">
              <a:buNone/>
            </a:pPr>
            <a:r>
              <a:rPr lang="en-US" sz="1200" b="1" dirty="0">
                <a:solidFill>
                  <a:srgbClr val="10394A"/>
                </a:solidFill>
                <a:latin typeface="Calibri" pitchFamily="34" charset="0"/>
                <a:ea typeface="Calibri" pitchFamily="34" charset="-122"/>
                <a:cs typeface="Calibri" pitchFamily="34" charset="-120"/>
              </a:rPr>
              <a:t>3</a:t>
            </a:r>
            <a:endParaRPr lang="en-US" sz="1200" dirty="0"/>
          </a:p>
        </p:txBody>
      </p:sp>
      <p:sp>
        <p:nvSpPr>
          <p:cNvPr id="26" name="Text 24"/>
          <p:cNvSpPr txBox="1"/>
          <p:nvPr/>
        </p:nvSpPr>
        <p:spPr>
          <a:xfrm>
            <a:off x="8563661" y="4736592"/>
            <a:ext cx="3125114" cy="329184"/>
          </a:xfrm>
          <a:prstGeom prst="rect">
            <a:avLst/>
          </a:prstGeom>
          <a:noFill/>
          <a:ln/>
        </p:spPr>
        <p:txBody>
          <a:bodyPr wrap="square" lIns="0" tIns="0" rIns="0" bIns="0" rtlCol="0" anchor="ctr"/>
          <a:lstStyle/>
          <a:p>
            <a:pPr indent="0" marL="0">
              <a:buNone/>
            </a:pPr>
            <a:r>
              <a:rPr lang="en-US" sz="1400" b="1" dirty="0">
                <a:solidFill>
                  <a:srgbClr val="10394A"/>
                </a:solidFill>
                <a:latin typeface="Calibri" pitchFamily="34" charset="0"/>
                <a:ea typeface="Calibri" pitchFamily="34" charset="-122"/>
                <a:cs typeface="Calibri" pitchFamily="34" charset="-120"/>
              </a:rPr>
              <a:t>En todo momento</a:t>
            </a:r>
            <a:endParaRPr lang="en-US" sz="1400" dirty="0"/>
          </a:p>
        </p:txBody>
      </p:sp>
      <p:sp>
        <p:nvSpPr>
          <p:cNvPr id="27" name="Text 25"/>
          <p:cNvSpPr txBox="1"/>
          <p:nvPr/>
        </p:nvSpPr>
        <p:spPr>
          <a:xfrm>
            <a:off x="8143037" y="5138928"/>
            <a:ext cx="3545738" cy="548640"/>
          </a:xfrm>
          <a:prstGeom prst="rect">
            <a:avLst/>
          </a:prstGeom>
          <a:noFill/>
          <a:ln/>
        </p:spPr>
        <p:txBody>
          <a:bodyPr wrap="square" lIns="0" tIns="0" rIns="0" bIns="0" rtlCol="0" anchor="t"/>
          <a:lstStyle/>
          <a:p>
            <a:pPr indent="0" marL="0">
              <a:lnSpc>
                <a:spcPct val="112000"/>
              </a:lnSpc>
              <a:buNone/>
            </a:pPr>
            <a:r>
              <a:rPr lang="en-US" sz="1150" dirty="0">
                <a:solidFill>
                  <a:srgbClr val="5F6B72"/>
                </a:solidFill>
                <a:latin typeface="Calibri" pitchFamily="34" charset="0"/>
                <a:ea typeface="Calibri" pitchFamily="34" charset="-122"/>
                <a:cs typeface="Calibri" pitchFamily="34" charset="-120"/>
              </a:rPr>
              <a:t>Si conviene producir hidrógeno o reponerlo desde fuera</a:t>
            </a:r>
            <a:endParaRPr lang="en-US" sz="1150" dirty="0"/>
          </a:p>
        </p:txBody>
      </p:sp>
      <p:sp>
        <p:nvSpPr>
          <p:cNvPr id="28" name="Shape 26"/>
          <p:cNvSpPr/>
          <p:nvPr/>
        </p:nvSpPr>
        <p:spPr>
          <a:xfrm>
            <a:off x="502920" y="5623560"/>
            <a:ext cx="11185855" cy="566928"/>
          </a:xfrm>
          <a:prstGeom prst="roundRect">
            <a:avLst>
              <a:gd name="adj" fmla="val 9677"/>
            </a:avLst>
          </a:prstGeom>
          <a:solidFill>
            <a:srgbClr val="10394A"/>
          </a:solidFill>
          <a:ln/>
        </p:spPr>
      </p:sp>
      <p:sp>
        <p:nvSpPr>
          <p:cNvPr id="29" name="Text 27"/>
          <p:cNvSpPr txBox="1"/>
          <p:nvPr/>
        </p:nvSpPr>
        <p:spPr>
          <a:xfrm>
            <a:off x="777240" y="5641848"/>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Objetivo del trabajo: medir qué parte de la mejora es de la predicción y qué parte de las reglas que la consumen.</a:t>
            </a:r>
            <a:endParaRPr lang="en-US" sz="1350" dirty="0"/>
          </a:p>
        </p:txBody>
      </p:sp>
      <p:sp>
        <p:nvSpPr>
          <p:cNvPr id="30" name="Text 28"/>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DATOS  ·  2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La demanda sale de sesiones reales de carga rápida, no de una hipótesis</a:t>
            </a:r>
            <a:endParaRPr lang="en-US" sz="2600" dirty="0"/>
          </a:p>
        </p:txBody>
      </p:sp>
      <p:pic>
        <p:nvPicPr>
          <p:cNvPr id="4" name="Image 0" descr="img/llegadas_por_hora.png">    </p:cNvPr>
          <p:cNvPicPr>
            <a:picLocks noChangeAspect="1"/>
          </p:cNvPicPr>
          <p:nvPr/>
        </p:nvPicPr>
        <p:blipFill>
          <a:blip r:embed="rId1"/>
          <a:stretch>
            <a:fillRect/>
          </a:stretch>
        </p:blipFill>
        <p:spPr>
          <a:xfrm>
            <a:off x="502920" y="1536192"/>
            <a:ext cx="3576218" cy="1788109"/>
          </a:xfrm>
          <a:prstGeom prst="rect">
            <a:avLst/>
          </a:prstGeom>
        </p:spPr>
      </p:pic>
      <p:pic>
        <p:nvPicPr>
          <p:cNvPr id="5" name="Image 1" descr="img/energia_por_sesion.png">    </p:cNvPr>
          <p:cNvPicPr>
            <a:picLocks noChangeAspect="1"/>
          </p:cNvPicPr>
          <p:nvPr/>
        </p:nvPicPr>
        <p:blipFill>
          <a:blip r:embed="rId2"/>
          <a:stretch>
            <a:fillRect/>
          </a:stretch>
        </p:blipFill>
        <p:spPr>
          <a:xfrm>
            <a:off x="4307738" y="1536192"/>
            <a:ext cx="3576218" cy="1788109"/>
          </a:xfrm>
          <a:prstGeom prst="rect">
            <a:avLst/>
          </a:prstGeom>
        </p:spPr>
      </p:pic>
      <p:pic>
        <p:nvPicPr>
          <p:cNvPr id="6" name="Image 2" descr="img/colas_espera_cargadores.png">    </p:cNvPr>
          <p:cNvPicPr>
            <a:picLocks noChangeAspect="1"/>
          </p:cNvPicPr>
          <p:nvPr/>
        </p:nvPicPr>
        <p:blipFill>
          <a:blip r:embed="rId3"/>
          <a:stretch>
            <a:fillRect/>
          </a:stretch>
        </p:blipFill>
        <p:spPr>
          <a:xfrm>
            <a:off x="8112557" y="1536192"/>
            <a:ext cx="3576218" cy="2310787"/>
          </a:xfrm>
          <a:prstGeom prst="rect">
            <a:avLst/>
          </a:prstGeom>
        </p:spPr>
      </p:pic>
      <p:sp>
        <p:nvSpPr>
          <p:cNvPr id="7" name="Text 2"/>
          <p:cNvSpPr txBox="1"/>
          <p:nvPr/>
        </p:nvSpPr>
        <p:spPr>
          <a:xfrm>
            <a:off x="502920" y="3956707"/>
            <a:ext cx="3576218" cy="274320"/>
          </a:xfrm>
          <a:prstGeom prst="rect">
            <a:avLst/>
          </a:prstGeom>
          <a:noFill/>
          <a:ln/>
        </p:spPr>
        <p:txBody>
          <a:bodyPr wrap="square" lIns="0" tIns="0" rIns="0" bIns="0" rtlCol="0" anchor="ctr"/>
          <a:lstStyle/>
          <a:p>
            <a:pPr algn="ctr" indent="0" marL="0">
              <a:buNone/>
            </a:pPr>
            <a:r>
              <a:rPr lang="en-US" sz="1050" i="1" dirty="0">
                <a:solidFill>
                  <a:srgbClr val="5F6B72"/>
                </a:solidFill>
                <a:latin typeface="Calibri" pitchFamily="34" charset="0"/>
                <a:ea typeface="Calibri" pitchFamily="34" charset="-122"/>
                <a:cs typeface="Calibri" pitchFamily="34" charset="-120"/>
              </a:rPr>
              <a:t>Llegadas por hora del día</a:t>
            </a:r>
            <a:endParaRPr lang="en-US" sz="1050" dirty="0"/>
          </a:p>
        </p:txBody>
      </p:sp>
      <p:sp>
        <p:nvSpPr>
          <p:cNvPr id="8" name="Text 3"/>
          <p:cNvSpPr txBox="1"/>
          <p:nvPr/>
        </p:nvSpPr>
        <p:spPr>
          <a:xfrm>
            <a:off x="4307738" y="3956707"/>
            <a:ext cx="3576218" cy="274320"/>
          </a:xfrm>
          <a:prstGeom prst="rect">
            <a:avLst/>
          </a:prstGeom>
          <a:noFill/>
          <a:ln/>
        </p:spPr>
        <p:txBody>
          <a:bodyPr wrap="square" lIns="0" tIns="0" rIns="0" bIns="0" rtlCol="0" anchor="ctr"/>
          <a:lstStyle/>
          <a:p>
            <a:pPr algn="ctr" indent="0" marL="0">
              <a:buNone/>
            </a:pPr>
            <a:r>
              <a:rPr lang="en-US" sz="1050" i="1" dirty="0">
                <a:solidFill>
                  <a:srgbClr val="5F6B72"/>
                </a:solidFill>
                <a:latin typeface="Calibri" pitchFamily="34" charset="0"/>
                <a:ea typeface="Calibri" pitchFamily="34" charset="-122"/>
                <a:cs typeface="Calibri" pitchFamily="34" charset="-120"/>
              </a:rPr>
              <a:t>Energía por sesión</a:t>
            </a:r>
            <a:endParaRPr lang="en-US" sz="1050" dirty="0"/>
          </a:p>
        </p:txBody>
      </p:sp>
      <p:sp>
        <p:nvSpPr>
          <p:cNvPr id="9" name="Text 4"/>
          <p:cNvSpPr txBox="1"/>
          <p:nvPr/>
        </p:nvSpPr>
        <p:spPr>
          <a:xfrm>
            <a:off x="8112557" y="3956707"/>
            <a:ext cx="3576218" cy="274320"/>
          </a:xfrm>
          <a:prstGeom prst="rect">
            <a:avLst/>
          </a:prstGeom>
          <a:noFill/>
          <a:ln/>
        </p:spPr>
        <p:txBody>
          <a:bodyPr wrap="square" lIns="0" tIns="0" rIns="0" bIns="0" rtlCol="0" anchor="ctr"/>
          <a:lstStyle/>
          <a:p>
            <a:pPr algn="ctr" indent="0" marL="0">
              <a:buNone/>
            </a:pPr>
            <a:r>
              <a:rPr lang="en-US" sz="1050" i="1" dirty="0">
                <a:solidFill>
                  <a:srgbClr val="5F6B72"/>
                </a:solidFill>
                <a:latin typeface="Calibri" pitchFamily="34" charset="0"/>
                <a:ea typeface="Calibri" pitchFamily="34" charset="-122"/>
                <a:cs typeface="Calibri" pitchFamily="34" charset="-120"/>
              </a:rPr>
              <a:t>Espera frente a nº de cargadores</a:t>
            </a:r>
            <a:endParaRPr lang="en-US" sz="1050" dirty="0"/>
          </a:p>
        </p:txBody>
      </p:sp>
      <p:sp>
        <p:nvSpPr>
          <p:cNvPr id="10" name="Text 5"/>
          <p:cNvSpPr txBox="1"/>
          <p:nvPr/>
        </p:nvSpPr>
        <p:spPr>
          <a:xfrm>
            <a:off x="502920" y="4432195"/>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DESL-EPFL: 1 875 sesiones CCS válidas · media de 32,2 kWh · 8,5 sesiones/día</a:t>
            </a:r>
            <a:endParaRPr lang="en-US" sz="1250" dirty="0"/>
          </a:p>
        </p:txBody>
      </p:sp>
      <p:sp>
        <p:nvSpPr>
          <p:cNvPr id="11" name="Text 6"/>
          <p:cNvSpPr txBox="1"/>
          <p:nvPr/>
        </p:nvSpPr>
        <p:spPr>
          <a:xfrm>
            <a:off x="502920" y="4724803"/>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Caltech ACN-Data como contraste de carga lenta (Level 2 frente a Level 3)</a:t>
            </a:r>
            <a:endParaRPr lang="en-US" sz="1250" dirty="0"/>
          </a:p>
        </p:txBody>
      </p:sp>
      <p:sp>
        <p:nvSpPr>
          <p:cNvPr id="12" name="Text 7"/>
          <p:cNvSpPr txBox="1"/>
          <p:nvPr/>
        </p:nvSpPr>
        <p:spPr>
          <a:xfrm>
            <a:off x="502920" y="5017411"/>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De ahí salen los 50 kW del cargador —el estándar europeo de carga rápida— y que los cargadores sean dos</a:t>
            </a:r>
            <a:endParaRPr lang="en-US" sz="1250" dirty="0"/>
          </a:p>
        </p:txBody>
      </p:sp>
      <p:sp>
        <p:nvSpPr>
          <p:cNvPr id="13" name="Text 8"/>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DATOS  ·  2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Y los datos de entrenamiento, de dos fuentes públicas alineadas hora a hora</a:t>
            </a:r>
            <a:endParaRPr lang="en-US" sz="2600" dirty="0"/>
          </a:p>
        </p:txBody>
      </p:sp>
      <p:sp>
        <p:nvSpPr>
          <p:cNvPr id="4" name="Shape 2"/>
          <p:cNvSpPr/>
          <p:nvPr/>
        </p:nvSpPr>
        <p:spPr>
          <a:xfrm>
            <a:off x="502920" y="1627632"/>
            <a:ext cx="5341468" cy="3401568"/>
          </a:xfrm>
          <a:prstGeom prst="roundRect">
            <a:avLst>
              <a:gd name="adj" fmla="val 1344"/>
            </a:avLst>
          </a:prstGeom>
          <a:solidFill>
            <a:srgbClr val="FFFFFF"/>
          </a:solidFill>
          <a:ln w="12700">
            <a:solidFill>
              <a:srgbClr val="DDE3E6"/>
            </a:solidFill>
            <a:prstDash val="solid"/>
          </a:ln>
        </p:spPr>
      </p:sp>
      <p:sp>
        <p:nvSpPr>
          <p:cNvPr id="5" name="Text 3"/>
          <p:cNvSpPr txBox="1"/>
          <p:nvPr/>
        </p:nvSpPr>
        <p:spPr>
          <a:xfrm>
            <a:off x="813816" y="1828800"/>
            <a:ext cx="4719676" cy="219456"/>
          </a:xfrm>
          <a:prstGeom prst="rect">
            <a:avLst/>
          </a:prstGeom>
          <a:noFill/>
          <a:ln/>
        </p:spPr>
        <p:txBody>
          <a:bodyPr wrap="square" lIns="0" tIns="0" rIns="0" bIns="0" rtlCol="0" anchor="ctr"/>
          <a:lstStyle/>
          <a:p>
            <a:pPr indent="0" marL="0">
              <a:buNone/>
            </a:pPr>
            <a:r>
              <a:rPr lang="en-US" sz="950" b="1" spc="120" kern="0" dirty="0">
                <a:solidFill>
                  <a:srgbClr val="C8861E"/>
                </a:solidFill>
                <a:latin typeface="Calibri" pitchFamily="34" charset="0"/>
                <a:ea typeface="Calibri" pitchFamily="34" charset="-122"/>
                <a:cs typeface="Calibri" pitchFamily="34" charset="-120"/>
              </a:rPr>
              <a:t>MODELO SOLAR</a:t>
            </a:r>
            <a:endParaRPr lang="en-US" sz="950" dirty="0"/>
          </a:p>
        </p:txBody>
      </p:sp>
      <p:sp>
        <p:nvSpPr>
          <p:cNvPr id="6" name="Text 4"/>
          <p:cNvSpPr txBox="1"/>
          <p:nvPr/>
        </p:nvSpPr>
        <p:spPr>
          <a:xfrm>
            <a:off x="813816" y="2084832"/>
            <a:ext cx="4719676" cy="420624"/>
          </a:xfrm>
          <a:prstGeom prst="rect">
            <a:avLst/>
          </a:prstGeom>
          <a:noFill/>
          <a:ln/>
        </p:spPr>
        <p:txBody>
          <a:bodyPr wrap="square" lIns="0" tIns="0" rIns="0" bIns="0" rtlCol="0" anchor="ctr"/>
          <a:lstStyle/>
          <a:p>
            <a:pPr indent="0" marL="0">
              <a:buNone/>
            </a:pPr>
            <a:r>
              <a:rPr lang="en-US" sz="2400" b="1" dirty="0">
                <a:solidFill>
                  <a:srgbClr val="10394A"/>
                </a:solidFill>
                <a:latin typeface="Cambria" pitchFamily="34" charset="0"/>
                <a:ea typeface="Cambria" pitchFamily="34" charset="-122"/>
                <a:cs typeface="Cambria" pitchFamily="34" charset="-120"/>
              </a:rPr>
              <a:t>NASA POWER</a:t>
            </a:r>
            <a:endParaRPr lang="en-US" sz="2400" dirty="0"/>
          </a:p>
        </p:txBody>
      </p:sp>
      <p:sp>
        <p:nvSpPr>
          <p:cNvPr id="7" name="Text 5"/>
          <p:cNvSpPr txBox="1"/>
          <p:nvPr/>
        </p:nvSpPr>
        <p:spPr>
          <a:xfrm>
            <a:off x="813816" y="2542032"/>
            <a:ext cx="4719676" cy="274320"/>
          </a:xfrm>
          <a:prstGeom prst="rect">
            <a:avLst/>
          </a:prstGeom>
          <a:noFill/>
          <a:ln/>
        </p:spPr>
        <p:txBody>
          <a:bodyPr wrap="square" lIns="0" tIns="0" rIns="0" bIns="0" rtlCol="0" anchor="ctr"/>
          <a:lstStyle/>
          <a:p>
            <a:pPr indent="0" marL="0">
              <a:buNone/>
            </a:pPr>
            <a:r>
              <a:rPr lang="en-US" sz="1150" i="1" dirty="0">
                <a:solidFill>
                  <a:srgbClr val="5F6B72"/>
                </a:solidFill>
                <a:latin typeface="Calibri" pitchFamily="34" charset="0"/>
                <a:ea typeface="Calibri" pitchFamily="34" charset="-122"/>
                <a:cs typeface="Calibri" pitchFamily="34" charset="-120"/>
              </a:rPr>
              <a:t>Reanálisis meteorológico horario en el punto de Sevilla</a:t>
            </a:r>
            <a:endParaRPr lang="en-US" sz="1150" dirty="0"/>
          </a:p>
        </p:txBody>
      </p:sp>
      <p:sp>
        <p:nvSpPr>
          <p:cNvPr id="8" name="Shape 6"/>
          <p:cNvSpPr/>
          <p:nvPr/>
        </p:nvSpPr>
        <p:spPr>
          <a:xfrm>
            <a:off x="813816" y="2926080"/>
            <a:ext cx="4719676" cy="0"/>
          </a:xfrm>
          <a:prstGeom prst="line">
            <a:avLst/>
          </a:prstGeom>
          <a:noFill/>
          <a:ln w="9525">
            <a:solidFill>
              <a:srgbClr val="DDE3E6"/>
            </a:solidFill>
            <a:prstDash val="solid"/>
          </a:ln>
        </p:spPr>
      </p:sp>
      <p:sp>
        <p:nvSpPr>
          <p:cNvPr id="9" name="Text 7"/>
          <p:cNvSpPr txBox="1"/>
          <p:nvPr/>
        </p:nvSpPr>
        <p:spPr>
          <a:xfrm>
            <a:off x="813816" y="3072384"/>
            <a:ext cx="1051560" cy="256032"/>
          </a:xfrm>
          <a:prstGeom prst="rect">
            <a:avLst/>
          </a:prstGeom>
          <a:noFill/>
          <a:ln/>
        </p:spPr>
        <p:txBody>
          <a:bodyPr wrap="square" lIns="0" tIns="0" rIns="0" bIns="0" rtlCol="0" anchor="t"/>
          <a:lstStyle/>
          <a:p>
            <a:pPr indent="0" marL="0">
              <a:buNone/>
            </a:pPr>
            <a:r>
              <a:rPr lang="en-US" sz="1100" b="1" dirty="0">
                <a:solidFill>
                  <a:srgbClr val="10394A"/>
                </a:solidFill>
                <a:latin typeface="Calibri" pitchFamily="34" charset="0"/>
                <a:ea typeface="Calibri" pitchFamily="34" charset="-122"/>
                <a:cs typeface="Calibri" pitchFamily="34" charset="-120"/>
              </a:rPr>
              <a:t>Para qué</a:t>
            </a:r>
            <a:endParaRPr lang="en-US" sz="1100" dirty="0"/>
          </a:p>
        </p:txBody>
      </p:sp>
      <p:sp>
        <p:nvSpPr>
          <p:cNvPr id="10" name="Text 8"/>
          <p:cNvSpPr txBox="1"/>
          <p:nvPr/>
        </p:nvSpPr>
        <p:spPr>
          <a:xfrm>
            <a:off x="1911096" y="3072384"/>
            <a:ext cx="3622396" cy="603504"/>
          </a:xfrm>
          <a:prstGeom prst="rect">
            <a:avLst/>
          </a:prstGeom>
          <a:noFill/>
          <a:ln/>
        </p:spPr>
        <p:txBody>
          <a:bodyPr wrap="square" lIns="0" tIns="0" rIns="0" bIns="0" rtlCol="0" anchor="t"/>
          <a:lstStyle/>
          <a:p>
            <a:pPr indent="0" marL="0">
              <a:lnSpc>
                <a:spcPct val="112000"/>
              </a:lnSpc>
              <a:buNone/>
            </a:pPr>
            <a:r>
              <a:rPr lang="en-US" sz="1200" dirty="0">
                <a:solidFill>
                  <a:srgbClr val="1C1C1C"/>
                </a:solidFill>
                <a:latin typeface="Calibri" pitchFamily="34" charset="0"/>
                <a:ea typeface="Calibri" pitchFamily="34" charset="-122"/>
                <a:cs typeface="Calibri" pitchFamily="34" charset="-120"/>
              </a:rPr>
              <a:t>Entrenar la red que predice la irradiancia de las próximas 24 h</a:t>
            </a:r>
            <a:endParaRPr lang="en-US" sz="1200" dirty="0"/>
          </a:p>
        </p:txBody>
      </p:sp>
      <p:sp>
        <p:nvSpPr>
          <p:cNvPr id="11" name="Text 9"/>
          <p:cNvSpPr txBox="1"/>
          <p:nvPr/>
        </p:nvSpPr>
        <p:spPr>
          <a:xfrm>
            <a:off x="813816" y="3749040"/>
            <a:ext cx="1051560" cy="256032"/>
          </a:xfrm>
          <a:prstGeom prst="rect">
            <a:avLst/>
          </a:prstGeom>
          <a:noFill/>
          <a:ln/>
        </p:spPr>
        <p:txBody>
          <a:bodyPr wrap="square" lIns="0" tIns="0" rIns="0" bIns="0" rtlCol="0" anchor="t"/>
          <a:lstStyle/>
          <a:p>
            <a:pPr indent="0" marL="0">
              <a:buNone/>
            </a:pPr>
            <a:r>
              <a:rPr lang="en-US" sz="1100" b="1" dirty="0">
                <a:solidFill>
                  <a:srgbClr val="10394A"/>
                </a:solidFill>
                <a:latin typeface="Calibri" pitchFamily="34" charset="0"/>
                <a:ea typeface="Calibri" pitchFamily="34" charset="-122"/>
                <a:cs typeface="Calibri" pitchFamily="34" charset="-120"/>
              </a:rPr>
              <a:t>Qué aporta</a:t>
            </a:r>
            <a:endParaRPr lang="en-US" sz="1100" dirty="0"/>
          </a:p>
        </p:txBody>
      </p:sp>
      <p:sp>
        <p:nvSpPr>
          <p:cNvPr id="12" name="Text 10"/>
          <p:cNvSpPr txBox="1"/>
          <p:nvPr/>
        </p:nvSpPr>
        <p:spPr>
          <a:xfrm>
            <a:off x="1911096" y="3749040"/>
            <a:ext cx="3622396" cy="603504"/>
          </a:xfrm>
          <a:prstGeom prst="rect">
            <a:avLst/>
          </a:prstGeom>
          <a:noFill/>
          <a:ln/>
        </p:spPr>
        <p:txBody>
          <a:bodyPr wrap="square" lIns="0" tIns="0" rIns="0" bIns="0" rtlCol="0" anchor="t"/>
          <a:lstStyle/>
          <a:p>
            <a:pPr indent="0" marL="0">
              <a:lnSpc>
                <a:spcPct val="112000"/>
              </a:lnSpc>
              <a:buNone/>
            </a:pPr>
            <a:r>
              <a:rPr lang="en-US" sz="1200" dirty="0">
                <a:solidFill>
                  <a:srgbClr val="1C1C1C"/>
                </a:solidFill>
                <a:latin typeface="Calibri" pitchFamily="34" charset="0"/>
                <a:ea typeface="Calibri" pitchFamily="34" charset="-122"/>
                <a:cs typeface="Calibri" pitchFamily="34" charset="-120"/>
              </a:rPr>
              <a:t>Casi veinte años de registro horario y las variables que explican la nubosidad</a:t>
            </a:r>
            <a:endParaRPr lang="en-US" sz="1200" dirty="0"/>
          </a:p>
        </p:txBody>
      </p:sp>
      <p:sp>
        <p:nvSpPr>
          <p:cNvPr id="13" name="Text 11"/>
          <p:cNvSpPr txBox="1"/>
          <p:nvPr/>
        </p:nvSpPr>
        <p:spPr>
          <a:xfrm>
            <a:off x="813816" y="4425696"/>
            <a:ext cx="1051560" cy="256032"/>
          </a:xfrm>
          <a:prstGeom prst="rect">
            <a:avLst/>
          </a:prstGeom>
          <a:noFill/>
          <a:ln/>
        </p:spPr>
        <p:txBody>
          <a:bodyPr wrap="square" lIns="0" tIns="0" rIns="0" bIns="0" rtlCol="0" anchor="t"/>
          <a:lstStyle/>
          <a:p>
            <a:pPr indent="0" marL="0">
              <a:buNone/>
            </a:pPr>
            <a:r>
              <a:rPr lang="en-US" sz="1100" b="1" dirty="0">
                <a:solidFill>
                  <a:srgbClr val="10394A"/>
                </a:solidFill>
                <a:latin typeface="Calibri" pitchFamily="34" charset="0"/>
                <a:ea typeface="Calibri" pitchFamily="34" charset="-122"/>
                <a:cs typeface="Calibri" pitchFamily="34" charset="-120"/>
              </a:rPr>
              <a:t>Un detalle</a:t>
            </a:r>
            <a:endParaRPr lang="en-US" sz="1100" dirty="0"/>
          </a:p>
        </p:txBody>
      </p:sp>
      <p:sp>
        <p:nvSpPr>
          <p:cNvPr id="14" name="Text 12"/>
          <p:cNvSpPr txBox="1"/>
          <p:nvPr/>
        </p:nvSpPr>
        <p:spPr>
          <a:xfrm>
            <a:off x="1911096" y="4425696"/>
            <a:ext cx="3622396" cy="603504"/>
          </a:xfrm>
          <a:prstGeom prst="rect">
            <a:avLst/>
          </a:prstGeom>
          <a:noFill/>
          <a:ln/>
        </p:spPr>
        <p:txBody>
          <a:bodyPr wrap="square" lIns="0" tIns="0" rIns="0" bIns="0" rtlCol="0" anchor="t"/>
          <a:lstStyle/>
          <a:p>
            <a:pPr indent="0" marL="0">
              <a:lnSpc>
                <a:spcPct val="112000"/>
              </a:lnSpc>
              <a:buNone/>
            </a:pPr>
            <a:r>
              <a:rPr lang="en-US" sz="1200" dirty="0">
                <a:solidFill>
                  <a:srgbClr val="1C1C1C"/>
                </a:solidFill>
                <a:latin typeface="Calibri" pitchFamily="34" charset="0"/>
                <a:ea typeface="Calibri" pitchFamily="34" charset="-122"/>
                <a:cs typeface="Calibri" pitchFamily="34" charset="-120"/>
              </a:rPr>
              <a:t>La hora y el día entran en seno y coseno, para que las 23 h y las 0 h sean contiguas y no los extremos de una escala</a:t>
            </a:r>
            <a:endParaRPr lang="en-US" sz="1200" dirty="0"/>
          </a:p>
        </p:txBody>
      </p:sp>
      <p:sp>
        <p:nvSpPr>
          <p:cNvPr id="15" name="Shape 13"/>
          <p:cNvSpPr/>
          <p:nvPr/>
        </p:nvSpPr>
        <p:spPr>
          <a:xfrm>
            <a:off x="6347308" y="1627632"/>
            <a:ext cx="5341468" cy="3401568"/>
          </a:xfrm>
          <a:prstGeom prst="roundRect">
            <a:avLst>
              <a:gd name="adj" fmla="val 1344"/>
            </a:avLst>
          </a:prstGeom>
          <a:solidFill>
            <a:srgbClr val="FFFFFF"/>
          </a:solidFill>
          <a:ln w="12700">
            <a:solidFill>
              <a:srgbClr val="DDE3E6"/>
            </a:solidFill>
            <a:prstDash val="solid"/>
          </a:ln>
        </p:spPr>
      </p:sp>
      <p:sp>
        <p:nvSpPr>
          <p:cNvPr id="16" name="Text 14"/>
          <p:cNvSpPr txBox="1"/>
          <p:nvPr/>
        </p:nvSpPr>
        <p:spPr>
          <a:xfrm>
            <a:off x="6658204" y="1828800"/>
            <a:ext cx="4719676" cy="219456"/>
          </a:xfrm>
          <a:prstGeom prst="rect">
            <a:avLst/>
          </a:prstGeom>
          <a:noFill/>
          <a:ln/>
        </p:spPr>
        <p:txBody>
          <a:bodyPr wrap="square" lIns="0" tIns="0" rIns="0" bIns="0" rtlCol="0" anchor="ctr"/>
          <a:lstStyle/>
          <a:p>
            <a:pPr indent="0" marL="0">
              <a:buNone/>
            </a:pPr>
            <a:r>
              <a:rPr lang="en-US" sz="950" b="1" spc="120" kern="0" dirty="0">
                <a:solidFill>
                  <a:srgbClr val="C8861E"/>
                </a:solidFill>
                <a:latin typeface="Calibri" pitchFamily="34" charset="0"/>
                <a:ea typeface="Calibri" pitchFamily="34" charset="-122"/>
                <a:cs typeface="Calibri" pitchFamily="34" charset="-120"/>
              </a:rPr>
              <a:t>MODELO DE PRECIO</a:t>
            </a:r>
            <a:endParaRPr lang="en-US" sz="950" dirty="0"/>
          </a:p>
        </p:txBody>
      </p:sp>
      <p:sp>
        <p:nvSpPr>
          <p:cNvPr id="17" name="Text 15"/>
          <p:cNvSpPr txBox="1"/>
          <p:nvPr/>
        </p:nvSpPr>
        <p:spPr>
          <a:xfrm>
            <a:off x="6658204" y="2084832"/>
            <a:ext cx="4719676" cy="420624"/>
          </a:xfrm>
          <a:prstGeom prst="rect">
            <a:avLst/>
          </a:prstGeom>
          <a:noFill/>
          <a:ln/>
        </p:spPr>
        <p:txBody>
          <a:bodyPr wrap="square" lIns="0" tIns="0" rIns="0" bIns="0" rtlCol="0" anchor="ctr"/>
          <a:lstStyle/>
          <a:p>
            <a:pPr indent="0" marL="0">
              <a:buNone/>
            </a:pPr>
            <a:r>
              <a:rPr lang="en-US" sz="2400" b="1" dirty="0">
                <a:solidFill>
                  <a:srgbClr val="10394A"/>
                </a:solidFill>
                <a:latin typeface="Cambria" pitchFamily="34" charset="0"/>
                <a:ea typeface="Cambria" pitchFamily="34" charset="-122"/>
                <a:cs typeface="Cambria" pitchFamily="34" charset="-120"/>
              </a:rPr>
              <a:t>ENTSO-E</a:t>
            </a:r>
            <a:endParaRPr lang="en-US" sz="2400" dirty="0"/>
          </a:p>
        </p:txBody>
      </p:sp>
      <p:sp>
        <p:nvSpPr>
          <p:cNvPr id="18" name="Text 16"/>
          <p:cNvSpPr txBox="1"/>
          <p:nvPr/>
        </p:nvSpPr>
        <p:spPr>
          <a:xfrm>
            <a:off x="6658204" y="2542032"/>
            <a:ext cx="4719676" cy="274320"/>
          </a:xfrm>
          <a:prstGeom prst="rect">
            <a:avLst/>
          </a:prstGeom>
          <a:noFill/>
          <a:ln/>
        </p:spPr>
        <p:txBody>
          <a:bodyPr wrap="square" lIns="0" tIns="0" rIns="0" bIns="0" rtlCol="0" anchor="ctr"/>
          <a:lstStyle/>
          <a:p>
            <a:pPr indent="0" marL="0">
              <a:buNone/>
            </a:pPr>
            <a:r>
              <a:rPr lang="en-US" sz="1150" i="1" dirty="0">
                <a:solidFill>
                  <a:srgbClr val="5F6B72"/>
                </a:solidFill>
                <a:latin typeface="Calibri" pitchFamily="34" charset="0"/>
                <a:ea typeface="Calibri" pitchFamily="34" charset="-122"/>
                <a:cs typeface="Calibri" pitchFamily="34" charset="-120"/>
              </a:rPr>
              <a:t>Casaciones del mercado diario español, hora a hora</a:t>
            </a:r>
            <a:endParaRPr lang="en-US" sz="1150" dirty="0"/>
          </a:p>
        </p:txBody>
      </p:sp>
      <p:sp>
        <p:nvSpPr>
          <p:cNvPr id="19" name="Shape 17"/>
          <p:cNvSpPr/>
          <p:nvPr/>
        </p:nvSpPr>
        <p:spPr>
          <a:xfrm>
            <a:off x="6658204" y="2926080"/>
            <a:ext cx="4719676" cy="0"/>
          </a:xfrm>
          <a:prstGeom prst="line">
            <a:avLst/>
          </a:prstGeom>
          <a:noFill/>
          <a:ln w="9525">
            <a:solidFill>
              <a:srgbClr val="DDE3E6"/>
            </a:solidFill>
            <a:prstDash val="solid"/>
          </a:ln>
        </p:spPr>
      </p:sp>
      <p:sp>
        <p:nvSpPr>
          <p:cNvPr id="20" name="Text 18"/>
          <p:cNvSpPr txBox="1"/>
          <p:nvPr/>
        </p:nvSpPr>
        <p:spPr>
          <a:xfrm>
            <a:off x="6658204" y="3072384"/>
            <a:ext cx="1051560" cy="256032"/>
          </a:xfrm>
          <a:prstGeom prst="rect">
            <a:avLst/>
          </a:prstGeom>
          <a:noFill/>
          <a:ln/>
        </p:spPr>
        <p:txBody>
          <a:bodyPr wrap="square" lIns="0" tIns="0" rIns="0" bIns="0" rtlCol="0" anchor="t"/>
          <a:lstStyle/>
          <a:p>
            <a:pPr indent="0" marL="0">
              <a:buNone/>
            </a:pPr>
            <a:r>
              <a:rPr lang="en-US" sz="1100" b="1" dirty="0">
                <a:solidFill>
                  <a:srgbClr val="10394A"/>
                </a:solidFill>
                <a:latin typeface="Calibri" pitchFamily="34" charset="0"/>
                <a:ea typeface="Calibri" pitchFamily="34" charset="-122"/>
                <a:cs typeface="Calibri" pitchFamily="34" charset="-120"/>
              </a:rPr>
              <a:t>Para qué</a:t>
            </a:r>
            <a:endParaRPr lang="en-US" sz="1100" dirty="0"/>
          </a:p>
        </p:txBody>
      </p:sp>
      <p:sp>
        <p:nvSpPr>
          <p:cNvPr id="21" name="Text 19"/>
          <p:cNvSpPr txBox="1"/>
          <p:nvPr/>
        </p:nvSpPr>
        <p:spPr>
          <a:xfrm>
            <a:off x="7755484" y="3072384"/>
            <a:ext cx="3622396" cy="603504"/>
          </a:xfrm>
          <a:prstGeom prst="rect">
            <a:avLst/>
          </a:prstGeom>
          <a:noFill/>
          <a:ln/>
        </p:spPr>
        <p:txBody>
          <a:bodyPr wrap="square" lIns="0" tIns="0" rIns="0" bIns="0" rtlCol="0" anchor="t"/>
          <a:lstStyle/>
          <a:p>
            <a:pPr indent="0" marL="0">
              <a:lnSpc>
                <a:spcPct val="112000"/>
              </a:lnSpc>
              <a:buNone/>
            </a:pPr>
            <a:r>
              <a:rPr lang="en-US" sz="1200" dirty="0">
                <a:solidFill>
                  <a:srgbClr val="1C1C1C"/>
                </a:solidFill>
                <a:latin typeface="Calibri" pitchFamily="34" charset="0"/>
                <a:ea typeface="Calibri" pitchFamily="34" charset="-122"/>
                <a:cs typeface="Calibri" pitchFamily="34" charset="-120"/>
              </a:rPr>
              <a:t>Entrenar la red que predice el precio de las próximas 24 h</a:t>
            </a:r>
            <a:endParaRPr lang="en-US" sz="1200" dirty="0"/>
          </a:p>
        </p:txBody>
      </p:sp>
      <p:sp>
        <p:nvSpPr>
          <p:cNvPr id="22" name="Text 20"/>
          <p:cNvSpPr txBox="1"/>
          <p:nvPr/>
        </p:nvSpPr>
        <p:spPr>
          <a:xfrm>
            <a:off x="6658204" y="3749040"/>
            <a:ext cx="1051560" cy="256032"/>
          </a:xfrm>
          <a:prstGeom prst="rect">
            <a:avLst/>
          </a:prstGeom>
          <a:noFill/>
          <a:ln/>
        </p:spPr>
        <p:txBody>
          <a:bodyPr wrap="square" lIns="0" tIns="0" rIns="0" bIns="0" rtlCol="0" anchor="t"/>
          <a:lstStyle/>
          <a:p>
            <a:pPr indent="0" marL="0">
              <a:buNone/>
            </a:pPr>
            <a:r>
              <a:rPr lang="en-US" sz="1100" b="1" dirty="0">
                <a:solidFill>
                  <a:srgbClr val="10394A"/>
                </a:solidFill>
                <a:latin typeface="Calibri" pitchFamily="34" charset="0"/>
                <a:ea typeface="Calibri" pitchFamily="34" charset="-122"/>
                <a:cs typeface="Calibri" pitchFamily="34" charset="-120"/>
              </a:rPr>
              <a:t>Qué aporta</a:t>
            </a:r>
            <a:endParaRPr lang="en-US" sz="1100" dirty="0"/>
          </a:p>
        </p:txBody>
      </p:sp>
      <p:sp>
        <p:nvSpPr>
          <p:cNvPr id="23" name="Text 21"/>
          <p:cNvSpPr txBox="1"/>
          <p:nvPr/>
        </p:nvSpPr>
        <p:spPr>
          <a:xfrm>
            <a:off x="7755484" y="3749040"/>
            <a:ext cx="3622396" cy="603504"/>
          </a:xfrm>
          <a:prstGeom prst="rect">
            <a:avLst/>
          </a:prstGeom>
          <a:noFill/>
          <a:ln/>
        </p:spPr>
        <p:txBody>
          <a:bodyPr wrap="square" lIns="0" tIns="0" rIns="0" bIns="0" rtlCol="0" anchor="t"/>
          <a:lstStyle/>
          <a:p>
            <a:pPr indent="0" marL="0">
              <a:lnSpc>
                <a:spcPct val="112000"/>
              </a:lnSpc>
              <a:buNone/>
            </a:pPr>
            <a:r>
              <a:rPr lang="en-US" sz="1200" dirty="0">
                <a:solidFill>
                  <a:srgbClr val="1C1C1C"/>
                </a:solidFill>
                <a:latin typeface="Calibri" pitchFamily="34" charset="0"/>
                <a:ea typeface="Calibri" pitchFamily="34" charset="-122"/>
                <a:cs typeface="Calibri" pitchFamily="34" charset="-120"/>
              </a:rPr>
              <a:t>El histórico y el contexto que explica su deriva, como la capacidad fotovoltaica instalada en España</a:t>
            </a:r>
            <a:endParaRPr lang="en-US" sz="1200" dirty="0"/>
          </a:p>
        </p:txBody>
      </p:sp>
      <p:sp>
        <p:nvSpPr>
          <p:cNvPr id="24" name="Text 22"/>
          <p:cNvSpPr txBox="1"/>
          <p:nvPr/>
        </p:nvSpPr>
        <p:spPr>
          <a:xfrm>
            <a:off x="6658204" y="4425696"/>
            <a:ext cx="1051560" cy="256032"/>
          </a:xfrm>
          <a:prstGeom prst="rect">
            <a:avLst/>
          </a:prstGeom>
          <a:noFill/>
          <a:ln/>
        </p:spPr>
        <p:txBody>
          <a:bodyPr wrap="square" lIns="0" tIns="0" rIns="0" bIns="0" rtlCol="0" anchor="t"/>
          <a:lstStyle/>
          <a:p>
            <a:pPr indent="0" marL="0">
              <a:buNone/>
            </a:pPr>
            <a:r>
              <a:rPr lang="en-US" sz="1100" b="1" dirty="0">
                <a:solidFill>
                  <a:srgbClr val="10394A"/>
                </a:solidFill>
                <a:latin typeface="Calibri" pitchFamily="34" charset="0"/>
                <a:ea typeface="Calibri" pitchFamily="34" charset="-122"/>
                <a:cs typeface="Calibri" pitchFamily="34" charset="-120"/>
              </a:rPr>
              <a:t>Un detalle</a:t>
            </a:r>
            <a:endParaRPr lang="en-US" sz="1100" dirty="0"/>
          </a:p>
        </p:txBody>
      </p:sp>
      <p:sp>
        <p:nvSpPr>
          <p:cNvPr id="25" name="Text 23"/>
          <p:cNvSpPr txBox="1"/>
          <p:nvPr/>
        </p:nvSpPr>
        <p:spPr>
          <a:xfrm>
            <a:off x="7755484" y="4425696"/>
            <a:ext cx="3622396" cy="603504"/>
          </a:xfrm>
          <a:prstGeom prst="rect">
            <a:avLst/>
          </a:prstGeom>
          <a:noFill/>
          <a:ln/>
        </p:spPr>
        <p:txBody>
          <a:bodyPr wrap="square" lIns="0" tIns="0" rIns="0" bIns="0" rtlCol="0" anchor="t"/>
          <a:lstStyle/>
          <a:p>
            <a:pPr indent="0" marL="0">
              <a:lnSpc>
                <a:spcPct val="112000"/>
              </a:lnSpc>
              <a:buNone/>
            </a:pPr>
            <a:r>
              <a:rPr lang="en-US" sz="1200" dirty="0">
                <a:solidFill>
                  <a:srgbClr val="1C1C1C"/>
                </a:solidFill>
                <a:latin typeface="Calibri" pitchFamily="34" charset="0"/>
                <a:ea typeface="Calibri" pitchFamily="34" charset="-122"/>
                <a:cs typeface="Calibri" pitchFamily="34" charset="-120"/>
              </a:rPr>
              <a:t>Entran el precio de hace 24 h y el de hace una semana: los dos ciclos del mercado</a:t>
            </a:r>
            <a:endParaRPr lang="en-US" sz="1200" dirty="0"/>
          </a:p>
        </p:txBody>
      </p:sp>
      <p:sp>
        <p:nvSpPr>
          <p:cNvPr id="26" name="Shape 24"/>
          <p:cNvSpPr/>
          <p:nvPr/>
        </p:nvSpPr>
        <p:spPr>
          <a:xfrm>
            <a:off x="502920" y="5349240"/>
            <a:ext cx="11185855" cy="566928"/>
          </a:xfrm>
          <a:prstGeom prst="roundRect">
            <a:avLst>
              <a:gd name="adj" fmla="val 9677"/>
            </a:avLst>
          </a:prstGeom>
          <a:solidFill>
            <a:srgbClr val="10394A"/>
          </a:solidFill>
          <a:ln/>
        </p:spPr>
      </p:sp>
      <p:sp>
        <p:nvSpPr>
          <p:cNvPr id="27" name="Text 25"/>
          <p:cNvSpPr txBox="1"/>
          <p:nvPr/>
        </p:nvSpPr>
        <p:spPr>
          <a:xfrm>
            <a:off x="777240" y="5367528"/>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El reparto entre entrenamiento y prueba es temporal, nunca aleatorio: mezclar horas le regalaría al modelo información del futuro.</a:t>
            </a:r>
            <a:endParaRPr lang="en-US" sz="1350" dirty="0"/>
          </a:p>
        </p:txBody>
      </p:sp>
      <p:sp>
        <p:nvSpPr>
          <p:cNvPr id="28" name="Text 26"/>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MODELOS LSTM  ·  3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Dos redes con la misma arquitectura y parada temprana por validación</a:t>
            </a:r>
            <a:endParaRPr lang="en-US" sz="2600" dirty="0"/>
          </a:p>
        </p:txBody>
      </p:sp>
      <p:pic>
        <p:nvPicPr>
          <p:cNvPr id="4" name="Image 0" descr="img/TrainingSol_rmse.png">    </p:cNvPr>
          <p:cNvPicPr>
            <a:picLocks noChangeAspect="1"/>
          </p:cNvPicPr>
          <p:nvPr/>
        </p:nvPicPr>
        <p:blipFill>
          <a:blip r:embed="rId1"/>
          <a:stretch>
            <a:fillRect/>
          </a:stretch>
        </p:blipFill>
        <p:spPr>
          <a:xfrm>
            <a:off x="502920" y="1536192"/>
            <a:ext cx="5364328" cy="2309040"/>
          </a:xfrm>
          <a:prstGeom prst="rect">
            <a:avLst/>
          </a:prstGeom>
        </p:spPr>
      </p:pic>
      <p:pic>
        <p:nvPicPr>
          <p:cNvPr id="5" name="Image 1" descr="img/TrainingPrecio_rmse.png">    </p:cNvPr>
          <p:cNvPicPr>
            <a:picLocks noChangeAspect="1"/>
          </p:cNvPicPr>
          <p:nvPr/>
        </p:nvPicPr>
        <p:blipFill>
          <a:blip r:embed="rId2"/>
          <a:stretch>
            <a:fillRect/>
          </a:stretch>
        </p:blipFill>
        <p:spPr>
          <a:xfrm>
            <a:off x="6324448" y="1536192"/>
            <a:ext cx="5364328" cy="2309040"/>
          </a:xfrm>
          <a:prstGeom prst="rect">
            <a:avLst/>
          </a:prstGeom>
        </p:spPr>
      </p:pic>
      <p:sp>
        <p:nvSpPr>
          <p:cNvPr id="6" name="Text 2"/>
          <p:cNvSpPr txBox="1"/>
          <p:nvPr/>
        </p:nvSpPr>
        <p:spPr>
          <a:xfrm>
            <a:off x="502920" y="3954960"/>
            <a:ext cx="5364328" cy="274320"/>
          </a:xfrm>
          <a:prstGeom prst="rect">
            <a:avLst/>
          </a:prstGeom>
          <a:noFill/>
          <a:ln/>
        </p:spPr>
        <p:txBody>
          <a:bodyPr wrap="square" lIns="0" tIns="0" rIns="0" bIns="0" rtlCol="0" anchor="ctr"/>
          <a:lstStyle/>
          <a:p>
            <a:pPr algn="ctr" indent="0" marL="0">
              <a:buNone/>
            </a:pPr>
            <a:r>
              <a:rPr lang="en-US" sz="1050" i="1" dirty="0">
                <a:solidFill>
                  <a:srgbClr val="5F6B72"/>
                </a:solidFill>
                <a:latin typeface="Calibri" pitchFamily="34" charset="0"/>
                <a:ea typeface="Calibri" pitchFamily="34" charset="-122"/>
                <a:cs typeface="Calibri" pitchFamily="34" charset="-120"/>
              </a:rPr>
              <a:t>Modelo solar · RMSE de validación 0,278 — parada en la época 21 de 300</a:t>
            </a:r>
            <a:endParaRPr lang="en-US" sz="1050" dirty="0"/>
          </a:p>
        </p:txBody>
      </p:sp>
      <p:sp>
        <p:nvSpPr>
          <p:cNvPr id="7" name="Text 3"/>
          <p:cNvSpPr txBox="1"/>
          <p:nvPr/>
        </p:nvSpPr>
        <p:spPr>
          <a:xfrm>
            <a:off x="6324448" y="3954960"/>
            <a:ext cx="5364328" cy="274320"/>
          </a:xfrm>
          <a:prstGeom prst="rect">
            <a:avLst/>
          </a:prstGeom>
          <a:noFill/>
          <a:ln/>
        </p:spPr>
        <p:txBody>
          <a:bodyPr wrap="square" lIns="0" tIns="0" rIns="0" bIns="0" rtlCol="0" anchor="ctr"/>
          <a:lstStyle/>
          <a:p>
            <a:pPr algn="ctr" indent="0" marL="0">
              <a:buNone/>
            </a:pPr>
            <a:r>
              <a:rPr lang="en-US" sz="1050" i="1" dirty="0">
                <a:solidFill>
                  <a:srgbClr val="5F6B72"/>
                </a:solidFill>
                <a:latin typeface="Calibri" pitchFamily="34" charset="0"/>
                <a:ea typeface="Calibri" pitchFamily="34" charset="-122"/>
                <a:cs typeface="Calibri" pitchFamily="34" charset="-120"/>
              </a:rPr>
              <a:t>Modelo de precio · RMSE de validación 0,833 — parada en la época 29 de 200</a:t>
            </a:r>
            <a:endParaRPr lang="en-US" sz="1050" dirty="0"/>
          </a:p>
        </p:txBody>
      </p:sp>
      <p:sp>
        <p:nvSpPr>
          <p:cNvPr id="8" name="Text 4"/>
          <p:cNvSpPr txBox="1"/>
          <p:nvPr/>
        </p:nvSpPr>
        <p:spPr>
          <a:xfrm>
            <a:off x="502920" y="4617720"/>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Dos capas LSTM apiladas (128 y 64 unidades) con dropout, capa densa y salida de 24 valores</a:t>
            </a:r>
            <a:endParaRPr lang="en-US" sz="1250" dirty="0"/>
          </a:p>
        </p:txBody>
      </p:sp>
      <p:sp>
        <p:nvSpPr>
          <p:cNvPr id="9" name="Text 5"/>
          <p:cNvSpPr txBox="1"/>
          <p:nvPr/>
        </p:nvSpPr>
        <p:spPr>
          <a:xfrm>
            <a:off x="502920" y="4910328"/>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Adam con descenso de tasa de aprendizaje · parada temprana por pérdida de validación</a:t>
            </a:r>
            <a:endParaRPr lang="en-US" sz="1250" dirty="0"/>
          </a:p>
        </p:txBody>
      </p:sp>
      <p:sp>
        <p:nvSpPr>
          <p:cNvPr id="10" name="Text 6"/>
          <p:cNvSpPr txBox="1"/>
          <p:nvPr/>
        </p:nvSpPr>
        <p:spPr>
          <a:xfrm>
            <a:off x="502920" y="5202936"/>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El modelo solar acota la salida a valores no negativos; el de precio no puede, porque el precio admite negativos</a:t>
            </a:r>
            <a:endParaRPr lang="en-US" sz="1250" dirty="0"/>
          </a:p>
        </p:txBody>
      </p:sp>
      <p:sp>
        <p:nvSpPr>
          <p:cNvPr id="11" name="Text 7"/>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MODELOS LSTM  ·  3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El problema: ninguna de las dos redes bate sola a su línea base</a:t>
            </a:r>
            <a:endParaRPr lang="en-US" sz="2600" dirty="0"/>
          </a:p>
        </p:txBody>
      </p:sp>
      <p:pic>
        <p:nvPicPr>
          <p:cNvPr id="4" name="Image 0" descr="img/lstm_solar_PrediccionSolarEnLosDiasDeLaCampana.png">    </p:cNvPr>
          <p:cNvPicPr>
            <a:picLocks noChangeAspect="1"/>
          </p:cNvPicPr>
          <p:nvPr/>
        </p:nvPicPr>
        <p:blipFill>
          <a:blip r:embed="rId1"/>
          <a:stretch>
            <a:fillRect/>
          </a:stretch>
        </p:blipFill>
        <p:spPr>
          <a:xfrm>
            <a:off x="1852363" y="1536192"/>
            <a:ext cx="2665441" cy="2468880"/>
          </a:xfrm>
          <a:prstGeom prst="rect">
            <a:avLst/>
          </a:prstGeom>
        </p:spPr>
      </p:pic>
      <p:pic>
        <p:nvPicPr>
          <p:cNvPr id="5" name="Image 1" descr="img/lstm_precio_MAEPorHorizon.png">    </p:cNvPr>
          <p:cNvPicPr>
            <a:picLocks noChangeAspect="1"/>
          </p:cNvPicPr>
          <p:nvPr/>
        </p:nvPicPr>
        <p:blipFill>
          <a:blip r:embed="rId2"/>
          <a:stretch>
            <a:fillRect/>
          </a:stretch>
        </p:blipFill>
        <p:spPr>
          <a:xfrm>
            <a:off x="6324448" y="1536192"/>
            <a:ext cx="5364328" cy="2156568"/>
          </a:xfrm>
          <a:prstGeom prst="rect">
            <a:avLst/>
          </a:prstGeom>
        </p:spPr>
      </p:pic>
      <p:sp>
        <p:nvSpPr>
          <p:cNvPr id="6" name="Text 2"/>
          <p:cNvSpPr txBox="1"/>
          <p:nvPr/>
        </p:nvSpPr>
        <p:spPr>
          <a:xfrm>
            <a:off x="502920" y="4096512"/>
            <a:ext cx="5364328" cy="274320"/>
          </a:xfrm>
          <a:prstGeom prst="rect">
            <a:avLst/>
          </a:prstGeom>
          <a:noFill/>
          <a:ln/>
        </p:spPr>
        <p:txBody>
          <a:bodyPr wrap="square" lIns="0" tIns="0" rIns="0" bIns="0" rtlCol="0" anchor="ctr"/>
          <a:lstStyle/>
          <a:p>
            <a:pPr algn="ctr" indent="0" marL="0">
              <a:buNone/>
            </a:pPr>
            <a:r>
              <a:rPr lang="en-US" sz="1050" i="1" dirty="0">
                <a:solidFill>
                  <a:srgbClr val="5F6B72"/>
                </a:solidFill>
                <a:latin typeface="Calibri" pitchFamily="34" charset="0"/>
                <a:ea typeface="Calibri" pitchFamily="34" charset="-122"/>
                <a:cs typeface="Calibri" pitchFamily="34" charset="-120"/>
              </a:rPr>
              <a:t>Red solar frente al valor real en los cuatro días de campaña</a:t>
            </a:r>
            <a:endParaRPr lang="en-US" sz="1050" dirty="0"/>
          </a:p>
        </p:txBody>
      </p:sp>
      <p:sp>
        <p:nvSpPr>
          <p:cNvPr id="7" name="Text 3"/>
          <p:cNvSpPr txBox="1"/>
          <p:nvPr/>
        </p:nvSpPr>
        <p:spPr>
          <a:xfrm>
            <a:off x="6324448" y="4096512"/>
            <a:ext cx="5364328" cy="274320"/>
          </a:xfrm>
          <a:prstGeom prst="rect">
            <a:avLst/>
          </a:prstGeom>
          <a:noFill/>
          <a:ln/>
        </p:spPr>
        <p:txBody>
          <a:bodyPr wrap="square" lIns="0" tIns="0" rIns="0" bIns="0" rtlCol="0" anchor="ctr"/>
          <a:lstStyle/>
          <a:p>
            <a:pPr algn="ctr" indent="0" marL="0">
              <a:buNone/>
            </a:pPr>
            <a:r>
              <a:rPr lang="en-US" sz="1050" i="1" dirty="0">
                <a:solidFill>
                  <a:srgbClr val="5F6B72"/>
                </a:solidFill>
                <a:latin typeface="Calibri" pitchFamily="34" charset="0"/>
                <a:ea typeface="Calibri" pitchFamily="34" charset="-122"/>
                <a:cs typeface="Calibri" pitchFamily="34" charset="-120"/>
              </a:rPr>
              <a:t>Error del modelo de precio por horizonte, frente a las dos persistencias</a:t>
            </a:r>
            <a:endParaRPr lang="en-US" sz="1050" dirty="0"/>
          </a:p>
        </p:txBody>
      </p:sp>
      <p:sp>
        <p:nvSpPr>
          <p:cNvPr id="8" name="Text 4"/>
          <p:cNvSpPr txBox="1"/>
          <p:nvPr/>
        </p:nvSpPr>
        <p:spPr>
          <a:xfrm>
            <a:off x="502920" y="4553712"/>
            <a:ext cx="5364328" cy="566928"/>
          </a:xfrm>
          <a:prstGeom prst="rect">
            <a:avLst/>
          </a:prstGeom>
          <a:noFill/>
          <a:ln/>
        </p:spPr>
        <p:txBody>
          <a:bodyPr wrap="square" lIns="0" tIns="0" rIns="0" bIns="0" rtlCol="0" anchor="ctr"/>
          <a:lstStyle/>
          <a:p>
            <a:pPr indent="0" marL="0">
              <a:buNone/>
            </a:pPr>
            <a:r>
              <a:rPr lang="en-US" sz="3000" b="1" dirty="0">
                <a:solidFill>
                  <a:srgbClr val="C8861E"/>
                </a:solidFill>
                <a:latin typeface="Cambria" pitchFamily="34" charset="0"/>
                <a:ea typeface="Cambria" pitchFamily="34" charset="-122"/>
                <a:cs typeface="Cambria" pitchFamily="34" charset="-120"/>
              </a:rPr>
              <a:t>− 8,8 %</a:t>
            </a:r>
            <a:endParaRPr lang="en-US" sz="3000" dirty="0"/>
          </a:p>
        </p:txBody>
      </p:sp>
      <p:sp>
        <p:nvSpPr>
          <p:cNvPr id="9" name="Text 5"/>
          <p:cNvSpPr txBox="1"/>
          <p:nvPr/>
        </p:nvSpPr>
        <p:spPr>
          <a:xfrm>
            <a:off x="502920" y="5102352"/>
            <a:ext cx="5364328"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la red solar frente a la persistencia de cielo claro, en el agregado de 24 h</a:t>
            </a:r>
            <a:endParaRPr lang="en-US" sz="1200" dirty="0"/>
          </a:p>
        </p:txBody>
      </p:sp>
      <p:sp>
        <p:nvSpPr>
          <p:cNvPr id="10" name="Text 6"/>
          <p:cNvSpPr txBox="1"/>
          <p:nvPr/>
        </p:nvSpPr>
        <p:spPr>
          <a:xfrm>
            <a:off x="6324448" y="4553712"/>
            <a:ext cx="5364328" cy="566928"/>
          </a:xfrm>
          <a:prstGeom prst="rect">
            <a:avLst/>
          </a:prstGeom>
          <a:noFill/>
          <a:ln/>
        </p:spPr>
        <p:txBody>
          <a:bodyPr wrap="square" lIns="0" tIns="0" rIns="0" bIns="0" rtlCol="0" anchor="ctr"/>
          <a:lstStyle/>
          <a:p>
            <a:pPr indent="0" marL="0">
              <a:buNone/>
            </a:pPr>
            <a:r>
              <a:rPr lang="en-US" sz="3000" b="1" dirty="0">
                <a:solidFill>
                  <a:srgbClr val="C8861E"/>
                </a:solidFill>
                <a:latin typeface="Cambria" pitchFamily="34" charset="0"/>
                <a:ea typeface="Cambria" pitchFamily="34" charset="-122"/>
                <a:cs typeface="Cambria" pitchFamily="34" charset="-120"/>
              </a:rPr>
              <a:t>− 7,1 %</a:t>
            </a:r>
            <a:endParaRPr lang="en-US" sz="3000" dirty="0"/>
          </a:p>
        </p:txBody>
      </p:sp>
      <p:sp>
        <p:nvSpPr>
          <p:cNvPr id="11" name="Text 7"/>
          <p:cNvSpPr txBox="1"/>
          <p:nvPr/>
        </p:nvSpPr>
        <p:spPr>
          <a:xfrm>
            <a:off x="6324448" y="5102352"/>
            <a:ext cx="5364328"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la red de precio frente a la persistencia de 24 horas</a:t>
            </a:r>
            <a:endParaRPr lang="en-US" sz="1200" dirty="0"/>
          </a:p>
        </p:txBody>
      </p:sp>
      <p:sp>
        <p:nvSpPr>
          <p:cNvPr id="12" name="Shape 8"/>
          <p:cNvSpPr/>
          <p:nvPr/>
        </p:nvSpPr>
        <p:spPr>
          <a:xfrm>
            <a:off x="502920" y="5623560"/>
            <a:ext cx="11185855" cy="566928"/>
          </a:xfrm>
          <a:prstGeom prst="roundRect">
            <a:avLst>
              <a:gd name="adj" fmla="val 9677"/>
            </a:avLst>
          </a:prstGeom>
          <a:solidFill>
            <a:srgbClr val="10394A"/>
          </a:solidFill>
          <a:ln/>
        </p:spPr>
      </p:sp>
      <p:sp>
        <p:nvSpPr>
          <p:cNvPr id="13" name="Text 9"/>
          <p:cNvSpPr txBox="1"/>
          <p:nvPr/>
        </p:nvSpPr>
        <p:spPr>
          <a:xfrm>
            <a:off x="777240" y="5641848"/>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Las líneas base no son rivales fáciles: en estas dos series el día de hoy se parece muchísimo al de ayer. La red solo puede ganarles donde algo cambia.</a:t>
            </a:r>
            <a:endParaRPr lang="en-US" sz="1350" dirty="0"/>
          </a:p>
        </p:txBody>
      </p:sp>
      <p:sp>
        <p:nvSpPr>
          <p:cNvPr id="14" name="Text 10"/>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MODELOS LSTM  ·  3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La solución: proyección física y ponderación con el naive</a:t>
            </a:r>
            <a:endParaRPr lang="en-US" sz="2600" dirty="0"/>
          </a:p>
        </p:txBody>
      </p:sp>
      <p:sp>
        <p:nvSpPr>
          <p:cNvPr id="4" name="Shape 2"/>
          <p:cNvSpPr/>
          <p:nvPr/>
        </p:nvSpPr>
        <p:spPr>
          <a:xfrm>
            <a:off x="502920" y="1536192"/>
            <a:ext cx="384048" cy="384048"/>
          </a:xfrm>
          <a:prstGeom prst="ellipse">
            <a:avLst/>
          </a:prstGeom>
          <a:solidFill>
            <a:srgbClr val="C8861E"/>
          </a:solidFill>
          <a:ln/>
        </p:spPr>
      </p:sp>
      <p:sp>
        <p:nvSpPr>
          <p:cNvPr id="5" name="Text 3"/>
          <p:cNvSpPr txBox="1"/>
          <p:nvPr/>
        </p:nvSpPr>
        <p:spPr>
          <a:xfrm>
            <a:off x="502920" y="1536192"/>
            <a:ext cx="384048" cy="384048"/>
          </a:xfrm>
          <a:prstGeom prst="rect">
            <a:avLst/>
          </a:prstGeom>
          <a:noFill/>
          <a:ln/>
        </p:spPr>
        <p:txBody>
          <a:bodyPr wrap="square" lIns="0" tIns="0" rIns="0" bIns="0" rtlCol="0" anchor="ctr"/>
          <a:lstStyle/>
          <a:p>
            <a:pPr algn="ctr" indent="0" marL="0">
              <a:buNone/>
            </a:pPr>
            <a:r>
              <a:rPr lang="en-US" sz="1400" b="1" dirty="0">
                <a:solidFill>
                  <a:srgbClr val="10394A"/>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502920" y="2048256"/>
            <a:ext cx="3515258" cy="402336"/>
          </a:xfrm>
          <a:prstGeom prst="rect">
            <a:avLst/>
          </a:prstGeom>
          <a:noFill/>
          <a:ln/>
        </p:spPr>
        <p:txBody>
          <a:bodyPr wrap="square" lIns="0" tIns="0" rIns="0" bIns="0" rtlCol="0" anchor="t"/>
          <a:lstStyle/>
          <a:p>
            <a:pPr indent="0" marL="0">
              <a:buNone/>
            </a:pPr>
            <a:r>
              <a:rPr lang="en-US" sz="1700" b="1" dirty="0">
                <a:solidFill>
                  <a:srgbClr val="10394A"/>
                </a:solidFill>
                <a:latin typeface="Cambria" pitchFamily="34" charset="0"/>
                <a:ea typeface="Cambria" pitchFamily="34" charset="-122"/>
                <a:cs typeface="Cambria" pitchFamily="34" charset="-120"/>
              </a:rPr>
              <a:t>Proyección sobre la envolvente</a:t>
            </a:r>
            <a:endParaRPr lang="en-US" sz="1700" dirty="0"/>
          </a:p>
        </p:txBody>
      </p:sp>
      <p:sp>
        <p:nvSpPr>
          <p:cNvPr id="7" name="Text 5"/>
          <p:cNvSpPr txBox="1"/>
          <p:nvPr/>
        </p:nvSpPr>
        <p:spPr>
          <a:xfrm>
            <a:off x="502920" y="2505456"/>
            <a:ext cx="3515258" cy="1371600"/>
          </a:xfrm>
          <a:prstGeom prst="rect">
            <a:avLst/>
          </a:prstGeom>
          <a:noFill/>
          <a:ln/>
        </p:spPr>
        <p:txBody>
          <a:bodyPr wrap="square" lIns="0" tIns="0" rIns="0" bIns="0" rtlCol="0" anchor="t"/>
          <a:lstStyle/>
          <a:p>
            <a:pPr indent="0" marL="0">
              <a:lnSpc>
                <a:spcPct val="115000"/>
              </a:lnSpc>
              <a:buNone/>
            </a:pPr>
            <a:r>
              <a:rPr lang="en-US" sz="1300" dirty="0">
                <a:solidFill>
                  <a:srgbClr val="1C1C1C"/>
                </a:solidFill>
                <a:latin typeface="Calibri" pitchFamily="34" charset="0"/>
                <a:ea typeface="Calibri" pitchFamily="34" charset="-122"/>
                <a:cs typeface="Calibri" pitchFamily="34" charset="-120"/>
              </a:rPr>
              <a:t>La predicción se acota a la curva de cielo claro: el error medio diurno baja de 59,4 a 56,0 Wh/m²</a:t>
            </a:r>
            <a:endParaRPr lang="en-US" sz="1300" dirty="0"/>
          </a:p>
        </p:txBody>
      </p:sp>
      <p:sp>
        <p:nvSpPr>
          <p:cNvPr id="8" name="Shape 6"/>
          <p:cNvSpPr/>
          <p:nvPr/>
        </p:nvSpPr>
        <p:spPr>
          <a:xfrm>
            <a:off x="4338218" y="1536192"/>
            <a:ext cx="384048" cy="384048"/>
          </a:xfrm>
          <a:prstGeom prst="ellipse">
            <a:avLst/>
          </a:prstGeom>
          <a:solidFill>
            <a:srgbClr val="C8861E"/>
          </a:solidFill>
          <a:ln/>
        </p:spPr>
      </p:sp>
      <p:sp>
        <p:nvSpPr>
          <p:cNvPr id="9" name="Text 7"/>
          <p:cNvSpPr txBox="1"/>
          <p:nvPr/>
        </p:nvSpPr>
        <p:spPr>
          <a:xfrm>
            <a:off x="4338218" y="1536192"/>
            <a:ext cx="384048" cy="384048"/>
          </a:xfrm>
          <a:prstGeom prst="rect">
            <a:avLst/>
          </a:prstGeom>
          <a:noFill/>
          <a:ln/>
        </p:spPr>
        <p:txBody>
          <a:bodyPr wrap="square" lIns="0" tIns="0" rIns="0" bIns="0" rtlCol="0" anchor="ctr"/>
          <a:lstStyle/>
          <a:p>
            <a:pPr algn="ctr" indent="0" marL="0">
              <a:buNone/>
            </a:pPr>
            <a:r>
              <a:rPr lang="en-US" sz="1400" b="1" dirty="0">
                <a:solidFill>
                  <a:srgbClr val="10394A"/>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4338218" y="2048256"/>
            <a:ext cx="3515258" cy="402336"/>
          </a:xfrm>
          <a:prstGeom prst="rect">
            <a:avLst/>
          </a:prstGeom>
          <a:noFill/>
          <a:ln/>
        </p:spPr>
        <p:txBody>
          <a:bodyPr wrap="square" lIns="0" tIns="0" rIns="0" bIns="0" rtlCol="0" anchor="t"/>
          <a:lstStyle/>
          <a:p>
            <a:pPr indent="0" marL="0">
              <a:buNone/>
            </a:pPr>
            <a:r>
              <a:rPr lang="en-US" sz="1700" b="1" dirty="0">
                <a:solidFill>
                  <a:srgbClr val="10394A"/>
                </a:solidFill>
                <a:latin typeface="Cambria" pitchFamily="34" charset="0"/>
                <a:ea typeface="Cambria" pitchFamily="34" charset="-122"/>
                <a:cs typeface="Cambria" pitchFamily="34" charset="-120"/>
              </a:rPr>
              <a:t>Ponderación con la línea base</a:t>
            </a:r>
            <a:endParaRPr lang="en-US" sz="1700" dirty="0"/>
          </a:p>
        </p:txBody>
      </p:sp>
      <p:sp>
        <p:nvSpPr>
          <p:cNvPr id="11" name="Text 9"/>
          <p:cNvSpPr txBox="1"/>
          <p:nvPr/>
        </p:nvSpPr>
        <p:spPr>
          <a:xfrm>
            <a:off x="4338218" y="2505456"/>
            <a:ext cx="3515258" cy="1371600"/>
          </a:xfrm>
          <a:prstGeom prst="rect">
            <a:avLst/>
          </a:prstGeom>
          <a:noFill/>
          <a:ln/>
        </p:spPr>
        <p:txBody>
          <a:bodyPr wrap="square" lIns="0" tIns="0" rIns="0" bIns="0" rtlCol="0" anchor="t"/>
          <a:lstStyle/>
          <a:p>
            <a:pPr indent="0" marL="0">
              <a:lnSpc>
                <a:spcPct val="115000"/>
              </a:lnSpc>
              <a:buNone/>
            </a:pPr>
            <a:r>
              <a:rPr lang="en-US" sz="1300" dirty="0">
                <a:solidFill>
                  <a:srgbClr val="1C1C1C"/>
                </a:solidFill>
                <a:latin typeface="Calibri" pitchFamily="34" charset="0"/>
                <a:ea typeface="Calibri" pitchFamily="34" charset="-122"/>
                <a:cs typeface="Calibri" pitchFamily="34" charset="-120"/>
              </a:rPr>
              <a:t>Combinación convexa red + naive, con pesos por horizonte ajustados en validación, nunca en test</a:t>
            </a:r>
            <a:endParaRPr lang="en-US" sz="1300" dirty="0"/>
          </a:p>
        </p:txBody>
      </p:sp>
      <p:sp>
        <p:nvSpPr>
          <p:cNvPr id="12" name="Shape 10"/>
          <p:cNvSpPr/>
          <p:nvPr/>
        </p:nvSpPr>
        <p:spPr>
          <a:xfrm>
            <a:off x="8173517" y="1536192"/>
            <a:ext cx="384048" cy="384048"/>
          </a:xfrm>
          <a:prstGeom prst="ellipse">
            <a:avLst/>
          </a:prstGeom>
          <a:solidFill>
            <a:srgbClr val="C8861E"/>
          </a:solidFill>
          <a:ln/>
        </p:spPr>
      </p:sp>
      <p:sp>
        <p:nvSpPr>
          <p:cNvPr id="13" name="Text 11"/>
          <p:cNvSpPr txBox="1"/>
          <p:nvPr/>
        </p:nvSpPr>
        <p:spPr>
          <a:xfrm>
            <a:off x="8173517" y="1536192"/>
            <a:ext cx="384048" cy="384048"/>
          </a:xfrm>
          <a:prstGeom prst="rect">
            <a:avLst/>
          </a:prstGeom>
          <a:noFill/>
          <a:ln/>
        </p:spPr>
        <p:txBody>
          <a:bodyPr wrap="square" lIns="0" tIns="0" rIns="0" bIns="0" rtlCol="0" anchor="ctr"/>
          <a:lstStyle/>
          <a:p>
            <a:pPr algn="ctr" indent="0" marL="0">
              <a:buNone/>
            </a:pPr>
            <a:r>
              <a:rPr lang="en-US" sz="1400" b="1" dirty="0">
                <a:solidFill>
                  <a:srgbClr val="10394A"/>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8173517" y="2048256"/>
            <a:ext cx="3515258" cy="402336"/>
          </a:xfrm>
          <a:prstGeom prst="rect">
            <a:avLst/>
          </a:prstGeom>
          <a:noFill/>
          <a:ln/>
        </p:spPr>
        <p:txBody>
          <a:bodyPr wrap="square" lIns="0" tIns="0" rIns="0" bIns="0" rtlCol="0" anchor="t"/>
          <a:lstStyle/>
          <a:p>
            <a:pPr indent="0" marL="0">
              <a:buNone/>
            </a:pPr>
            <a:r>
              <a:rPr lang="en-US" sz="1700" b="1" dirty="0">
                <a:solidFill>
                  <a:srgbClr val="10394A"/>
                </a:solidFill>
                <a:latin typeface="Cambria" pitchFamily="34" charset="0"/>
                <a:ea typeface="Cambria" pitchFamily="34" charset="-122"/>
                <a:cs typeface="Cambria" pitchFamily="34" charset="-120"/>
              </a:rPr>
              <a:t>Corrección del lazo cerrado</a:t>
            </a:r>
            <a:endParaRPr lang="en-US" sz="1700" dirty="0"/>
          </a:p>
        </p:txBody>
      </p:sp>
      <p:sp>
        <p:nvSpPr>
          <p:cNvPr id="15" name="Text 13"/>
          <p:cNvSpPr txBox="1"/>
          <p:nvPr/>
        </p:nvSpPr>
        <p:spPr>
          <a:xfrm>
            <a:off x="8173517" y="2505456"/>
            <a:ext cx="3515258" cy="1371600"/>
          </a:xfrm>
          <a:prstGeom prst="rect">
            <a:avLst/>
          </a:prstGeom>
          <a:noFill/>
          <a:ln/>
        </p:spPr>
        <p:txBody>
          <a:bodyPr wrap="square" lIns="0" tIns="0" rIns="0" bIns="0" rtlCol="0" anchor="t"/>
          <a:lstStyle/>
          <a:p>
            <a:pPr indent="0" marL="0">
              <a:lnSpc>
                <a:spcPct val="115000"/>
              </a:lnSpc>
              <a:buNone/>
            </a:pPr>
            <a:r>
              <a:rPr lang="en-US" sz="1300" dirty="0">
                <a:solidFill>
                  <a:srgbClr val="1C1C1C"/>
                </a:solidFill>
                <a:latin typeface="Calibri" pitchFamily="34" charset="0"/>
                <a:ea typeface="Calibri" pitchFamily="34" charset="-122"/>
                <a:cs typeface="Calibri" pitchFamily="34" charset="-120"/>
              </a:rPr>
              <a:t>El buffer se realimenta con el precio real ya transcurrido, que sigue siendo causal</a:t>
            </a:r>
            <a:endParaRPr lang="en-US" sz="1300" dirty="0"/>
          </a:p>
        </p:txBody>
      </p:sp>
      <p:sp>
        <p:nvSpPr>
          <p:cNvPr id="16" name="Shape 14"/>
          <p:cNvSpPr/>
          <p:nvPr/>
        </p:nvSpPr>
        <p:spPr>
          <a:xfrm>
            <a:off x="502920" y="4114800"/>
            <a:ext cx="11185855" cy="0"/>
          </a:xfrm>
          <a:prstGeom prst="line">
            <a:avLst/>
          </a:prstGeom>
          <a:noFill/>
          <a:ln w="9525">
            <a:solidFill>
              <a:srgbClr val="DDE3E6"/>
            </a:solidFill>
            <a:prstDash val="solid"/>
          </a:ln>
        </p:spPr>
      </p:sp>
      <p:sp>
        <p:nvSpPr>
          <p:cNvPr id="17" name="Text 15"/>
          <p:cNvSpPr txBox="1"/>
          <p:nvPr/>
        </p:nvSpPr>
        <p:spPr>
          <a:xfrm>
            <a:off x="1965960" y="4343400"/>
            <a:ext cx="3657600" cy="731520"/>
          </a:xfrm>
          <a:prstGeom prst="rect">
            <a:avLst/>
          </a:prstGeom>
          <a:noFill/>
          <a:ln/>
        </p:spPr>
        <p:txBody>
          <a:bodyPr wrap="square" lIns="0" tIns="0" rIns="0" bIns="0" rtlCol="0" anchor="ctr"/>
          <a:lstStyle/>
          <a:p>
            <a:pPr algn="ctr" indent="0" marL="0">
              <a:buNone/>
            </a:pPr>
            <a:r>
              <a:rPr lang="en-US" sz="4000" b="1" dirty="0">
                <a:solidFill>
                  <a:srgbClr val="C8861E"/>
                </a:solidFill>
                <a:latin typeface="Cambria" pitchFamily="34" charset="0"/>
                <a:ea typeface="Cambria" pitchFamily="34" charset="-122"/>
                <a:cs typeface="Cambria" pitchFamily="34" charset="-120"/>
              </a:rPr>
              <a:t>+ 5,8 %</a:t>
            </a:r>
            <a:endParaRPr lang="en-US" sz="4000" dirty="0"/>
          </a:p>
        </p:txBody>
      </p:sp>
      <p:sp>
        <p:nvSpPr>
          <p:cNvPr id="18" name="Text 16"/>
          <p:cNvSpPr txBox="1"/>
          <p:nvPr/>
        </p:nvSpPr>
        <p:spPr>
          <a:xfrm>
            <a:off x="1965960" y="5074920"/>
            <a:ext cx="3657600" cy="320040"/>
          </a:xfrm>
          <a:prstGeom prst="rect">
            <a:avLst/>
          </a:prstGeom>
          <a:noFill/>
          <a:ln/>
        </p:spPr>
        <p:txBody>
          <a:bodyPr wrap="square" lIns="0" tIns="0" rIns="0" bIns="0" rtlCol="0" anchor="ctr"/>
          <a:lstStyle/>
          <a:p>
            <a:pPr algn="ctr" indent="0" marL="0">
              <a:buNone/>
            </a:pPr>
            <a:r>
              <a:rPr lang="en-US" sz="1250" dirty="0">
                <a:solidFill>
                  <a:srgbClr val="5F6B72"/>
                </a:solidFill>
                <a:latin typeface="Calibri" pitchFamily="34" charset="0"/>
                <a:ea typeface="Calibri" pitchFamily="34" charset="-122"/>
                <a:cs typeface="Calibri" pitchFamily="34" charset="-120"/>
              </a:rPr>
              <a:t>mejor que la persistencia de cielo claro</a:t>
            </a:r>
            <a:endParaRPr lang="en-US" sz="1250" dirty="0"/>
          </a:p>
        </p:txBody>
      </p:sp>
      <p:sp>
        <p:nvSpPr>
          <p:cNvPr id="19" name="Text 17"/>
          <p:cNvSpPr txBox="1"/>
          <p:nvPr/>
        </p:nvSpPr>
        <p:spPr>
          <a:xfrm>
            <a:off x="6172200" y="4343400"/>
            <a:ext cx="3657600" cy="731520"/>
          </a:xfrm>
          <a:prstGeom prst="rect">
            <a:avLst/>
          </a:prstGeom>
          <a:noFill/>
          <a:ln/>
        </p:spPr>
        <p:txBody>
          <a:bodyPr wrap="square" lIns="0" tIns="0" rIns="0" bIns="0" rtlCol="0" anchor="ctr"/>
          <a:lstStyle/>
          <a:p>
            <a:pPr algn="ctr" indent="0" marL="0">
              <a:buNone/>
            </a:pPr>
            <a:r>
              <a:rPr lang="en-US" sz="4000" b="1" dirty="0">
                <a:solidFill>
                  <a:srgbClr val="C8861E"/>
                </a:solidFill>
                <a:latin typeface="Cambria" pitchFamily="34" charset="0"/>
                <a:ea typeface="Cambria" pitchFamily="34" charset="-122"/>
                <a:cs typeface="Cambria" pitchFamily="34" charset="-120"/>
              </a:rPr>
              <a:t>+ 6,6 %</a:t>
            </a:r>
            <a:endParaRPr lang="en-US" sz="4000" dirty="0"/>
          </a:p>
        </p:txBody>
      </p:sp>
      <p:sp>
        <p:nvSpPr>
          <p:cNvPr id="20" name="Text 18"/>
          <p:cNvSpPr txBox="1"/>
          <p:nvPr/>
        </p:nvSpPr>
        <p:spPr>
          <a:xfrm>
            <a:off x="6172200" y="5074920"/>
            <a:ext cx="3657600" cy="320040"/>
          </a:xfrm>
          <a:prstGeom prst="rect">
            <a:avLst/>
          </a:prstGeom>
          <a:noFill/>
          <a:ln/>
        </p:spPr>
        <p:txBody>
          <a:bodyPr wrap="square" lIns="0" tIns="0" rIns="0" bIns="0" rtlCol="0" anchor="ctr"/>
          <a:lstStyle/>
          <a:p>
            <a:pPr algn="ctr" indent="0" marL="0">
              <a:buNone/>
            </a:pPr>
            <a:r>
              <a:rPr lang="en-US" sz="1250" dirty="0">
                <a:solidFill>
                  <a:srgbClr val="5F6B72"/>
                </a:solidFill>
                <a:latin typeface="Calibri" pitchFamily="34" charset="0"/>
                <a:ea typeface="Calibri" pitchFamily="34" charset="-122"/>
                <a:cs typeface="Calibri" pitchFamily="34" charset="-120"/>
              </a:rPr>
              <a:t>mejor que la persistencia de 24 h</a:t>
            </a:r>
            <a:endParaRPr lang="en-US" sz="1250" dirty="0"/>
          </a:p>
        </p:txBody>
      </p:sp>
      <p:sp>
        <p:nvSpPr>
          <p:cNvPr id="21" name="Shape 19"/>
          <p:cNvSpPr/>
          <p:nvPr/>
        </p:nvSpPr>
        <p:spPr>
          <a:xfrm>
            <a:off x="502920" y="5623560"/>
            <a:ext cx="11185855" cy="566928"/>
          </a:xfrm>
          <a:prstGeom prst="roundRect">
            <a:avLst>
              <a:gd name="adj" fmla="val 9677"/>
            </a:avLst>
          </a:prstGeom>
          <a:solidFill>
            <a:srgbClr val="10394A"/>
          </a:solidFill>
          <a:ln/>
        </p:spPr>
      </p:sp>
      <p:sp>
        <p:nvSpPr>
          <p:cNvPr id="22" name="Text 20"/>
          <p:cNvSpPr txBox="1"/>
          <p:nvPr/>
        </p:nvSpPr>
        <p:spPr>
          <a:xfrm>
            <a:off x="777240" y="5641848"/>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Lo que consume el EMS no es la salida cruda de la red, sino esta señal combinada.</a:t>
            </a:r>
            <a:endParaRPr lang="en-US" sz="1350" dirty="0"/>
          </a:p>
        </p:txBody>
      </p:sp>
      <p:sp>
        <p:nvSpPr>
          <p:cNvPr id="23" name="Text 21"/>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COMPARACIÓN  ·  4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Cuatro escenarios que cruzan recurso solar y régimen de precio</a:t>
            </a:r>
            <a:endParaRPr lang="en-US" sz="2600" dirty="0"/>
          </a:p>
        </p:txBody>
      </p:sp>
      <p:pic>
        <p:nvPicPr>
          <p:cNvPr id="4" name="Image 0" descr="img/fig_met_escenarios.png">    </p:cNvPr>
          <p:cNvPicPr>
            <a:picLocks noChangeAspect="1"/>
          </p:cNvPicPr>
          <p:nvPr/>
        </p:nvPicPr>
        <p:blipFill>
          <a:blip r:embed="rId1"/>
          <a:stretch>
            <a:fillRect/>
          </a:stretch>
        </p:blipFill>
        <p:spPr>
          <a:xfrm>
            <a:off x="2281693" y="1536192"/>
            <a:ext cx="7628310" cy="3291840"/>
          </a:xfrm>
          <a:prstGeom prst="rect">
            <a:avLst/>
          </a:prstGeom>
        </p:spPr>
      </p:pic>
      <p:sp>
        <p:nvSpPr>
          <p:cNvPr id="5" name="Text 2"/>
          <p:cNvSpPr txBox="1"/>
          <p:nvPr/>
        </p:nvSpPr>
        <p:spPr>
          <a:xfrm>
            <a:off x="502920" y="5074920"/>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E1 laborable soleado, precio plano · E2 nublado, índice de claridad 0,36 con punta de 194 €/MWh</a:t>
            </a:r>
            <a:endParaRPr lang="en-US" sz="1250" dirty="0"/>
          </a:p>
        </p:txBody>
      </p:sp>
      <p:sp>
        <p:nvSpPr>
          <p:cNvPr id="6" name="Text 3"/>
          <p:cNvSpPr txBox="1"/>
          <p:nvPr/>
        </p:nvSpPr>
        <p:spPr>
          <a:xfrm>
            <a:off x="502920" y="5367528"/>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E3 fin de semana soleado, precio casi nulo a mediodía · E4 mayor diferencial de 2025: de 24 a 252 €/MWh</a:t>
            </a:r>
            <a:endParaRPr lang="en-US" sz="1250" dirty="0"/>
          </a:p>
        </p:txBody>
      </p:sp>
      <p:sp>
        <p:nvSpPr>
          <p:cNvPr id="7" name="Text 4"/>
          <p:cNvSpPr txBox="1"/>
          <p:nvPr/>
        </p:nvSpPr>
        <p:spPr>
          <a:xfrm>
            <a:off x="502920" y="5660136"/>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Cada escenario se repite con varias semillas del generador estocástico de demanda</a:t>
            </a:r>
            <a:endParaRPr lang="en-US" sz="1250" dirty="0"/>
          </a:p>
        </p:txBody>
      </p:sp>
      <p:sp>
        <p:nvSpPr>
          <p:cNvPr id="8" name="Text 5"/>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COMPARACIÓN  ·  4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Cuatro piezas sostienen todas las cifras que vienen a continuación</a:t>
            </a:r>
            <a:endParaRPr lang="en-US" sz="2600" dirty="0"/>
          </a:p>
        </p:txBody>
      </p:sp>
      <p:sp>
        <p:nvSpPr>
          <p:cNvPr id="4" name="Shape 2"/>
          <p:cNvSpPr/>
          <p:nvPr/>
        </p:nvSpPr>
        <p:spPr>
          <a:xfrm>
            <a:off x="502920" y="2651760"/>
            <a:ext cx="1325880" cy="548640"/>
          </a:xfrm>
          <a:prstGeom prst="roundRect">
            <a:avLst>
              <a:gd name="adj" fmla="val 10000"/>
            </a:avLst>
          </a:prstGeom>
          <a:solidFill>
            <a:srgbClr val="FFFFFF"/>
          </a:solidFill>
          <a:ln w="12700">
            <a:solidFill>
              <a:srgbClr val="DDE3E6"/>
            </a:solidFill>
            <a:prstDash val="solid"/>
          </a:ln>
        </p:spPr>
      </p:sp>
      <p:sp>
        <p:nvSpPr>
          <p:cNvPr id="5" name="Text 3"/>
          <p:cNvSpPr txBox="1"/>
          <p:nvPr/>
        </p:nvSpPr>
        <p:spPr>
          <a:xfrm>
            <a:off x="502920" y="2651760"/>
            <a:ext cx="1325880" cy="548640"/>
          </a:xfrm>
          <a:prstGeom prst="rect">
            <a:avLst/>
          </a:prstGeom>
          <a:noFill/>
          <a:ln/>
        </p:spPr>
        <p:txBody>
          <a:bodyPr wrap="square" lIns="0" tIns="0" rIns="0" bIns="0" rtlCol="0" anchor="ctr"/>
          <a:lstStyle/>
          <a:p>
            <a:pPr algn="ctr" indent="0" marL="0">
              <a:buNone/>
            </a:pPr>
            <a:r>
              <a:rPr lang="en-US" sz="1250" b="1" dirty="0">
                <a:solidFill>
                  <a:srgbClr val="10394A"/>
                </a:solidFill>
                <a:latin typeface="Calibri" pitchFamily="34" charset="0"/>
                <a:ea typeface="Calibri" pitchFamily="34" charset="-122"/>
                <a:cs typeface="Calibri" pitchFamily="34" charset="-120"/>
              </a:rPr>
              <a:t>Semilla n</a:t>
            </a:r>
            <a:endParaRPr lang="en-US" sz="1250" dirty="0"/>
          </a:p>
        </p:txBody>
      </p:sp>
      <p:sp>
        <p:nvSpPr>
          <p:cNvPr id="6" name="Shape 4"/>
          <p:cNvSpPr/>
          <p:nvPr/>
        </p:nvSpPr>
        <p:spPr>
          <a:xfrm>
            <a:off x="1892808" y="2926080"/>
            <a:ext cx="365760" cy="0"/>
          </a:xfrm>
          <a:prstGeom prst="line">
            <a:avLst/>
          </a:prstGeom>
          <a:noFill/>
          <a:ln w="12700">
            <a:solidFill>
              <a:srgbClr val="5F6B72"/>
            </a:solidFill>
            <a:prstDash val="solid"/>
            <a:tailEnd type="triangle"/>
          </a:ln>
        </p:spPr>
      </p:sp>
      <p:sp>
        <p:nvSpPr>
          <p:cNvPr id="7" name="Shape 5"/>
          <p:cNvSpPr/>
          <p:nvPr/>
        </p:nvSpPr>
        <p:spPr>
          <a:xfrm>
            <a:off x="2322576" y="2468880"/>
            <a:ext cx="2514600" cy="914400"/>
          </a:xfrm>
          <a:prstGeom prst="roundRect">
            <a:avLst>
              <a:gd name="adj" fmla="val 6000"/>
            </a:avLst>
          </a:prstGeom>
          <a:solidFill>
            <a:srgbClr val="FFFFFF"/>
          </a:solidFill>
          <a:ln w="12700">
            <a:solidFill>
              <a:srgbClr val="DDE3E6"/>
            </a:solidFill>
            <a:prstDash val="solid"/>
          </a:ln>
        </p:spPr>
      </p:sp>
      <p:sp>
        <p:nvSpPr>
          <p:cNvPr id="8" name="Text 6"/>
          <p:cNvSpPr txBox="1"/>
          <p:nvPr/>
        </p:nvSpPr>
        <p:spPr>
          <a:xfrm>
            <a:off x="2322576" y="2523744"/>
            <a:ext cx="2514600" cy="475488"/>
          </a:xfrm>
          <a:prstGeom prst="rect">
            <a:avLst/>
          </a:prstGeom>
          <a:noFill/>
          <a:ln/>
        </p:spPr>
        <p:txBody>
          <a:bodyPr wrap="square" lIns="0" tIns="0" rIns="0" bIns="0" rtlCol="0" anchor="ctr"/>
          <a:lstStyle/>
          <a:p>
            <a:pPr algn="ctr" indent="0" marL="0">
              <a:buNone/>
            </a:pPr>
            <a:r>
              <a:rPr lang="en-US" sz="1250" b="1" dirty="0">
                <a:solidFill>
                  <a:srgbClr val="10394A"/>
                </a:solidFill>
                <a:latin typeface="Calibri" pitchFamily="34" charset="0"/>
                <a:ea typeface="Calibri" pitchFamily="34" charset="-122"/>
                <a:cs typeface="Calibri" pitchFamily="34" charset="-120"/>
              </a:rPr>
              <a:t>Un perfil de demanda</a:t>
            </a:r>
            <a:endParaRPr lang="en-US" sz="1250" dirty="0"/>
          </a:p>
        </p:txBody>
      </p:sp>
      <p:sp>
        <p:nvSpPr>
          <p:cNvPr id="9" name="Text 7"/>
          <p:cNvSpPr txBox="1"/>
          <p:nvPr/>
        </p:nvSpPr>
        <p:spPr>
          <a:xfrm>
            <a:off x="2377440" y="2944368"/>
            <a:ext cx="2404872" cy="384048"/>
          </a:xfrm>
          <a:prstGeom prst="rect">
            <a:avLst/>
          </a:prstGeom>
          <a:noFill/>
          <a:ln/>
        </p:spPr>
        <p:txBody>
          <a:bodyPr wrap="square" lIns="0" tIns="0" rIns="0" bIns="0" rtlCol="0" anchor="t"/>
          <a:lstStyle/>
          <a:p>
            <a:pPr algn="ctr" indent="0" marL="0">
              <a:lnSpc>
                <a:spcPct val="105000"/>
              </a:lnSpc>
              <a:buNone/>
            </a:pPr>
            <a:r>
              <a:rPr lang="en-US" sz="950" dirty="0">
                <a:solidFill>
                  <a:srgbClr val="5F6B72"/>
                </a:solidFill>
                <a:latin typeface="Calibri" pitchFamily="34" charset="0"/>
                <a:ea typeface="Calibri" pitchFamily="34" charset="-122"/>
                <a:cs typeface="Calibri" pitchFamily="34" charset="-120"/>
              </a:rPr>
              <a:t>los mismos vehículos, a las mismas horas, con las mismas energías</a:t>
            </a:r>
            <a:endParaRPr lang="en-US" sz="950" dirty="0"/>
          </a:p>
        </p:txBody>
      </p:sp>
      <p:sp>
        <p:nvSpPr>
          <p:cNvPr id="10" name="Shape 8"/>
          <p:cNvSpPr/>
          <p:nvPr/>
        </p:nvSpPr>
        <p:spPr>
          <a:xfrm>
            <a:off x="4901184" y="2926080"/>
            <a:ext cx="310896" cy="0"/>
          </a:xfrm>
          <a:prstGeom prst="line">
            <a:avLst/>
          </a:prstGeom>
          <a:noFill/>
          <a:ln w="12700">
            <a:solidFill>
              <a:srgbClr val="5F6B72"/>
            </a:solidFill>
            <a:prstDash val="solid"/>
          </a:ln>
        </p:spPr>
      </p:sp>
      <p:sp>
        <p:nvSpPr>
          <p:cNvPr id="11" name="Shape 9"/>
          <p:cNvSpPr/>
          <p:nvPr/>
        </p:nvSpPr>
        <p:spPr>
          <a:xfrm>
            <a:off x="5212080" y="2194560"/>
            <a:ext cx="0" cy="1463040"/>
          </a:xfrm>
          <a:prstGeom prst="line">
            <a:avLst/>
          </a:prstGeom>
          <a:noFill/>
          <a:ln w="12700">
            <a:solidFill>
              <a:srgbClr val="5F6B72"/>
            </a:solidFill>
            <a:prstDash val="solid"/>
          </a:ln>
        </p:spPr>
      </p:sp>
      <p:sp>
        <p:nvSpPr>
          <p:cNvPr id="12" name="Shape 10"/>
          <p:cNvSpPr/>
          <p:nvPr/>
        </p:nvSpPr>
        <p:spPr>
          <a:xfrm>
            <a:off x="5212080" y="2194560"/>
            <a:ext cx="128016" cy="0"/>
          </a:xfrm>
          <a:prstGeom prst="line">
            <a:avLst/>
          </a:prstGeom>
          <a:noFill/>
          <a:ln w="12700">
            <a:solidFill>
              <a:srgbClr val="5F6B72"/>
            </a:solidFill>
            <a:prstDash val="solid"/>
            <a:tailEnd type="triangle"/>
          </a:ln>
        </p:spPr>
      </p:sp>
      <p:sp>
        <p:nvSpPr>
          <p:cNvPr id="13" name="Shape 11"/>
          <p:cNvSpPr/>
          <p:nvPr/>
        </p:nvSpPr>
        <p:spPr>
          <a:xfrm>
            <a:off x="5340096" y="1920240"/>
            <a:ext cx="1874520" cy="548640"/>
          </a:xfrm>
          <a:prstGeom prst="roundRect">
            <a:avLst>
              <a:gd name="adj" fmla="val 10000"/>
            </a:avLst>
          </a:prstGeom>
          <a:solidFill>
            <a:srgbClr val="FFFFFF"/>
          </a:solidFill>
          <a:ln w="12700">
            <a:solidFill>
              <a:srgbClr val="DDE3E6"/>
            </a:solidFill>
            <a:prstDash val="solid"/>
          </a:ln>
        </p:spPr>
      </p:sp>
      <p:sp>
        <p:nvSpPr>
          <p:cNvPr id="14" name="Text 12"/>
          <p:cNvSpPr txBox="1"/>
          <p:nvPr/>
        </p:nvSpPr>
        <p:spPr>
          <a:xfrm>
            <a:off x="5340096" y="1920240"/>
            <a:ext cx="1874520" cy="548640"/>
          </a:xfrm>
          <a:prstGeom prst="rect">
            <a:avLst/>
          </a:prstGeom>
          <a:noFill/>
          <a:ln/>
        </p:spPr>
        <p:txBody>
          <a:bodyPr wrap="square" lIns="0" tIns="0" rIns="0" bIns="0" rtlCol="0" anchor="ctr"/>
          <a:lstStyle/>
          <a:p>
            <a:pPr algn="ctr" indent="0" marL="0">
              <a:buNone/>
            </a:pPr>
            <a:r>
              <a:rPr lang="en-US" sz="1250" b="1" dirty="0">
                <a:solidFill>
                  <a:srgbClr val="10394A"/>
                </a:solidFill>
                <a:latin typeface="Calibri" pitchFamily="34" charset="0"/>
                <a:ea typeface="Calibri" pitchFamily="34" charset="-122"/>
                <a:cs typeface="Calibri" pitchFamily="34" charset="-120"/>
              </a:rPr>
              <a:t>Versión A</a:t>
            </a:r>
            <a:endParaRPr lang="en-US" sz="1250" dirty="0"/>
          </a:p>
        </p:txBody>
      </p:sp>
      <p:sp>
        <p:nvSpPr>
          <p:cNvPr id="15" name="Shape 13"/>
          <p:cNvSpPr/>
          <p:nvPr/>
        </p:nvSpPr>
        <p:spPr>
          <a:xfrm>
            <a:off x="5212080" y="2926080"/>
            <a:ext cx="128016" cy="0"/>
          </a:xfrm>
          <a:prstGeom prst="line">
            <a:avLst/>
          </a:prstGeom>
          <a:noFill/>
          <a:ln w="12700">
            <a:solidFill>
              <a:srgbClr val="5F6B72"/>
            </a:solidFill>
            <a:prstDash val="solid"/>
            <a:tailEnd type="triangle"/>
          </a:ln>
        </p:spPr>
      </p:sp>
      <p:sp>
        <p:nvSpPr>
          <p:cNvPr id="16" name="Shape 14"/>
          <p:cNvSpPr/>
          <p:nvPr/>
        </p:nvSpPr>
        <p:spPr>
          <a:xfrm>
            <a:off x="5340096" y="2651760"/>
            <a:ext cx="1874520" cy="548640"/>
          </a:xfrm>
          <a:prstGeom prst="roundRect">
            <a:avLst>
              <a:gd name="adj" fmla="val 10000"/>
            </a:avLst>
          </a:prstGeom>
          <a:solidFill>
            <a:srgbClr val="FFFFFF"/>
          </a:solidFill>
          <a:ln w="12700">
            <a:solidFill>
              <a:srgbClr val="DDE3E6"/>
            </a:solidFill>
            <a:prstDash val="solid"/>
          </a:ln>
        </p:spPr>
      </p:sp>
      <p:sp>
        <p:nvSpPr>
          <p:cNvPr id="17" name="Text 15"/>
          <p:cNvSpPr txBox="1"/>
          <p:nvPr/>
        </p:nvSpPr>
        <p:spPr>
          <a:xfrm>
            <a:off x="5340096" y="2651760"/>
            <a:ext cx="1874520" cy="548640"/>
          </a:xfrm>
          <a:prstGeom prst="rect">
            <a:avLst/>
          </a:prstGeom>
          <a:noFill/>
          <a:ln/>
        </p:spPr>
        <p:txBody>
          <a:bodyPr wrap="square" lIns="0" tIns="0" rIns="0" bIns="0" rtlCol="0" anchor="ctr"/>
          <a:lstStyle/>
          <a:p>
            <a:pPr algn="ctr" indent="0" marL="0">
              <a:buNone/>
            </a:pPr>
            <a:r>
              <a:rPr lang="en-US" sz="1250" b="1" dirty="0">
                <a:solidFill>
                  <a:srgbClr val="10394A"/>
                </a:solidFill>
                <a:latin typeface="Calibri" pitchFamily="34" charset="0"/>
                <a:ea typeface="Calibri" pitchFamily="34" charset="-122"/>
                <a:cs typeface="Calibri" pitchFamily="34" charset="-120"/>
              </a:rPr>
              <a:t>Versión B</a:t>
            </a:r>
            <a:endParaRPr lang="en-US" sz="1250" dirty="0"/>
          </a:p>
        </p:txBody>
      </p:sp>
      <p:sp>
        <p:nvSpPr>
          <p:cNvPr id="18" name="Shape 16"/>
          <p:cNvSpPr/>
          <p:nvPr/>
        </p:nvSpPr>
        <p:spPr>
          <a:xfrm>
            <a:off x="5212080" y="3657600"/>
            <a:ext cx="128016" cy="0"/>
          </a:xfrm>
          <a:prstGeom prst="line">
            <a:avLst/>
          </a:prstGeom>
          <a:noFill/>
          <a:ln w="12700">
            <a:solidFill>
              <a:srgbClr val="5F6B72"/>
            </a:solidFill>
            <a:prstDash val="solid"/>
            <a:tailEnd type="triangle"/>
          </a:ln>
        </p:spPr>
      </p:sp>
      <p:sp>
        <p:nvSpPr>
          <p:cNvPr id="19" name="Shape 17"/>
          <p:cNvSpPr/>
          <p:nvPr/>
        </p:nvSpPr>
        <p:spPr>
          <a:xfrm>
            <a:off x="5340096" y="3383280"/>
            <a:ext cx="1874520" cy="548640"/>
          </a:xfrm>
          <a:prstGeom prst="roundRect">
            <a:avLst>
              <a:gd name="adj" fmla="val 10000"/>
            </a:avLst>
          </a:prstGeom>
          <a:solidFill>
            <a:srgbClr val="10394A"/>
          </a:solidFill>
          <a:ln w="12700">
            <a:solidFill>
              <a:srgbClr val="10394A"/>
            </a:solidFill>
            <a:prstDash val="solid"/>
          </a:ln>
        </p:spPr>
      </p:sp>
      <p:sp>
        <p:nvSpPr>
          <p:cNvPr id="20" name="Text 18"/>
          <p:cNvSpPr txBox="1"/>
          <p:nvPr/>
        </p:nvSpPr>
        <p:spPr>
          <a:xfrm>
            <a:off x="5340096" y="3383280"/>
            <a:ext cx="1874520"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Versión C</a:t>
            </a:r>
            <a:endParaRPr lang="en-US" sz="1250" dirty="0"/>
          </a:p>
        </p:txBody>
      </p:sp>
      <p:sp>
        <p:nvSpPr>
          <p:cNvPr id="21" name="Shape 19"/>
          <p:cNvSpPr/>
          <p:nvPr/>
        </p:nvSpPr>
        <p:spPr>
          <a:xfrm>
            <a:off x="7278624" y="2194560"/>
            <a:ext cx="374904" cy="0"/>
          </a:xfrm>
          <a:prstGeom prst="line">
            <a:avLst/>
          </a:prstGeom>
          <a:noFill/>
          <a:ln w="12700">
            <a:solidFill>
              <a:srgbClr val="5F6B72"/>
            </a:solidFill>
            <a:prstDash val="solid"/>
            <a:tailEnd type="triangle"/>
          </a:ln>
        </p:spPr>
      </p:sp>
      <p:sp>
        <p:nvSpPr>
          <p:cNvPr id="22" name="Shape 20"/>
          <p:cNvSpPr/>
          <p:nvPr/>
        </p:nvSpPr>
        <p:spPr>
          <a:xfrm>
            <a:off x="7278624" y="2926080"/>
            <a:ext cx="374904" cy="0"/>
          </a:xfrm>
          <a:prstGeom prst="line">
            <a:avLst/>
          </a:prstGeom>
          <a:noFill/>
          <a:ln w="12700">
            <a:solidFill>
              <a:srgbClr val="5F6B72"/>
            </a:solidFill>
            <a:prstDash val="solid"/>
            <a:tailEnd type="triangle"/>
          </a:ln>
        </p:spPr>
      </p:sp>
      <p:sp>
        <p:nvSpPr>
          <p:cNvPr id="23" name="Shape 21"/>
          <p:cNvSpPr/>
          <p:nvPr/>
        </p:nvSpPr>
        <p:spPr>
          <a:xfrm>
            <a:off x="7278624" y="3657600"/>
            <a:ext cx="374904" cy="0"/>
          </a:xfrm>
          <a:prstGeom prst="line">
            <a:avLst/>
          </a:prstGeom>
          <a:noFill/>
          <a:ln w="12700">
            <a:solidFill>
              <a:srgbClr val="5F6B72"/>
            </a:solidFill>
            <a:prstDash val="solid"/>
            <a:tailEnd type="triangle"/>
          </a:ln>
        </p:spPr>
      </p:sp>
      <p:sp>
        <p:nvSpPr>
          <p:cNvPr id="24" name="Shape 22"/>
          <p:cNvSpPr/>
          <p:nvPr/>
        </p:nvSpPr>
        <p:spPr>
          <a:xfrm>
            <a:off x="7653528" y="2194560"/>
            <a:ext cx="0" cy="1463040"/>
          </a:xfrm>
          <a:prstGeom prst="line">
            <a:avLst/>
          </a:prstGeom>
          <a:noFill/>
          <a:ln w="12700">
            <a:solidFill>
              <a:srgbClr val="5F6B72"/>
            </a:solidFill>
            <a:prstDash val="solid"/>
          </a:ln>
        </p:spPr>
      </p:sp>
      <p:sp>
        <p:nvSpPr>
          <p:cNvPr id="25" name="Shape 23"/>
          <p:cNvSpPr/>
          <p:nvPr/>
        </p:nvSpPr>
        <p:spPr>
          <a:xfrm>
            <a:off x="7653528" y="2926080"/>
            <a:ext cx="128016" cy="0"/>
          </a:xfrm>
          <a:prstGeom prst="line">
            <a:avLst/>
          </a:prstGeom>
          <a:noFill/>
          <a:ln w="12700">
            <a:solidFill>
              <a:srgbClr val="5F6B72"/>
            </a:solidFill>
            <a:prstDash val="solid"/>
            <a:tailEnd type="triangle"/>
          </a:ln>
        </p:spPr>
      </p:sp>
      <p:sp>
        <p:nvSpPr>
          <p:cNvPr id="26" name="Shape 24"/>
          <p:cNvSpPr/>
          <p:nvPr/>
        </p:nvSpPr>
        <p:spPr>
          <a:xfrm>
            <a:off x="7781544" y="2468880"/>
            <a:ext cx="2057400" cy="914400"/>
          </a:xfrm>
          <a:prstGeom prst="roundRect">
            <a:avLst>
              <a:gd name="adj" fmla="val 6000"/>
            </a:avLst>
          </a:prstGeom>
          <a:solidFill>
            <a:srgbClr val="FFFFFF"/>
          </a:solidFill>
          <a:ln w="12700">
            <a:solidFill>
              <a:srgbClr val="DDE3E6"/>
            </a:solidFill>
            <a:prstDash val="solid"/>
          </a:ln>
        </p:spPr>
      </p:sp>
      <p:sp>
        <p:nvSpPr>
          <p:cNvPr id="27" name="Text 25"/>
          <p:cNvSpPr txBox="1"/>
          <p:nvPr/>
        </p:nvSpPr>
        <p:spPr>
          <a:xfrm>
            <a:off x="7781544" y="2523744"/>
            <a:ext cx="2057400" cy="475488"/>
          </a:xfrm>
          <a:prstGeom prst="rect">
            <a:avLst/>
          </a:prstGeom>
          <a:noFill/>
          <a:ln/>
        </p:spPr>
        <p:txBody>
          <a:bodyPr wrap="square" lIns="0" tIns="0" rIns="0" bIns="0" rtlCol="0" anchor="ctr"/>
          <a:lstStyle/>
          <a:p>
            <a:pPr algn="ctr" indent="0" marL="0">
              <a:buNone/>
            </a:pPr>
            <a:r>
              <a:rPr lang="en-US" sz="1250" b="1" dirty="0">
                <a:solidFill>
                  <a:srgbClr val="10394A"/>
                </a:solidFill>
                <a:latin typeface="Calibri" pitchFamily="34" charset="0"/>
                <a:ea typeface="Calibri" pitchFamily="34" charset="-122"/>
                <a:cs typeface="Calibri" pitchFamily="34" charset="-120"/>
              </a:rPr>
              <a:t>Diferencia entre dos versiones</a:t>
            </a:r>
            <a:endParaRPr lang="en-US" sz="1250" dirty="0"/>
          </a:p>
        </p:txBody>
      </p:sp>
      <p:sp>
        <p:nvSpPr>
          <p:cNvPr id="28" name="Text 26"/>
          <p:cNvSpPr txBox="1"/>
          <p:nvPr/>
        </p:nvSpPr>
        <p:spPr>
          <a:xfrm>
            <a:off x="7836408" y="2944368"/>
            <a:ext cx="1947672" cy="384048"/>
          </a:xfrm>
          <a:prstGeom prst="rect">
            <a:avLst/>
          </a:prstGeom>
          <a:noFill/>
          <a:ln/>
        </p:spPr>
        <p:txBody>
          <a:bodyPr wrap="square" lIns="0" tIns="0" rIns="0" bIns="0" rtlCol="0" anchor="t"/>
          <a:lstStyle/>
          <a:p>
            <a:pPr algn="ctr" indent="0" marL="0">
              <a:lnSpc>
                <a:spcPct val="105000"/>
              </a:lnSpc>
              <a:buNone/>
            </a:pPr>
            <a:r>
              <a:rPr lang="en-US" sz="950" dirty="0">
                <a:solidFill>
                  <a:srgbClr val="5F6B72"/>
                </a:solidFill>
                <a:latin typeface="Calibri" pitchFamily="34" charset="0"/>
                <a:ea typeface="Calibri" pitchFamily="34" charset="-122"/>
                <a:cs typeface="Calibri" pitchFamily="34" charset="-120"/>
              </a:rPr>
              <a:t>sobre la misma semana, en euros</a:t>
            </a:r>
            <a:endParaRPr lang="en-US" sz="950" dirty="0"/>
          </a:p>
        </p:txBody>
      </p:sp>
      <p:sp>
        <p:nvSpPr>
          <p:cNvPr id="29" name="Text 27"/>
          <p:cNvSpPr txBox="1"/>
          <p:nvPr/>
        </p:nvSpPr>
        <p:spPr>
          <a:xfrm>
            <a:off x="10113264" y="2450592"/>
            <a:ext cx="1575511" cy="566928"/>
          </a:xfrm>
          <a:prstGeom prst="rect">
            <a:avLst/>
          </a:prstGeom>
          <a:noFill/>
          <a:ln/>
        </p:spPr>
        <p:txBody>
          <a:bodyPr wrap="square" lIns="0" tIns="0" rIns="0" bIns="0" rtlCol="0" anchor="ctr"/>
          <a:lstStyle/>
          <a:p>
            <a:pPr algn="l" indent="0" marL="0">
              <a:buNone/>
            </a:pPr>
            <a:r>
              <a:rPr lang="en-US" sz="3000" b="1" dirty="0">
                <a:solidFill>
                  <a:srgbClr val="C8861E"/>
                </a:solidFill>
                <a:latin typeface="Cambria" pitchFamily="34" charset="0"/>
                <a:ea typeface="Cambria" pitchFamily="34" charset="-122"/>
                <a:cs typeface="Cambria" pitchFamily="34" charset="-120"/>
              </a:rPr>
              <a:t>× 20</a:t>
            </a:r>
            <a:endParaRPr lang="en-US" sz="3000" dirty="0"/>
          </a:p>
        </p:txBody>
      </p:sp>
      <p:sp>
        <p:nvSpPr>
          <p:cNvPr id="30" name="Text 28"/>
          <p:cNvSpPr txBox="1"/>
          <p:nvPr/>
        </p:nvSpPr>
        <p:spPr>
          <a:xfrm>
            <a:off x="10149840" y="2999232"/>
            <a:ext cx="1575511" cy="310896"/>
          </a:xfrm>
          <a:prstGeom prst="rect">
            <a:avLst/>
          </a:prstGeom>
          <a:noFill/>
          <a:ln/>
        </p:spPr>
        <p:txBody>
          <a:bodyPr wrap="square" lIns="0" tIns="0" rIns="0" bIns="0" rtlCol="0" anchor="ctr"/>
          <a:lstStyle/>
          <a:p>
            <a:pPr algn="l" indent="0" marL="0">
              <a:buNone/>
            </a:pPr>
            <a:r>
              <a:rPr lang="en-US" sz="1000" dirty="0">
                <a:solidFill>
                  <a:srgbClr val="5F6B72"/>
                </a:solidFill>
                <a:latin typeface="Calibri" pitchFamily="34" charset="0"/>
                <a:ea typeface="Calibri" pitchFamily="34" charset="-122"/>
                <a:cs typeface="Calibri" pitchFamily="34" charset="-120"/>
              </a:rPr>
              <a:t>4 escenarios × 5 semillas</a:t>
            </a:r>
            <a:endParaRPr lang="en-US" sz="1000" dirty="0"/>
          </a:p>
        </p:txBody>
      </p:sp>
      <p:sp>
        <p:nvSpPr>
          <p:cNvPr id="31" name="Text 29"/>
          <p:cNvSpPr txBox="1"/>
          <p:nvPr/>
        </p:nvSpPr>
        <p:spPr>
          <a:xfrm>
            <a:off x="502920" y="4096512"/>
            <a:ext cx="11185855" cy="310896"/>
          </a:xfrm>
          <a:prstGeom prst="rect">
            <a:avLst/>
          </a:prstGeom>
          <a:noFill/>
          <a:ln/>
        </p:spPr>
        <p:txBody>
          <a:bodyPr wrap="square" lIns="0" tIns="0" rIns="0" bIns="0" rtlCol="0" anchor="ctr"/>
          <a:lstStyle/>
          <a:p>
            <a:pPr algn="ctr" indent="0" marL="0">
              <a:buNone/>
            </a:pPr>
            <a:r>
              <a:rPr lang="en-US" sz="1150" i="1" dirty="0">
                <a:solidFill>
                  <a:srgbClr val="5F6B72"/>
                </a:solidFill>
                <a:latin typeface="Calibri" pitchFamily="34" charset="0"/>
                <a:ea typeface="Calibri" pitchFamily="34" charset="-122"/>
                <a:cs typeface="Calibri" pitchFamily="34" charset="-120"/>
              </a:rPr>
              <a:t>La misma semilla corre en todas las versiones, así que el azar de la demanda se cancela en la resta: el contraste se hace sobre las 20 diferencias, no sobre dos promedios.</a:t>
            </a:r>
            <a:endParaRPr lang="en-US" sz="1150" dirty="0"/>
          </a:p>
        </p:txBody>
      </p:sp>
      <p:sp>
        <p:nvSpPr>
          <p:cNvPr id="32" name="Shape 30"/>
          <p:cNvSpPr/>
          <p:nvPr/>
        </p:nvSpPr>
        <p:spPr>
          <a:xfrm>
            <a:off x="502920" y="4590288"/>
            <a:ext cx="11185855" cy="0"/>
          </a:xfrm>
          <a:prstGeom prst="line">
            <a:avLst/>
          </a:prstGeom>
          <a:noFill/>
          <a:ln w="9525">
            <a:solidFill>
              <a:srgbClr val="DDE3E6"/>
            </a:solidFill>
            <a:prstDash val="solid"/>
          </a:ln>
        </p:spPr>
      </p:sp>
      <p:sp>
        <p:nvSpPr>
          <p:cNvPr id="33" name="Text 31"/>
          <p:cNvSpPr txBox="1"/>
          <p:nvPr/>
        </p:nvSpPr>
        <p:spPr>
          <a:xfrm>
            <a:off x="502920" y="4773168"/>
            <a:ext cx="2563292" cy="347472"/>
          </a:xfrm>
          <a:prstGeom prst="rect">
            <a:avLst/>
          </a:prstGeom>
          <a:noFill/>
          <a:ln/>
        </p:spPr>
        <p:txBody>
          <a:bodyPr wrap="square" lIns="0" tIns="0" rIns="0" bIns="0" rtlCol="0" anchor="ctr"/>
          <a:lstStyle/>
          <a:p>
            <a:pPr indent="0" marL="0">
              <a:buNone/>
            </a:pPr>
            <a:r>
              <a:rPr lang="en-US" sz="1500" b="1" dirty="0">
                <a:solidFill>
                  <a:srgbClr val="10394A"/>
                </a:solidFill>
                <a:latin typeface="Cambria" pitchFamily="34" charset="0"/>
                <a:ea typeface="Cambria" pitchFamily="34" charset="-122"/>
                <a:cs typeface="Cambria" pitchFamily="34" charset="-120"/>
              </a:rPr>
              <a:t>Comparar en pareja</a:t>
            </a:r>
            <a:endParaRPr lang="en-US" sz="1500" dirty="0"/>
          </a:p>
        </p:txBody>
      </p:sp>
      <p:sp>
        <p:nvSpPr>
          <p:cNvPr id="34" name="Text 32"/>
          <p:cNvSpPr txBox="1"/>
          <p:nvPr/>
        </p:nvSpPr>
        <p:spPr>
          <a:xfrm>
            <a:off x="502920" y="5157216"/>
            <a:ext cx="2563292" cy="1005840"/>
          </a:xfrm>
          <a:prstGeom prst="rect">
            <a:avLst/>
          </a:prstGeom>
          <a:noFill/>
          <a:ln/>
        </p:spPr>
        <p:txBody>
          <a:bodyPr wrap="square" lIns="0" tIns="0" rIns="0" bIns="0" rtlCol="0" anchor="t"/>
          <a:lstStyle/>
          <a:p>
            <a:pPr indent="0" marL="0">
              <a:lnSpc>
                <a:spcPct val="114000"/>
              </a:lnSpc>
              <a:buNone/>
            </a:pPr>
            <a:r>
              <a:rPr lang="en-US" sz="1200" dirty="0">
                <a:solidFill>
                  <a:srgbClr val="1C1C1C"/>
                </a:solidFill>
                <a:latin typeface="Calibri" pitchFamily="34" charset="0"/>
                <a:ea typeface="Calibri" pitchFamily="34" charset="-122"/>
                <a:cs typeface="Calibri" pitchFamily="34" charset="-120"/>
              </a:rPr>
              <a:t>Cada versión se mide contra otra sobre la misma semana, no contra un promedio</a:t>
            </a:r>
            <a:endParaRPr lang="en-US" sz="1200" dirty="0"/>
          </a:p>
        </p:txBody>
      </p:sp>
      <p:sp>
        <p:nvSpPr>
          <p:cNvPr id="35" name="Text 33"/>
          <p:cNvSpPr txBox="1"/>
          <p:nvPr/>
        </p:nvSpPr>
        <p:spPr>
          <a:xfrm>
            <a:off x="3377108" y="4773168"/>
            <a:ext cx="2563292" cy="347472"/>
          </a:xfrm>
          <a:prstGeom prst="rect">
            <a:avLst/>
          </a:prstGeom>
          <a:noFill/>
          <a:ln/>
        </p:spPr>
        <p:txBody>
          <a:bodyPr wrap="square" lIns="0" tIns="0" rIns="0" bIns="0" rtlCol="0" anchor="ctr"/>
          <a:lstStyle/>
          <a:p>
            <a:pPr indent="0" marL="0">
              <a:buNone/>
            </a:pPr>
            <a:r>
              <a:rPr lang="en-US" sz="1500" b="1" dirty="0">
                <a:solidFill>
                  <a:srgbClr val="10394A"/>
                </a:solidFill>
                <a:latin typeface="Cambria" pitchFamily="34" charset="0"/>
                <a:ea typeface="Cambria" pitchFamily="34" charset="-122"/>
                <a:cs typeface="Cambria" pitchFamily="34" charset="-120"/>
              </a:rPr>
              <a:t>Test de Wilcoxon</a:t>
            </a:r>
            <a:endParaRPr lang="en-US" sz="1500" dirty="0"/>
          </a:p>
        </p:txBody>
      </p:sp>
      <p:sp>
        <p:nvSpPr>
          <p:cNvPr id="36" name="Text 34"/>
          <p:cNvSpPr txBox="1"/>
          <p:nvPr/>
        </p:nvSpPr>
        <p:spPr>
          <a:xfrm>
            <a:off x="3377108" y="5157216"/>
            <a:ext cx="2563292" cy="1005840"/>
          </a:xfrm>
          <a:prstGeom prst="rect">
            <a:avLst/>
          </a:prstGeom>
          <a:noFill/>
          <a:ln/>
        </p:spPr>
        <p:txBody>
          <a:bodyPr wrap="square" lIns="0" tIns="0" rIns="0" bIns="0" rtlCol="0" anchor="t"/>
          <a:lstStyle/>
          <a:p>
            <a:pPr indent="0" marL="0">
              <a:lnSpc>
                <a:spcPct val="114000"/>
              </a:lnSpc>
              <a:buNone/>
            </a:pPr>
            <a:r>
              <a:rPr lang="en-US" sz="1200" dirty="0">
                <a:solidFill>
                  <a:srgbClr val="1C1C1C"/>
                </a:solidFill>
                <a:latin typeface="Calibri" pitchFamily="34" charset="0"/>
                <a:ea typeface="Calibri" pitchFamily="34" charset="-122"/>
                <a:cs typeface="Calibri" pitchFamily="34" charset="-120"/>
              </a:rPr>
              <a:t>Mira si las diferencias caen siempre del mismo lado, en vez de promediarlas</a:t>
            </a:r>
            <a:endParaRPr lang="en-US" sz="1200" dirty="0"/>
          </a:p>
        </p:txBody>
      </p:sp>
      <p:sp>
        <p:nvSpPr>
          <p:cNvPr id="37" name="Text 35"/>
          <p:cNvSpPr txBox="1"/>
          <p:nvPr/>
        </p:nvSpPr>
        <p:spPr>
          <a:xfrm>
            <a:off x="6251296" y="4773168"/>
            <a:ext cx="2563292" cy="347472"/>
          </a:xfrm>
          <a:prstGeom prst="rect">
            <a:avLst/>
          </a:prstGeom>
          <a:noFill/>
          <a:ln/>
        </p:spPr>
        <p:txBody>
          <a:bodyPr wrap="square" lIns="0" tIns="0" rIns="0" bIns="0" rtlCol="0" anchor="ctr"/>
          <a:lstStyle/>
          <a:p>
            <a:pPr indent="0" marL="0">
              <a:buNone/>
            </a:pPr>
            <a:r>
              <a:rPr lang="en-US" sz="1500" b="1" dirty="0">
                <a:solidFill>
                  <a:srgbClr val="10394A"/>
                </a:solidFill>
                <a:latin typeface="Cambria" pitchFamily="34" charset="0"/>
                <a:ea typeface="Cambria" pitchFamily="34" charset="-122"/>
                <a:cs typeface="Cambria" pitchFamily="34" charset="-120"/>
              </a:rPr>
              <a:t>Umbral de relevancia</a:t>
            </a:r>
            <a:endParaRPr lang="en-US" sz="1500" dirty="0"/>
          </a:p>
        </p:txBody>
      </p:sp>
      <p:sp>
        <p:nvSpPr>
          <p:cNvPr id="38" name="Text 36"/>
          <p:cNvSpPr txBox="1"/>
          <p:nvPr/>
        </p:nvSpPr>
        <p:spPr>
          <a:xfrm>
            <a:off x="6251296" y="5157216"/>
            <a:ext cx="2563292" cy="1005840"/>
          </a:xfrm>
          <a:prstGeom prst="rect">
            <a:avLst/>
          </a:prstGeom>
          <a:noFill/>
          <a:ln/>
        </p:spPr>
        <p:txBody>
          <a:bodyPr wrap="square" lIns="0" tIns="0" rIns="0" bIns="0" rtlCol="0" anchor="t"/>
          <a:lstStyle/>
          <a:p>
            <a:pPr indent="0" marL="0">
              <a:lnSpc>
                <a:spcPct val="114000"/>
              </a:lnSpc>
              <a:buNone/>
            </a:pPr>
            <a:r>
              <a:rPr lang="en-US" sz="1200" dirty="0">
                <a:solidFill>
                  <a:srgbClr val="1C1C1C"/>
                </a:solidFill>
                <a:latin typeface="Calibri" pitchFamily="34" charset="0"/>
                <a:ea typeface="Calibri" pitchFamily="34" charset="-122"/>
                <a:cs typeface="Calibri" pitchFamily="34" charset="-120"/>
              </a:rPr>
              <a:t>Por debajo de 9,33 €/semana lo doy por empate. Fijado antes de simular</a:t>
            </a:r>
            <a:endParaRPr lang="en-US" sz="1200" dirty="0"/>
          </a:p>
        </p:txBody>
      </p:sp>
      <p:sp>
        <p:nvSpPr>
          <p:cNvPr id="39" name="Text 37"/>
          <p:cNvSpPr txBox="1"/>
          <p:nvPr/>
        </p:nvSpPr>
        <p:spPr>
          <a:xfrm>
            <a:off x="9125483" y="4773168"/>
            <a:ext cx="2563292" cy="347472"/>
          </a:xfrm>
          <a:prstGeom prst="rect">
            <a:avLst/>
          </a:prstGeom>
          <a:noFill/>
          <a:ln/>
        </p:spPr>
        <p:txBody>
          <a:bodyPr wrap="square" lIns="0" tIns="0" rIns="0" bIns="0" rtlCol="0" anchor="ctr"/>
          <a:lstStyle/>
          <a:p>
            <a:pPr indent="0" marL="0">
              <a:buNone/>
            </a:pPr>
            <a:r>
              <a:rPr lang="en-US" sz="1500" b="1" dirty="0">
                <a:solidFill>
                  <a:srgbClr val="10394A"/>
                </a:solidFill>
                <a:latin typeface="Cambria" pitchFamily="34" charset="0"/>
                <a:ea typeface="Cambria" pitchFamily="34" charset="-122"/>
                <a:cs typeface="Cambria" pitchFamily="34" charset="-120"/>
              </a:rPr>
              <a:t>Oráculo</a:t>
            </a:r>
            <a:endParaRPr lang="en-US" sz="1500" dirty="0"/>
          </a:p>
        </p:txBody>
      </p:sp>
      <p:sp>
        <p:nvSpPr>
          <p:cNvPr id="40" name="Text 38"/>
          <p:cNvSpPr txBox="1"/>
          <p:nvPr/>
        </p:nvSpPr>
        <p:spPr>
          <a:xfrm>
            <a:off x="9125483" y="5157216"/>
            <a:ext cx="2563292" cy="1005840"/>
          </a:xfrm>
          <a:prstGeom prst="rect">
            <a:avLst/>
          </a:prstGeom>
          <a:noFill/>
          <a:ln/>
        </p:spPr>
        <p:txBody>
          <a:bodyPr wrap="square" lIns="0" tIns="0" rIns="0" bIns="0" rtlCol="0" anchor="t"/>
          <a:lstStyle/>
          <a:p>
            <a:pPr indent="0" marL="0">
              <a:lnSpc>
                <a:spcPct val="114000"/>
              </a:lnSpc>
              <a:buNone/>
            </a:pPr>
            <a:r>
              <a:rPr lang="en-US" sz="1200" dirty="0">
                <a:solidFill>
                  <a:srgbClr val="1C1C1C"/>
                </a:solidFill>
                <a:latin typeface="Calibri" pitchFamily="34" charset="0"/>
                <a:ea typeface="Calibri" pitchFamily="34" charset="-122"/>
                <a:cs typeface="Calibri" pitchFamily="34" charset="-120"/>
              </a:rPr>
              <a:t>La misma tanda con previsión perfecta: marca el techo de lo alcanzable</a:t>
            </a:r>
            <a:endParaRPr lang="en-US" sz="1200" dirty="0"/>
          </a:p>
        </p:txBody>
      </p:sp>
      <p:sp>
        <p:nvSpPr>
          <p:cNvPr id="41" name="Text 39"/>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LOS TRES EMS  ·  5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Versión A: la referencia ya es una heurística madura</a:t>
            </a:r>
            <a:endParaRPr lang="en-US" sz="2600" dirty="0"/>
          </a:p>
        </p:txBody>
      </p:sp>
      <p:sp>
        <p:nvSpPr>
          <p:cNvPr id="4" name="Text 2"/>
          <p:cNvSpPr txBox="1"/>
          <p:nvPr/>
        </p:nvSpPr>
        <p:spPr>
          <a:xfrm>
            <a:off x="502920" y="1536192"/>
            <a:ext cx="11185855" cy="274320"/>
          </a:xfrm>
          <a:prstGeom prst="rect">
            <a:avLst/>
          </a:prstGeom>
          <a:noFill/>
          <a:ln/>
        </p:spPr>
        <p:txBody>
          <a:bodyPr wrap="square" lIns="0" tIns="0" rIns="0" bIns="0" rtlCol="0" anchor="ctr"/>
          <a:lstStyle/>
          <a:p>
            <a:pPr indent="0" marL="0">
              <a:buNone/>
            </a:pPr>
            <a:r>
              <a:rPr lang="en-US" sz="1050" b="1" spc="140" kern="0" dirty="0">
                <a:solidFill>
                  <a:srgbClr val="C8861E"/>
                </a:solidFill>
                <a:latin typeface="Calibri" pitchFamily="34" charset="0"/>
                <a:ea typeface="Calibri" pitchFamily="34" charset="-122"/>
                <a:cs typeface="Calibri" pitchFamily="34" charset="-120"/>
              </a:rPr>
              <a:t>VERSIÓN A · heurística de referencia, adaptada del TFM previo del grupo</a:t>
            </a:r>
            <a:endParaRPr lang="en-US" sz="1050" dirty="0"/>
          </a:p>
        </p:txBody>
      </p:sp>
      <p:sp>
        <p:nvSpPr>
          <p:cNvPr id="5" name="Text 3"/>
          <p:cNvSpPr txBox="1"/>
          <p:nvPr/>
        </p:nvSpPr>
        <p:spPr>
          <a:xfrm>
            <a:off x="502920" y="2039112"/>
            <a:ext cx="4480560" cy="45720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Reparto dinámico por estado de carga</a:t>
            </a:r>
            <a:endParaRPr lang="en-US" sz="1600" dirty="0"/>
          </a:p>
        </p:txBody>
      </p:sp>
      <p:sp>
        <p:nvSpPr>
          <p:cNvPr id="6" name="Text 4"/>
          <p:cNvSpPr txBox="1"/>
          <p:nvPr/>
        </p:nvSpPr>
        <p:spPr>
          <a:xfrm>
            <a:off x="5166360" y="2039112"/>
            <a:ext cx="6522415" cy="457200"/>
          </a:xfrm>
          <a:prstGeom prst="rect">
            <a:avLst/>
          </a:prstGeom>
          <a:noFill/>
          <a:ln/>
        </p:spPr>
        <p:txBody>
          <a:bodyPr wrap="square" lIns="0" tIns="0" rIns="0" bIns="0" rtlCol="0" anchor="ctr"/>
          <a:lstStyle/>
          <a:p>
            <a:pPr indent="0" marL="0">
              <a:buNone/>
            </a:pPr>
            <a:r>
              <a:rPr lang="en-US" sz="1350" dirty="0">
                <a:solidFill>
                  <a:srgbClr val="1C1C1C"/>
                </a:solidFill>
                <a:latin typeface="Calibri" pitchFamily="34" charset="0"/>
                <a:ea typeface="Calibri" pitchFamily="34" charset="-122"/>
                <a:cs typeface="Calibri" pitchFamily="34" charset="-120"/>
              </a:rPr>
              <a:t>80/20, 60/40 y 30/70 entre batería y electrolizador según el SOC</a:t>
            </a:r>
            <a:endParaRPr lang="en-US" sz="1350" dirty="0"/>
          </a:p>
        </p:txBody>
      </p:sp>
      <p:sp>
        <p:nvSpPr>
          <p:cNvPr id="7" name="Shape 5"/>
          <p:cNvSpPr/>
          <p:nvPr/>
        </p:nvSpPr>
        <p:spPr>
          <a:xfrm>
            <a:off x="502920" y="2752344"/>
            <a:ext cx="11185855" cy="0"/>
          </a:xfrm>
          <a:prstGeom prst="line">
            <a:avLst/>
          </a:prstGeom>
          <a:noFill/>
          <a:ln w="9525">
            <a:solidFill>
              <a:srgbClr val="DDE3E6"/>
            </a:solidFill>
            <a:prstDash val="solid"/>
          </a:ln>
        </p:spPr>
      </p:sp>
      <p:sp>
        <p:nvSpPr>
          <p:cNvPr id="8" name="Text 6"/>
          <p:cNvSpPr txBox="1"/>
          <p:nvPr/>
        </p:nvSpPr>
        <p:spPr>
          <a:xfrm>
            <a:off x="502920" y="2953512"/>
            <a:ext cx="4480560" cy="45720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Tiempo mínimo de funcionamiento</a:t>
            </a:r>
            <a:endParaRPr lang="en-US" sz="1600" dirty="0"/>
          </a:p>
        </p:txBody>
      </p:sp>
      <p:sp>
        <p:nvSpPr>
          <p:cNvPr id="9" name="Text 7"/>
          <p:cNvSpPr txBox="1"/>
          <p:nvPr/>
        </p:nvSpPr>
        <p:spPr>
          <a:xfrm>
            <a:off x="5166360" y="2953512"/>
            <a:ext cx="6522415" cy="457200"/>
          </a:xfrm>
          <a:prstGeom prst="rect">
            <a:avLst/>
          </a:prstGeom>
          <a:noFill/>
          <a:ln/>
        </p:spPr>
        <p:txBody>
          <a:bodyPr wrap="square" lIns="0" tIns="0" rIns="0" bIns="0" rtlCol="0" anchor="ctr"/>
          <a:lstStyle/>
          <a:p>
            <a:pPr indent="0" marL="0">
              <a:buNone/>
            </a:pPr>
            <a:r>
              <a:rPr lang="en-US" sz="1350" dirty="0">
                <a:solidFill>
                  <a:srgbClr val="1C1C1C"/>
                </a:solidFill>
                <a:latin typeface="Calibri" pitchFamily="34" charset="0"/>
                <a:ea typeface="Calibri" pitchFamily="34" charset="-122"/>
                <a:cs typeface="Calibri" pitchFamily="34" charset="-120"/>
              </a:rPr>
              <a:t>2 h con histéresis y anti-rebote en electrolizador y pila</a:t>
            </a:r>
            <a:endParaRPr lang="en-US" sz="1350" dirty="0"/>
          </a:p>
        </p:txBody>
      </p:sp>
      <p:sp>
        <p:nvSpPr>
          <p:cNvPr id="10" name="Shape 8"/>
          <p:cNvSpPr/>
          <p:nvPr/>
        </p:nvSpPr>
        <p:spPr>
          <a:xfrm>
            <a:off x="502920" y="3666744"/>
            <a:ext cx="11185855" cy="0"/>
          </a:xfrm>
          <a:prstGeom prst="line">
            <a:avLst/>
          </a:prstGeom>
          <a:noFill/>
          <a:ln w="9525">
            <a:solidFill>
              <a:srgbClr val="DDE3E6"/>
            </a:solidFill>
            <a:prstDash val="solid"/>
          </a:ln>
        </p:spPr>
      </p:sp>
      <p:sp>
        <p:nvSpPr>
          <p:cNvPr id="11" name="Text 9"/>
          <p:cNvSpPr txBox="1"/>
          <p:nvPr/>
        </p:nvSpPr>
        <p:spPr>
          <a:xfrm>
            <a:off x="502920" y="3867912"/>
            <a:ext cx="4480560" cy="45720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Gestión de las dos presiones</a:t>
            </a:r>
            <a:endParaRPr lang="en-US" sz="1600" dirty="0"/>
          </a:p>
        </p:txBody>
      </p:sp>
      <p:sp>
        <p:nvSpPr>
          <p:cNvPr id="12" name="Text 10"/>
          <p:cNvSpPr txBox="1"/>
          <p:nvPr/>
        </p:nvSpPr>
        <p:spPr>
          <a:xfrm>
            <a:off x="5166360" y="3867912"/>
            <a:ext cx="6522415" cy="457200"/>
          </a:xfrm>
          <a:prstGeom prst="rect">
            <a:avLst/>
          </a:prstGeom>
          <a:noFill/>
          <a:ln/>
        </p:spPr>
        <p:txBody>
          <a:bodyPr wrap="square" lIns="0" tIns="0" rIns="0" bIns="0" rtlCol="0" anchor="ctr"/>
          <a:lstStyle/>
          <a:p>
            <a:pPr indent="0" marL="0">
              <a:buNone/>
            </a:pPr>
            <a:r>
              <a:rPr lang="en-US" sz="1350" dirty="0">
                <a:solidFill>
                  <a:srgbClr val="1C1C1C"/>
                </a:solidFill>
                <a:latin typeface="Calibri" pitchFamily="34" charset="0"/>
                <a:ea typeface="Calibri" pitchFamily="34" charset="-122"/>
                <a:cs typeface="Calibri" pitchFamily="34" charset="-120"/>
              </a:rPr>
              <a:t>Tanque pulmón, compresor y tanque surtidor con sus umbrales</a:t>
            </a:r>
            <a:endParaRPr lang="en-US" sz="1350" dirty="0"/>
          </a:p>
        </p:txBody>
      </p:sp>
      <p:sp>
        <p:nvSpPr>
          <p:cNvPr id="13" name="Shape 11"/>
          <p:cNvSpPr/>
          <p:nvPr/>
        </p:nvSpPr>
        <p:spPr>
          <a:xfrm>
            <a:off x="502920" y="4581144"/>
            <a:ext cx="11185855" cy="0"/>
          </a:xfrm>
          <a:prstGeom prst="line">
            <a:avLst/>
          </a:prstGeom>
          <a:noFill/>
          <a:ln w="9525">
            <a:solidFill>
              <a:srgbClr val="DDE3E6"/>
            </a:solidFill>
            <a:prstDash val="solid"/>
          </a:ln>
        </p:spPr>
      </p:sp>
      <p:sp>
        <p:nvSpPr>
          <p:cNvPr id="14" name="Text 12"/>
          <p:cNvSpPr txBox="1"/>
          <p:nvPr/>
        </p:nvSpPr>
        <p:spPr>
          <a:xfrm>
            <a:off x="502920" y="4782312"/>
            <a:ext cx="4480560" cy="45720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Decisión económica de producir</a:t>
            </a:r>
            <a:endParaRPr lang="en-US" sz="1600" dirty="0"/>
          </a:p>
        </p:txBody>
      </p:sp>
      <p:sp>
        <p:nvSpPr>
          <p:cNvPr id="15" name="Text 13"/>
          <p:cNvSpPr txBox="1"/>
          <p:nvPr/>
        </p:nvSpPr>
        <p:spPr>
          <a:xfrm>
            <a:off x="5166360" y="4782312"/>
            <a:ext cx="6522415" cy="457200"/>
          </a:xfrm>
          <a:prstGeom prst="rect">
            <a:avLst/>
          </a:prstGeom>
          <a:noFill/>
          <a:ln/>
        </p:spPr>
        <p:txBody>
          <a:bodyPr wrap="square" lIns="0" tIns="0" rIns="0" bIns="0" rtlCol="0" anchor="ctr"/>
          <a:lstStyle/>
          <a:p>
            <a:pPr indent="0" marL="0">
              <a:buNone/>
            </a:pPr>
            <a:r>
              <a:rPr lang="en-US" sz="1350" dirty="0">
                <a:solidFill>
                  <a:srgbClr val="1C1C1C"/>
                </a:solidFill>
                <a:latin typeface="Calibri" pitchFamily="34" charset="0"/>
                <a:ea typeface="Calibri" pitchFamily="34" charset="-122"/>
                <a:cs typeface="Calibri" pitchFamily="34" charset="-120"/>
              </a:rPr>
              <a:t>Compara el coste del kilogramo producido con su precio de reposición</a:t>
            </a:r>
            <a:endParaRPr lang="en-US" sz="1350" dirty="0"/>
          </a:p>
        </p:txBody>
      </p:sp>
      <p:sp>
        <p:nvSpPr>
          <p:cNvPr id="16" name="Shape 14"/>
          <p:cNvSpPr/>
          <p:nvPr/>
        </p:nvSpPr>
        <p:spPr>
          <a:xfrm>
            <a:off x="502920" y="5532120"/>
            <a:ext cx="11185855" cy="566928"/>
          </a:xfrm>
          <a:prstGeom prst="roundRect">
            <a:avLst>
              <a:gd name="adj" fmla="val 9677"/>
            </a:avLst>
          </a:prstGeom>
          <a:solidFill>
            <a:srgbClr val="10394A"/>
          </a:solidFill>
          <a:ln/>
        </p:spPr>
      </p:sp>
      <p:sp>
        <p:nvSpPr>
          <p:cNvPr id="17" name="Text 15"/>
          <p:cNvSpPr txBox="1"/>
          <p:nvPr/>
        </p:nvSpPr>
        <p:spPr>
          <a:xfrm>
            <a:off x="777240" y="5550408"/>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No es una regla ingenua construida para perder: es el punto de partida contra el que hay que medirse.</a:t>
            </a:r>
            <a:endParaRPr lang="en-US" sz="1350" dirty="0"/>
          </a:p>
        </p:txBody>
      </p:sp>
      <p:sp>
        <p:nvSpPr>
          <p:cNvPr id="18" name="Text 16"/>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LOS TRES EMS  ·  5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Versión B: la previsión mejora sistemáticamente el servicio de hidrógeno</a:t>
            </a:r>
            <a:endParaRPr lang="en-US" sz="2600" dirty="0"/>
          </a:p>
        </p:txBody>
      </p:sp>
      <p:sp>
        <p:nvSpPr>
          <p:cNvPr id="4" name="Text 2"/>
          <p:cNvSpPr txBox="1"/>
          <p:nvPr/>
        </p:nvSpPr>
        <p:spPr>
          <a:xfrm>
            <a:off x="502920" y="1536192"/>
            <a:ext cx="11185855" cy="274320"/>
          </a:xfrm>
          <a:prstGeom prst="rect">
            <a:avLst/>
          </a:prstGeom>
          <a:noFill/>
          <a:ln/>
        </p:spPr>
        <p:txBody>
          <a:bodyPr wrap="square" lIns="0" tIns="0" rIns="0" bIns="0" rtlCol="0" anchor="ctr"/>
          <a:lstStyle/>
          <a:p>
            <a:pPr indent="0" marL="0">
              <a:buNone/>
            </a:pPr>
            <a:r>
              <a:rPr lang="en-US" sz="1050" b="1" spc="140" kern="0" dirty="0">
                <a:solidFill>
                  <a:srgbClr val="C8861E"/>
                </a:solidFill>
                <a:latin typeface="Calibri" pitchFamily="34" charset="0"/>
                <a:ea typeface="Calibri" pitchFamily="34" charset="-122"/>
                <a:cs typeface="Calibri" pitchFamily="34" charset="-120"/>
              </a:rPr>
              <a:t>VERSIÓN B · las dos previsiones inyectadas en las reglas de A</a:t>
            </a:r>
            <a:endParaRPr lang="en-US" sz="1050" dirty="0"/>
          </a:p>
        </p:txBody>
      </p:sp>
      <p:sp>
        <p:nvSpPr>
          <p:cNvPr id="5" name="Text 3"/>
          <p:cNvSpPr txBox="1"/>
          <p:nvPr/>
        </p:nvSpPr>
        <p:spPr>
          <a:xfrm>
            <a:off x="502920" y="1947672"/>
            <a:ext cx="11185855" cy="310896"/>
          </a:xfrm>
          <a:prstGeom prst="rect">
            <a:avLst/>
          </a:prstGeom>
          <a:noFill/>
          <a:ln/>
        </p:spPr>
        <p:txBody>
          <a:bodyPr wrap="square" lIns="0" tIns="0" rIns="0" bIns="0" rtlCol="0" anchor="ctr"/>
          <a:lstStyle/>
          <a:p>
            <a:pPr indent="0" marL="0">
              <a:buNone/>
            </a:pPr>
            <a:r>
              <a:rPr lang="en-US" sz="1350" dirty="0">
                <a:solidFill>
                  <a:srgbClr val="1C1C1C"/>
                </a:solidFill>
                <a:latin typeface="Calibri" pitchFamily="34" charset="0"/>
                <a:ea typeface="Calibri" pitchFamily="34" charset="-122"/>
                <a:cs typeface="Calibri" pitchFamily="34" charset="-120"/>
              </a:rPr>
              <a:t>— La previsión solar desplaza el reparto cuando anticipa una caída del excedente</a:t>
            </a:r>
            <a:endParaRPr lang="en-US" sz="1350" dirty="0"/>
          </a:p>
        </p:txBody>
      </p:sp>
      <p:sp>
        <p:nvSpPr>
          <p:cNvPr id="6" name="Text 4"/>
          <p:cNvSpPr txBox="1"/>
          <p:nvPr/>
        </p:nvSpPr>
        <p:spPr>
          <a:xfrm>
            <a:off x="502920" y="2276856"/>
            <a:ext cx="11185855" cy="310896"/>
          </a:xfrm>
          <a:prstGeom prst="rect">
            <a:avLst/>
          </a:prstGeom>
          <a:noFill/>
          <a:ln/>
        </p:spPr>
        <p:txBody>
          <a:bodyPr wrap="square" lIns="0" tIns="0" rIns="0" bIns="0" rtlCol="0" anchor="ctr"/>
          <a:lstStyle/>
          <a:p>
            <a:pPr indent="0" marL="0">
              <a:buNone/>
            </a:pPr>
            <a:r>
              <a:rPr lang="en-US" sz="1350" dirty="0">
                <a:solidFill>
                  <a:srgbClr val="1C1C1C"/>
                </a:solidFill>
                <a:latin typeface="Calibri" pitchFamily="34" charset="0"/>
                <a:ea typeface="Calibri" pitchFamily="34" charset="-122"/>
                <a:cs typeface="Calibri" pitchFamily="34" charset="-120"/>
              </a:rPr>
              <a:t>— La previsión de precio gobierna un arbitraje de batería dimensionado por margen económico</a:t>
            </a:r>
            <a:endParaRPr lang="en-US" sz="1350" dirty="0"/>
          </a:p>
        </p:txBody>
      </p:sp>
      <p:sp>
        <p:nvSpPr>
          <p:cNvPr id="7" name="Text 5"/>
          <p:cNvSpPr txBox="1"/>
          <p:nvPr/>
        </p:nvSpPr>
        <p:spPr>
          <a:xfrm>
            <a:off x="502920" y="2788920"/>
            <a:ext cx="3545738" cy="566928"/>
          </a:xfrm>
          <a:prstGeom prst="rect">
            <a:avLst/>
          </a:prstGeom>
          <a:noFill/>
          <a:ln/>
        </p:spPr>
        <p:txBody>
          <a:bodyPr wrap="square" lIns="0" tIns="0" rIns="0" bIns="0" rtlCol="0" anchor="ctr"/>
          <a:lstStyle/>
          <a:p>
            <a:pPr indent="0" marL="0">
              <a:buNone/>
            </a:pPr>
            <a:r>
              <a:rPr lang="en-US" sz="3800" b="1" dirty="0">
                <a:solidFill>
                  <a:srgbClr val="C8861E"/>
                </a:solidFill>
                <a:latin typeface="Cambria" pitchFamily="34" charset="0"/>
                <a:ea typeface="Cambria" pitchFamily="34" charset="-122"/>
                <a:cs typeface="Cambria" pitchFamily="34" charset="-120"/>
              </a:rPr>
              <a:t>39 / 40</a:t>
            </a:r>
            <a:endParaRPr lang="en-US" sz="3800" dirty="0"/>
          </a:p>
        </p:txBody>
      </p:sp>
      <p:sp>
        <p:nvSpPr>
          <p:cNvPr id="8" name="Text 6"/>
          <p:cNvSpPr txBox="1"/>
          <p:nvPr/>
        </p:nvSpPr>
        <p:spPr>
          <a:xfrm>
            <a:off x="502920" y="3337560"/>
            <a:ext cx="3545738"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pares con el tanque de alta más lleno que la heurística</a:t>
            </a:r>
            <a:endParaRPr lang="en-US" sz="1200" dirty="0"/>
          </a:p>
        </p:txBody>
      </p:sp>
      <p:sp>
        <p:nvSpPr>
          <p:cNvPr id="9" name="Text 7"/>
          <p:cNvSpPr txBox="1"/>
          <p:nvPr/>
        </p:nvSpPr>
        <p:spPr>
          <a:xfrm>
            <a:off x="4322978" y="2788920"/>
            <a:ext cx="3545738" cy="566928"/>
          </a:xfrm>
          <a:prstGeom prst="rect">
            <a:avLst/>
          </a:prstGeom>
          <a:noFill/>
          <a:ln/>
        </p:spPr>
        <p:txBody>
          <a:bodyPr wrap="square" lIns="0" tIns="0" rIns="0" bIns="0" rtlCol="0" anchor="ctr"/>
          <a:lstStyle/>
          <a:p>
            <a:pPr indent="0" marL="0">
              <a:buNone/>
            </a:pPr>
            <a:r>
              <a:rPr lang="en-US" sz="3800" b="1" dirty="0">
                <a:solidFill>
                  <a:srgbClr val="C8861E"/>
                </a:solidFill>
                <a:latin typeface="Cambria" pitchFamily="34" charset="0"/>
                <a:ea typeface="Cambria" pitchFamily="34" charset="-122"/>
                <a:cs typeface="Cambria" pitchFamily="34" charset="-120"/>
              </a:rPr>
              <a:t>× 10</a:t>
            </a:r>
            <a:endParaRPr lang="en-US" sz="3800" dirty="0"/>
          </a:p>
        </p:txBody>
      </p:sp>
      <p:sp>
        <p:nvSpPr>
          <p:cNvPr id="10" name="Text 8"/>
          <p:cNvSpPr txBox="1"/>
          <p:nvPr/>
        </p:nvSpPr>
        <p:spPr>
          <a:xfrm>
            <a:off x="4322978" y="3337560"/>
            <a:ext cx="3545738"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escala la mejora al pasar de la previsión real a la perfecta</a:t>
            </a:r>
            <a:endParaRPr lang="en-US" sz="1200" dirty="0"/>
          </a:p>
        </p:txBody>
      </p:sp>
      <p:sp>
        <p:nvSpPr>
          <p:cNvPr id="11" name="Text 9"/>
          <p:cNvSpPr txBox="1"/>
          <p:nvPr/>
        </p:nvSpPr>
        <p:spPr>
          <a:xfrm>
            <a:off x="8143037" y="2788920"/>
            <a:ext cx="3545738" cy="566928"/>
          </a:xfrm>
          <a:prstGeom prst="rect">
            <a:avLst/>
          </a:prstGeom>
          <a:noFill/>
          <a:ln/>
        </p:spPr>
        <p:txBody>
          <a:bodyPr wrap="square" lIns="0" tIns="0" rIns="0" bIns="0" rtlCol="0" anchor="ctr"/>
          <a:lstStyle/>
          <a:p>
            <a:pPr indent="0" marL="0">
              <a:buNone/>
            </a:pPr>
            <a:r>
              <a:rPr lang="en-US" sz="3800" b="1" dirty="0">
                <a:solidFill>
                  <a:srgbClr val="C8861E"/>
                </a:solidFill>
                <a:latin typeface="Cambria" pitchFamily="34" charset="0"/>
                <a:ea typeface="Cambria" pitchFamily="34" charset="-122"/>
                <a:cs typeface="Cambria" pitchFamily="34" charset="-120"/>
              </a:rPr>
              <a:t>− 18,9 pts</a:t>
            </a:r>
            <a:endParaRPr lang="en-US" sz="3800" dirty="0"/>
          </a:p>
        </p:txBody>
      </p:sp>
      <p:sp>
        <p:nvSpPr>
          <p:cNvPr id="12" name="Text 10"/>
          <p:cNvSpPr txBox="1"/>
          <p:nvPr/>
        </p:nvSpPr>
        <p:spPr>
          <a:xfrm>
            <a:off x="8143037" y="3337560"/>
            <a:ext cx="3545738"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de tiempo en nivel crítico con oráculo, en el día nublado</a:t>
            </a:r>
            <a:endParaRPr lang="en-US" sz="1200" dirty="0"/>
          </a:p>
        </p:txBody>
      </p:sp>
      <p:sp>
        <p:nvSpPr>
          <p:cNvPr id="13" name="Text 11"/>
          <p:cNvSpPr txBox="1"/>
          <p:nvPr/>
        </p:nvSpPr>
        <p:spPr>
          <a:xfrm>
            <a:off x="502920" y="4434840"/>
            <a:ext cx="11185855" cy="411480"/>
          </a:xfrm>
          <a:prstGeom prst="rect">
            <a:avLst/>
          </a:prstGeom>
          <a:noFill/>
          <a:ln/>
        </p:spPr>
        <p:txBody>
          <a:bodyPr wrap="square" lIns="0" tIns="0" rIns="0" bIns="0" rtlCol="0" anchor="ctr"/>
          <a:lstStyle/>
          <a:p>
            <a:pPr indent="0" marL="0">
              <a:buNone/>
            </a:pPr>
            <a:r>
              <a:rPr lang="en-US" sz="1200" i="1" dirty="0">
                <a:solidFill>
                  <a:srgbClr val="5F6B72"/>
                </a:solidFill>
                <a:latin typeface="Calibri" pitchFamily="34" charset="0"/>
                <a:ea typeface="Calibri" pitchFamily="34" charset="-122"/>
                <a:cs typeface="Calibri" pitchFamily="34" charset="-120"/>
              </a:rPr>
              <a:t>En coste empata con la heurística: −0,13 €/día sobre un recibo diario de ≈45 €, no significativo, y tampoco gana con previsión perfecta.</a:t>
            </a:r>
            <a:endParaRPr lang="en-US" sz="1200" dirty="0"/>
          </a:p>
        </p:txBody>
      </p:sp>
      <p:sp>
        <p:nvSpPr>
          <p:cNvPr id="14" name="Shape 12"/>
          <p:cNvSpPr/>
          <p:nvPr/>
        </p:nvSpPr>
        <p:spPr>
          <a:xfrm>
            <a:off x="502920" y="5029200"/>
            <a:ext cx="11185855" cy="841248"/>
          </a:xfrm>
          <a:prstGeom prst="roundRect">
            <a:avLst>
              <a:gd name="adj" fmla="val 6522"/>
            </a:avLst>
          </a:prstGeom>
          <a:solidFill>
            <a:srgbClr val="10394A"/>
          </a:solidFill>
          <a:ln/>
        </p:spPr>
      </p:sp>
      <p:sp>
        <p:nvSpPr>
          <p:cNvPr id="15" name="Text 13"/>
          <p:cNvSpPr txBox="1"/>
          <p:nvPr/>
        </p:nvSpPr>
        <p:spPr>
          <a:xfrm>
            <a:off x="777240" y="5047488"/>
            <a:ext cx="10637215" cy="80467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De ese empate sale la regla de diseño que se aplica después: la acción disparada por una previsión debe estar condicionada, y su magnitud salir del margen económico disponible, no de una constante.</a:t>
            </a:r>
            <a:endParaRPr lang="en-US" sz="1350" dirty="0"/>
          </a:p>
        </p:txBody>
      </p:sp>
      <p:sp>
        <p:nvSpPr>
          <p:cNvPr id="16" name="Text 14"/>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LOS TRES EMS  ·  5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La batería estaba al 85 % mientras el electrolizador compraba red</a:t>
            </a:r>
            <a:endParaRPr lang="en-US" sz="2600" dirty="0"/>
          </a:p>
        </p:txBody>
      </p:sp>
      <p:pic>
        <p:nvPicPr>
          <p:cNvPr id="4" name="Image 0" descr="img/fig_res_destino_import.png">    </p:cNvPr>
          <p:cNvPicPr>
            <a:picLocks noChangeAspect="1"/>
          </p:cNvPicPr>
          <p:nvPr/>
        </p:nvPicPr>
        <p:blipFill>
          <a:blip r:embed="rId1"/>
          <a:stretch>
            <a:fillRect/>
          </a:stretch>
        </p:blipFill>
        <p:spPr>
          <a:xfrm>
            <a:off x="502920" y="1755291"/>
            <a:ext cx="6035040" cy="3448003"/>
          </a:xfrm>
          <a:prstGeom prst="rect">
            <a:avLst/>
          </a:prstGeom>
        </p:spPr>
      </p:pic>
      <p:sp>
        <p:nvSpPr>
          <p:cNvPr id="5" name="Text 2"/>
          <p:cNvSpPr txBox="1"/>
          <p:nvPr/>
        </p:nvSpPr>
        <p:spPr>
          <a:xfrm>
            <a:off x="6858000" y="1627632"/>
            <a:ext cx="4846320" cy="566928"/>
          </a:xfrm>
          <a:prstGeom prst="rect">
            <a:avLst/>
          </a:prstGeom>
          <a:noFill/>
          <a:ln/>
        </p:spPr>
        <p:txBody>
          <a:bodyPr wrap="square" lIns="0" tIns="0" rIns="0" bIns="0" rtlCol="0" anchor="ctr"/>
          <a:lstStyle/>
          <a:p>
            <a:pPr indent="0" marL="0">
              <a:buNone/>
            </a:pPr>
            <a:r>
              <a:rPr lang="en-US" sz="3200" b="1" dirty="0">
                <a:solidFill>
                  <a:srgbClr val="C8861E"/>
                </a:solidFill>
                <a:latin typeface="Cambria" pitchFamily="34" charset="0"/>
                <a:ea typeface="Cambria" pitchFamily="34" charset="-122"/>
                <a:cs typeface="Cambria" pitchFamily="34" charset="-120"/>
              </a:rPr>
              <a:t>76 %</a:t>
            </a:r>
            <a:endParaRPr lang="en-US" sz="3200" dirty="0"/>
          </a:p>
        </p:txBody>
      </p:sp>
      <p:sp>
        <p:nvSpPr>
          <p:cNvPr id="6" name="Text 3"/>
          <p:cNvSpPr txBox="1"/>
          <p:nvPr/>
        </p:nvSpPr>
        <p:spPr>
          <a:xfrm>
            <a:off x="6858000" y="2176272"/>
            <a:ext cx="4846320"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de la importación semanal va al electrolizador: 1 006 de 1 321 kWh</a:t>
            </a:r>
            <a:endParaRPr lang="en-US" sz="1200" dirty="0"/>
          </a:p>
        </p:txBody>
      </p:sp>
      <p:sp>
        <p:nvSpPr>
          <p:cNvPr id="7" name="Text 4"/>
          <p:cNvSpPr txBox="1"/>
          <p:nvPr/>
        </p:nvSpPr>
        <p:spPr>
          <a:xfrm>
            <a:off x="6858000" y="2999232"/>
            <a:ext cx="4846320" cy="566928"/>
          </a:xfrm>
          <a:prstGeom prst="rect">
            <a:avLst/>
          </a:prstGeom>
          <a:noFill/>
          <a:ln/>
        </p:spPr>
        <p:txBody>
          <a:bodyPr wrap="square" lIns="0" tIns="0" rIns="0" bIns="0" rtlCol="0" anchor="ctr"/>
          <a:lstStyle/>
          <a:p>
            <a:pPr indent="0" marL="0">
              <a:buNone/>
            </a:pPr>
            <a:r>
              <a:rPr lang="en-US" sz="3200" b="1" dirty="0">
                <a:solidFill>
                  <a:srgbClr val="C8861E"/>
                </a:solidFill>
                <a:latin typeface="Cambria" pitchFamily="34" charset="0"/>
                <a:ea typeface="Cambria" pitchFamily="34" charset="-122"/>
                <a:cs typeface="Cambria" pitchFamily="34" charset="-120"/>
              </a:rPr>
              <a:t>121,5 €/MWh</a:t>
            </a:r>
            <a:endParaRPr lang="en-US" sz="3200" dirty="0"/>
          </a:p>
        </p:txBody>
      </p:sp>
      <p:sp>
        <p:nvSpPr>
          <p:cNvPr id="8" name="Text 5"/>
          <p:cNvSpPr txBox="1"/>
          <p:nvPr/>
        </p:nvSpPr>
        <p:spPr>
          <a:xfrm>
            <a:off x="6858000" y="3547872"/>
            <a:ext cx="4846320"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precio ponderado al que compra esa energía</a:t>
            </a:r>
            <a:endParaRPr lang="en-US" sz="1200" dirty="0"/>
          </a:p>
        </p:txBody>
      </p:sp>
      <p:sp>
        <p:nvSpPr>
          <p:cNvPr id="9" name="Text 6"/>
          <p:cNvSpPr txBox="1"/>
          <p:nvPr/>
        </p:nvSpPr>
        <p:spPr>
          <a:xfrm>
            <a:off x="6858000" y="4370832"/>
            <a:ext cx="4846320" cy="566928"/>
          </a:xfrm>
          <a:prstGeom prst="rect">
            <a:avLst/>
          </a:prstGeom>
          <a:noFill/>
          <a:ln/>
        </p:spPr>
        <p:txBody>
          <a:bodyPr wrap="square" lIns="0" tIns="0" rIns="0" bIns="0" rtlCol="0" anchor="ctr"/>
          <a:lstStyle/>
          <a:p>
            <a:pPr indent="0" marL="0">
              <a:buNone/>
            </a:pPr>
            <a:r>
              <a:rPr lang="en-US" sz="3200" b="1" dirty="0">
                <a:solidFill>
                  <a:srgbClr val="C8861E"/>
                </a:solidFill>
                <a:latin typeface="Cambria" pitchFamily="34" charset="0"/>
                <a:ea typeface="Cambria" pitchFamily="34" charset="-122"/>
                <a:cs typeface="Cambria" pitchFamily="34" charset="-120"/>
              </a:rPr>
              <a:t>85 %</a:t>
            </a:r>
            <a:endParaRPr lang="en-US" sz="3200" dirty="0"/>
          </a:p>
        </p:txBody>
      </p:sp>
      <p:sp>
        <p:nvSpPr>
          <p:cNvPr id="10" name="Text 7"/>
          <p:cNvSpPr txBox="1"/>
          <p:nvPr/>
        </p:nvSpPr>
        <p:spPr>
          <a:xfrm>
            <a:off x="6858000" y="4919472"/>
            <a:ext cx="4846320"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estado de carga medio de la batería en esos mismos instantes; nunca baja del 69 %</a:t>
            </a:r>
            <a:endParaRPr lang="en-US" sz="1200" dirty="0"/>
          </a:p>
        </p:txBody>
      </p:sp>
      <p:sp>
        <p:nvSpPr>
          <p:cNvPr id="11" name="Shape 8"/>
          <p:cNvSpPr/>
          <p:nvPr/>
        </p:nvSpPr>
        <p:spPr>
          <a:xfrm>
            <a:off x="502920" y="5623560"/>
            <a:ext cx="11185855" cy="566928"/>
          </a:xfrm>
          <a:prstGeom prst="roundRect">
            <a:avLst>
              <a:gd name="adj" fmla="val 9677"/>
            </a:avLst>
          </a:prstGeom>
          <a:solidFill>
            <a:srgbClr val="10394A"/>
          </a:solidFill>
          <a:ln/>
        </p:spPr>
      </p:sp>
      <p:sp>
        <p:nvSpPr>
          <p:cNvPr id="12" name="Text 9"/>
          <p:cNvSpPr txBox="1"/>
          <p:nvPr/>
        </p:nvSpPr>
        <p:spPr>
          <a:xfrm>
            <a:off x="777240" y="5641848"/>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En esa misma semana la estación exporta 14 012 kWh a 39,3 €/MWh: vende diez veces más energía de la que compra, y la compra tres veces más cara.</a:t>
            </a:r>
            <a:endParaRPr lang="en-US" sz="1350" dirty="0"/>
          </a:p>
        </p:txBody>
      </p:sp>
      <p:sp>
        <p:nvSpPr>
          <p:cNvPr id="13" name="Text 10"/>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LOS TRES EMS  ·  5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Versión C: separar de dónde sale la energía de cuándo conviene producir</a:t>
            </a:r>
            <a:endParaRPr lang="en-US" sz="2600" dirty="0"/>
          </a:p>
        </p:txBody>
      </p:sp>
      <p:sp>
        <p:nvSpPr>
          <p:cNvPr id="4" name="Text 2"/>
          <p:cNvSpPr txBox="1"/>
          <p:nvPr/>
        </p:nvSpPr>
        <p:spPr>
          <a:xfrm>
            <a:off x="502920" y="1517904"/>
            <a:ext cx="11185855" cy="256032"/>
          </a:xfrm>
          <a:prstGeom prst="rect">
            <a:avLst/>
          </a:prstGeom>
          <a:noFill/>
          <a:ln/>
        </p:spPr>
        <p:txBody>
          <a:bodyPr wrap="square" lIns="0" tIns="0" rIns="0" bIns="0" rtlCol="0" anchor="ctr"/>
          <a:lstStyle/>
          <a:p>
            <a:pPr indent="0" marL="0">
              <a:buNone/>
            </a:pPr>
            <a:r>
              <a:rPr lang="en-US" sz="1050" b="1" spc="130" kern="0" dirty="0">
                <a:solidFill>
                  <a:srgbClr val="C8861E"/>
                </a:solidFill>
                <a:latin typeface="Calibri" pitchFamily="34" charset="0"/>
                <a:ea typeface="Calibri" pitchFamily="34" charset="-122"/>
                <a:cs typeface="Calibri" pitchFamily="34" charset="-120"/>
              </a:rPr>
              <a:t>La lógica común, en cuatro pasos · la Versión C sustituye dos de ellos</a:t>
            </a:r>
            <a:endParaRPr lang="en-US" sz="1050" dirty="0"/>
          </a:p>
        </p:txBody>
      </p:sp>
      <p:sp>
        <p:nvSpPr>
          <p:cNvPr id="5" name="Shape 3"/>
          <p:cNvSpPr/>
          <p:nvPr/>
        </p:nvSpPr>
        <p:spPr>
          <a:xfrm>
            <a:off x="502920" y="1901952"/>
            <a:ext cx="2631872" cy="1188720"/>
          </a:xfrm>
          <a:prstGeom prst="roundRect">
            <a:avLst>
              <a:gd name="adj" fmla="val 3846"/>
            </a:avLst>
          </a:prstGeom>
          <a:solidFill>
            <a:srgbClr val="F1F5F7"/>
          </a:solidFill>
          <a:ln w="12700">
            <a:solidFill>
              <a:srgbClr val="DDE3E6"/>
            </a:solidFill>
            <a:prstDash val="solid"/>
          </a:ln>
        </p:spPr>
      </p:sp>
      <p:sp>
        <p:nvSpPr>
          <p:cNvPr id="6" name="Text 4"/>
          <p:cNvSpPr txBox="1"/>
          <p:nvPr/>
        </p:nvSpPr>
        <p:spPr>
          <a:xfrm>
            <a:off x="667512" y="2029968"/>
            <a:ext cx="2302688" cy="292608"/>
          </a:xfrm>
          <a:prstGeom prst="rect">
            <a:avLst/>
          </a:prstGeom>
          <a:noFill/>
          <a:ln/>
        </p:spPr>
        <p:txBody>
          <a:bodyPr wrap="square" lIns="0" tIns="0" rIns="0" bIns="0" rtlCol="0" anchor="ctr"/>
          <a:lstStyle/>
          <a:p>
            <a:pPr indent="0" marL="0">
              <a:buNone/>
            </a:pPr>
            <a:r>
              <a:rPr lang="en-US" sz="1300" b="1" dirty="0">
                <a:solidFill>
                  <a:srgbClr val="10394A"/>
                </a:solidFill>
                <a:latin typeface="Calibri" pitchFamily="34" charset="0"/>
                <a:ea typeface="Calibri" pitchFamily="34" charset="-122"/>
                <a:cs typeface="Calibri" pitchFamily="34" charset="-120"/>
              </a:rPr>
              <a:t>1 · Balance</a:t>
            </a:r>
            <a:endParaRPr lang="en-US" sz="1300" dirty="0"/>
          </a:p>
        </p:txBody>
      </p:sp>
      <p:sp>
        <p:nvSpPr>
          <p:cNvPr id="7" name="Text 5"/>
          <p:cNvSpPr txBox="1"/>
          <p:nvPr/>
        </p:nvSpPr>
        <p:spPr>
          <a:xfrm>
            <a:off x="667512" y="2359152"/>
            <a:ext cx="2302688" cy="621792"/>
          </a:xfrm>
          <a:prstGeom prst="rect">
            <a:avLst/>
          </a:prstGeom>
          <a:noFill/>
          <a:ln/>
        </p:spPr>
        <p:txBody>
          <a:bodyPr wrap="square" lIns="0" tIns="0" rIns="0" bIns="0" rtlCol="0" anchor="t"/>
          <a:lstStyle/>
          <a:p>
            <a:pPr indent="0" marL="0">
              <a:lnSpc>
                <a:spcPct val="112000"/>
              </a:lnSpc>
              <a:buNone/>
            </a:pPr>
            <a:r>
              <a:rPr lang="en-US" sz="1100" dirty="0">
                <a:solidFill>
                  <a:srgbClr val="5F6B72"/>
                </a:solidFill>
                <a:latin typeface="Calibri" pitchFamily="34" charset="0"/>
                <a:ea typeface="Calibri" pitchFamily="34" charset="-122"/>
                <a:cs typeface="Calibri" pitchFamily="34" charset="-120"/>
              </a:rPr>
              <a:t>Excedente = fotovoltaica − carga</a:t>
            </a:r>
            <a:endParaRPr lang="en-US" sz="1100" dirty="0"/>
          </a:p>
        </p:txBody>
      </p:sp>
      <p:sp>
        <p:nvSpPr>
          <p:cNvPr id="8" name="Shape 6"/>
          <p:cNvSpPr/>
          <p:nvPr/>
        </p:nvSpPr>
        <p:spPr>
          <a:xfrm>
            <a:off x="3162224" y="2496312"/>
            <a:ext cx="164592" cy="0"/>
          </a:xfrm>
          <a:prstGeom prst="line">
            <a:avLst/>
          </a:prstGeom>
          <a:noFill/>
          <a:ln w="12700">
            <a:solidFill>
              <a:srgbClr val="5F6B72"/>
            </a:solidFill>
            <a:prstDash val="solid"/>
            <a:tailEnd type="triangle"/>
          </a:ln>
        </p:spPr>
      </p:sp>
      <p:sp>
        <p:nvSpPr>
          <p:cNvPr id="9" name="Shape 7"/>
          <p:cNvSpPr/>
          <p:nvPr/>
        </p:nvSpPr>
        <p:spPr>
          <a:xfrm>
            <a:off x="3354248" y="1901952"/>
            <a:ext cx="2631872" cy="1188720"/>
          </a:xfrm>
          <a:prstGeom prst="roundRect">
            <a:avLst>
              <a:gd name="adj" fmla="val 3846"/>
            </a:avLst>
          </a:prstGeom>
          <a:solidFill>
            <a:srgbClr val="F1F5F7"/>
          </a:solidFill>
          <a:ln w="12700">
            <a:solidFill>
              <a:srgbClr val="DDE3E6"/>
            </a:solidFill>
            <a:prstDash val="solid"/>
          </a:ln>
        </p:spPr>
      </p:sp>
      <p:sp>
        <p:nvSpPr>
          <p:cNvPr id="10" name="Text 8"/>
          <p:cNvSpPr txBox="1"/>
          <p:nvPr/>
        </p:nvSpPr>
        <p:spPr>
          <a:xfrm>
            <a:off x="3518840" y="2029968"/>
            <a:ext cx="2302688" cy="292608"/>
          </a:xfrm>
          <a:prstGeom prst="rect">
            <a:avLst/>
          </a:prstGeom>
          <a:noFill/>
          <a:ln/>
        </p:spPr>
        <p:txBody>
          <a:bodyPr wrap="square" lIns="0" tIns="0" rIns="0" bIns="0" rtlCol="0" anchor="ctr"/>
          <a:lstStyle/>
          <a:p>
            <a:pPr indent="0" marL="0">
              <a:buNone/>
            </a:pPr>
            <a:r>
              <a:rPr lang="en-US" sz="1300" b="1" dirty="0">
                <a:solidFill>
                  <a:srgbClr val="10394A"/>
                </a:solidFill>
                <a:latin typeface="Calibri" pitchFamily="34" charset="0"/>
                <a:ea typeface="Calibri" pitchFamily="34" charset="-122"/>
                <a:cs typeface="Calibri" pitchFamily="34" charset="-120"/>
              </a:rPr>
              <a:t>2 · Sobra energía</a:t>
            </a:r>
            <a:endParaRPr lang="en-US" sz="1300" dirty="0"/>
          </a:p>
        </p:txBody>
      </p:sp>
      <p:sp>
        <p:nvSpPr>
          <p:cNvPr id="11" name="Text 9"/>
          <p:cNvSpPr txBox="1"/>
          <p:nvPr/>
        </p:nvSpPr>
        <p:spPr>
          <a:xfrm>
            <a:off x="3518840" y="2359152"/>
            <a:ext cx="2302688" cy="621792"/>
          </a:xfrm>
          <a:prstGeom prst="rect">
            <a:avLst/>
          </a:prstGeom>
          <a:noFill/>
          <a:ln/>
        </p:spPr>
        <p:txBody>
          <a:bodyPr wrap="square" lIns="0" tIns="0" rIns="0" bIns="0" rtlCol="0" anchor="t"/>
          <a:lstStyle/>
          <a:p>
            <a:pPr indent="0" marL="0">
              <a:lnSpc>
                <a:spcPct val="112000"/>
              </a:lnSpc>
              <a:buNone/>
            </a:pPr>
            <a:r>
              <a:rPr lang="en-US" sz="1100" dirty="0">
                <a:solidFill>
                  <a:srgbClr val="5F6B72"/>
                </a:solidFill>
                <a:latin typeface="Calibri" pitchFamily="34" charset="0"/>
                <a:ea typeface="Calibri" pitchFamily="34" charset="-122"/>
                <a:cs typeface="Calibri" pitchFamily="34" charset="-120"/>
              </a:rPr>
              <a:t>Repartir entre batería y electrolizador según el estado de carga</a:t>
            </a:r>
            <a:endParaRPr lang="en-US" sz="1100" dirty="0"/>
          </a:p>
        </p:txBody>
      </p:sp>
      <p:sp>
        <p:nvSpPr>
          <p:cNvPr id="12" name="Shape 10"/>
          <p:cNvSpPr/>
          <p:nvPr/>
        </p:nvSpPr>
        <p:spPr>
          <a:xfrm>
            <a:off x="6013552" y="2496312"/>
            <a:ext cx="164592" cy="0"/>
          </a:xfrm>
          <a:prstGeom prst="line">
            <a:avLst/>
          </a:prstGeom>
          <a:noFill/>
          <a:ln w="12700">
            <a:solidFill>
              <a:srgbClr val="5F6B72"/>
            </a:solidFill>
            <a:prstDash val="solid"/>
            <a:tailEnd type="triangle"/>
          </a:ln>
        </p:spPr>
      </p:sp>
      <p:sp>
        <p:nvSpPr>
          <p:cNvPr id="13" name="Shape 11"/>
          <p:cNvSpPr/>
          <p:nvPr/>
        </p:nvSpPr>
        <p:spPr>
          <a:xfrm>
            <a:off x="6205576" y="1901952"/>
            <a:ext cx="2631872" cy="1188720"/>
          </a:xfrm>
          <a:prstGeom prst="roundRect">
            <a:avLst>
              <a:gd name="adj" fmla="val 3846"/>
            </a:avLst>
          </a:prstGeom>
          <a:solidFill>
            <a:srgbClr val="FFFFFF"/>
          </a:solidFill>
          <a:ln w="19050">
            <a:solidFill>
              <a:srgbClr val="C8861E"/>
            </a:solidFill>
            <a:prstDash val="solid"/>
          </a:ln>
        </p:spPr>
      </p:sp>
      <p:sp>
        <p:nvSpPr>
          <p:cNvPr id="14" name="Text 12"/>
          <p:cNvSpPr txBox="1"/>
          <p:nvPr/>
        </p:nvSpPr>
        <p:spPr>
          <a:xfrm>
            <a:off x="6370168" y="2029968"/>
            <a:ext cx="2302688" cy="292608"/>
          </a:xfrm>
          <a:prstGeom prst="rect">
            <a:avLst/>
          </a:prstGeom>
          <a:noFill/>
          <a:ln/>
        </p:spPr>
        <p:txBody>
          <a:bodyPr wrap="square" lIns="0" tIns="0" rIns="0" bIns="0" rtlCol="0" anchor="ctr"/>
          <a:lstStyle/>
          <a:p>
            <a:pPr indent="0" marL="0">
              <a:buNone/>
            </a:pPr>
            <a:r>
              <a:rPr lang="en-US" sz="1300" b="1" dirty="0">
                <a:solidFill>
                  <a:srgbClr val="10394A"/>
                </a:solidFill>
                <a:latin typeface="Calibri" pitchFamily="34" charset="0"/>
                <a:ea typeface="Calibri" pitchFamily="34" charset="-122"/>
                <a:cs typeface="Calibri" pitchFamily="34" charset="-120"/>
              </a:rPr>
              <a:t>3 · Falta energía</a:t>
            </a:r>
            <a:endParaRPr lang="en-US" sz="1300" dirty="0"/>
          </a:p>
        </p:txBody>
      </p:sp>
      <p:sp>
        <p:nvSpPr>
          <p:cNvPr id="15" name="Text 13"/>
          <p:cNvSpPr txBox="1"/>
          <p:nvPr/>
        </p:nvSpPr>
        <p:spPr>
          <a:xfrm>
            <a:off x="6370168" y="2359152"/>
            <a:ext cx="2302688" cy="621792"/>
          </a:xfrm>
          <a:prstGeom prst="rect">
            <a:avLst/>
          </a:prstGeom>
          <a:noFill/>
          <a:ln/>
        </p:spPr>
        <p:txBody>
          <a:bodyPr wrap="square" lIns="0" tIns="0" rIns="0" bIns="0" rtlCol="0" anchor="t"/>
          <a:lstStyle/>
          <a:p>
            <a:pPr indent="0" marL="0">
              <a:lnSpc>
                <a:spcPct val="112000"/>
              </a:lnSpc>
              <a:buNone/>
            </a:pPr>
            <a:r>
              <a:rPr lang="en-US" sz="1100" dirty="0">
                <a:solidFill>
                  <a:srgbClr val="5F6B72"/>
                </a:solidFill>
                <a:latin typeface="Calibri" pitchFamily="34" charset="0"/>
                <a:ea typeface="Calibri" pitchFamily="34" charset="-122"/>
                <a:cs typeface="Calibri" pitchFamily="34" charset="-120"/>
              </a:rPr>
              <a:t>Cubrir el déficit por orden: batería, pila, red</a:t>
            </a:r>
            <a:endParaRPr lang="en-US" sz="1100" dirty="0"/>
          </a:p>
        </p:txBody>
      </p:sp>
      <p:sp>
        <p:nvSpPr>
          <p:cNvPr id="16" name="Shape 14"/>
          <p:cNvSpPr/>
          <p:nvPr/>
        </p:nvSpPr>
        <p:spPr>
          <a:xfrm>
            <a:off x="8453399" y="1755648"/>
            <a:ext cx="310896" cy="310896"/>
          </a:xfrm>
          <a:prstGeom prst="ellipse">
            <a:avLst/>
          </a:prstGeom>
          <a:solidFill>
            <a:srgbClr val="C8861E"/>
          </a:solidFill>
          <a:ln/>
        </p:spPr>
      </p:sp>
      <p:sp>
        <p:nvSpPr>
          <p:cNvPr id="17" name="Text 15"/>
          <p:cNvSpPr txBox="1"/>
          <p:nvPr/>
        </p:nvSpPr>
        <p:spPr>
          <a:xfrm>
            <a:off x="8453399" y="1755648"/>
            <a:ext cx="310896" cy="310896"/>
          </a:xfrm>
          <a:prstGeom prst="rect">
            <a:avLst/>
          </a:prstGeom>
          <a:noFill/>
          <a:ln/>
        </p:spPr>
        <p:txBody>
          <a:bodyPr wrap="square" lIns="0" tIns="0" rIns="0" bIns="0" rtlCol="0" anchor="ctr"/>
          <a:lstStyle/>
          <a:p>
            <a:pPr algn="ctr" indent="0" marL="0">
              <a:buNone/>
            </a:pPr>
            <a:r>
              <a:rPr lang="en-US" sz="1200" b="1" dirty="0">
                <a:solidFill>
                  <a:srgbClr val="10394A"/>
                </a:solidFill>
                <a:latin typeface="Calibri" pitchFamily="34" charset="0"/>
                <a:ea typeface="Calibri" pitchFamily="34" charset="-122"/>
                <a:cs typeface="Calibri" pitchFamily="34" charset="-120"/>
              </a:rPr>
              <a:t>1</a:t>
            </a:r>
            <a:endParaRPr lang="en-US" sz="1200" dirty="0"/>
          </a:p>
        </p:txBody>
      </p:sp>
      <p:sp>
        <p:nvSpPr>
          <p:cNvPr id="18" name="Shape 16"/>
          <p:cNvSpPr/>
          <p:nvPr/>
        </p:nvSpPr>
        <p:spPr>
          <a:xfrm>
            <a:off x="8864879" y="2496312"/>
            <a:ext cx="164592" cy="0"/>
          </a:xfrm>
          <a:prstGeom prst="line">
            <a:avLst/>
          </a:prstGeom>
          <a:noFill/>
          <a:ln w="12700">
            <a:solidFill>
              <a:srgbClr val="5F6B72"/>
            </a:solidFill>
            <a:prstDash val="solid"/>
            <a:tailEnd type="triangle"/>
          </a:ln>
        </p:spPr>
      </p:sp>
      <p:sp>
        <p:nvSpPr>
          <p:cNvPr id="19" name="Shape 17"/>
          <p:cNvSpPr/>
          <p:nvPr/>
        </p:nvSpPr>
        <p:spPr>
          <a:xfrm>
            <a:off x="9056903" y="1901952"/>
            <a:ext cx="2631872" cy="1188720"/>
          </a:xfrm>
          <a:prstGeom prst="roundRect">
            <a:avLst>
              <a:gd name="adj" fmla="val 3846"/>
            </a:avLst>
          </a:prstGeom>
          <a:solidFill>
            <a:srgbClr val="FFFFFF"/>
          </a:solidFill>
          <a:ln w="19050">
            <a:solidFill>
              <a:srgbClr val="C8861E"/>
            </a:solidFill>
            <a:prstDash val="solid"/>
          </a:ln>
        </p:spPr>
      </p:sp>
      <p:sp>
        <p:nvSpPr>
          <p:cNvPr id="20" name="Text 18"/>
          <p:cNvSpPr txBox="1"/>
          <p:nvPr/>
        </p:nvSpPr>
        <p:spPr>
          <a:xfrm>
            <a:off x="9221495" y="2029968"/>
            <a:ext cx="2302688" cy="292608"/>
          </a:xfrm>
          <a:prstGeom prst="rect">
            <a:avLst/>
          </a:prstGeom>
          <a:noFill/>
          <a:ln/>
        </p:spPr>
        <p:txBody>
          <a:bodyPr wrap="square" lIns="0" tIns="0" rIns="0" bIns="0" rtlCol="0" anchor="ctr"/>
          <a:lstStyle/>
          <a:p>
            <a:pPr indent="0" marL="0">
              <a:buNone/>
            </a:pPr>
            <a:r>
              <a:rPr lang="en-US" sz="1300" b="1" dirty="0">
                <a:solidFill>
                  <a:srgbClr val="10394A"/>
                </a:solidFill>
                <a:latin typeface="Calibri" pitchFamily="34" charset="0"/>
                <a:ea typeface="Calibri" pitchFamily="34" charset="-122"/>
                <a:cs typeface="Calibri" pitchFamily="34" charset="-120"/>
              </a:rPr>
              <a:t>4 · ¿Producir H₂?</a:t>
            </a:r>
            <a:endParaRPr lang="en-US" sz="1300" dirty="0"/>
          </a:p>
        </p:txBody>
      </p:sp>
      <p:sp>
        <p:nvSpPr>
          <p:cNvPr id="21" name="Text 19"/>
          <p:cNvSpPr txBox="1"/>
          <p:nvPr/>
        </p:nvSpPr>
        <p:spPr>
          <a:xfrm>
            <a:off x="9221495" y="2359152"/>
            <a:ext cx="2302688" cy="621792"/>
          </a:xfrm>
          <a:prstGeom prst="rect">
            <a:avLst/>
          </a:prstGeom>
          <a:noFill/>
          <a:ln/>
        </p:spPr>
        <p:txBody>
          <a:bodyPr wrap="square" lIns="0" tIns="0" rIns="0" bIns="0" rtlCol="0" anchor="t"/>
          <a:lstStyle/>
          <a:p>
            <a:pPr indent="0" marL="0">
              <a:lnSpc>
                <a:spcPct val="112000"/>
              </a:lnSpc>
              <a:buNone/>
            </a:pPr>
            <a:r>
              <a:rPr lang="en-US" sz="1100" dirty="0">
                <a:solidFill>
                  <a:srgbClr val="5F6B72"/>
                </a:solidFill>
                <a:latin typeface="Calibri" pitchFamily="34" charset="0"/>
                <a:ea typeface="Calibri" pitchFamily="34" charset="-122"/>
                <a:cs typeface="Calibri" pitchFamily="34" charset="-120"/>
              </a:rPr>
              <a:t>Comparar el coste de producirlo con su precio de reposición</a:t>
            </a:r>
            <a:endParaRPr lang="en-US" sz="1100" dirty="0"/>
          </a:p>
        </p:txBody>
      </p:sp>
      <p:sp>
        <p:nvSpPr>
          <p:cNvPr id="22" name="Shape 20"/>
          <p:cNvSpPr/>
          <p:nvPr/>
        </p:nvSpPr>
        <p:spPr>
          <a:xfrm>
            <a:off x="11304727" y="1755648"/>
            <a:ext cx="310896" cy="310896"/>
          </a:xfrm>
          <a:prstGeom prst="ellipse">
            <a:avLst/>
          </a:prstGeom>
          <a:solidFill>
            <a:srgbClr val="C8861E"/>
          </a:solidFill>
          <a:ln/>
        </p:spPr>
      </p:sp>
      <p:sp>
        <p:nvSpPr>
          <p:cNvPr id="23" name="Text 21"/>
          <p:cNvSpPr txBox="1"/>
          <p:nvPr/>
        </p:nvSpPr>
        <p:spPr>
          <a:xfrm>
            <a:off x="11304727" y="1755648"/>
            <a:ext cx="310896" cy="310896"/>
          </a:xfrm>
          <a:prstGeom prst="rect">
            <a:avLst/>
          </a:prstGeom>
          <a:noFill/>
          <a:ln/>
        </p:spPr>
        <p:txBody>
          <a:bodyPr wrap="square" lIns="0" tIns="0" rIns="0" bIns="0" rtlCol="0" anchor="ctr"/>
          <a:lstStyle/>
          <a:p>
            <a:pPr algn="ctr" indent="0" marL="0">
              <a:buNone/>
            </a:pPr>
            <a:r>
              <a:rPr lang="en-US" sz="1200" b="1" dirty="0">
                <a:solidFill>
                  <a:srgbClr val="10394A"/>
                </a:solidFill>
                <a:latin typeface="Calibri" pitchFamily="34" charset="0"/>
                <a:ea typeface="Calibri" pitchFamily="34" charset="-122"/>
                <a:cs typeface="Calibri" pitchFamily="34" charset="-120"/>
              </a:rPr>
              <a:t>2</a:t>
            </a:r>
            <a:endParaRPr lang="en-US" sz="1200" dirty="0"/>
          </a:p>
        </p:txBody>
      </p:sp>
      <p:sp>
        <p:nvSpPr>
          <p:cNvPr id="24" name="Shape 22"/>
          <p:cNvSpPr/>
          <p:nvPr/>
        </p:nvSpPr>
        <p:spPr>
          <a:xfrm>
            <a:off x="502920" y="3474720"/>
            <a:ext cx="5364328" cy="1755648"/>
          </a:xfrm>
          <a:prstGeom prst="roundRect">
            <a:avLst>
              <a:gd name="adj" fmla="val 2604"/>
            </a:avLst>
          </a:prstGeom>
          <a:solidFill>
            <a:srgbClr val="FFFFFF"/>
          </a:solidFill>
          <a:ln w="12700">
            <a:solidFill>
              <a:srgbClr val="DDE3E6"/>
            </a:solidFill>
            <a:prstDash val="solid"/>
          </a:ln>
        </p:spPr>
      </p:sp>
      <p:sp>
        <p:nvSpPr>
          <p:cNvPr id="25" name="Shape 23"/>
          <p:cNvSpPr/>
          <p:nvPr/>
        </p:nvSpPr>
        <p:spPr>
          <a:xfrm>
            <a:off x="758952" y="3712464"/>
            <a:ext cx="347472" cy="347472"/>
          </a:xfrm>
          <a:prstGeom prst="ellipse">
            <a:avLst/>
          </a:prstGeom>
          <a:solidFill>
            <a:srgbClr val="C8861E"/>
          </a:solidFill>
          <a:ln/>
        </p:spPr>
      </p:sp>
      <p:sp>
        <p:nvSpPr>
          <p:cNvPr id="26" name="Text 24"/>
          <p:cNvSpPr txBox="1"/>
          <p:nvPr/>
        </p:nvSpPr>
        <p:spPr>
          <a:xfrm>
            <a:off x="758952" y="3712464"/>
            <a:ext cx="347472" cy="347472"/>
          </a:xfrm>
          <a:prstGeom prst="rect">
            <a:avLst/>
          </a:prstGeom>
          <a:noFill/>
          <a:ln/>
        </p:spPr>
        <p:txBody>
          <a:bodyPr wrap="square" lIns="0" tIns="0" rIns="0" bIns="0" rtlCol="0" anchor="ctr"/>
          <a:lstStyle/>
          <a:p>
            <a:pPr algn="ctr" indent="0" marL="0">
              <a:buNone/>
            </a:pPr>
            <a:r>
              <a:rPr lang="en-US" sz="1300" b="1" dirty="0">
                <a:solidFill>
                  <a:srgbClr val="10394A"/>
                </a:solidFill>
                <a:latin typeface="Calibri" pitchFamily="34" charset="0"/>
                <a:ea typeface="Calibri" pitchFamily="34" charset="-122"/>
                <a:cs typeface="Calibri" pitchFamily="34" charset="-120"/>
              </a:rPr>
              <a:t>1</a:t>
            </a:r>
            <a:endParaRPr lang="en-US" sz="1300" dirty="0"/>
          </a:p>
        </p:txBody>
      </p:sp>
      <p:sp>
        <p:nvSpPr>
          <p:cNvPr id="27" name="Text 25"/>
          <p:cNvSpPr txBox="1"/>
          <p:nvPr/>
        </p:nvSpPr>
        <p:spPr>
          <a:xfrm>
            <a:off x="1216152" y="3675888"/>
            <a:ext cx="4395064" cy="292608"/>
          </a:xfrm>
          <a:prstGeom prst="rect">
            <a:avLst/>
          </a:prstGeom>
          <a:noFill/>
          <a:ln/>
        </p:spPr>
        <p:txBody>
          <a:bodyPr wrap="square" lIns="0" tIns="0" rIns="0" bIns="0" rtlCol="0" anchor="ctr"/>
          <a:lstStyle/>
          <a:p>
            <a:pPr indent="0" marL="0">
              <a:buNone/>
            </a:pPr>
            <a:r>
              <a:rPr lang="en-US" sz="1550" b="1" dirty="0">
                <a:solidFill>
                  <a:srgbClr val="10394A"/>
                </a:solidFill>
                <a:latin typeface="Cambria" pitchFamily="34" charset="0"/>
                <a:ea typeface="Cambria" pitchFamily="34" charset="-122"/>
                <a:cs typeface="Cambria" pitchFamily="34" charset="-120"/>
              </a:rPr>
              <a:t>La batería alimenta al electrolizador</a:t>
            </a:r>
            <a:endParaRPr lang="en-US" sz="1550" dirty="0"/>
          </a:p>
        </p:txBody>
      </p:sp>
      <p:sp>
        <p:nvSpPr>
          <p:cNvPr id="28" name="Text 26"/>
          <p:cNvSpPr txBox="1"/>
          <p:nvPr/>
        </p:nvSpPr>
        <p:spPr>
          <a:xfrm>
            <a:off x="1216152" y="3986784"/>
            <a:ext cx="4395064" cy="237744"/>
          </a:xfrm>
          <a:prstGeom prst="rect">
            <a:avLst/>
          </a:prstGeom>
          <a:noFill/>
          <a:ln/>
        </p:spPr>
        <p:txBody>
          <a:bodyPr wrap="square" lIns="0" tIns="0" rIns="0" bIns="0" rtlCol="0" anchor="ctr"/>
          <a:lstStyle/>
          <a:p>
            <a:pPr indent="0" marL="0">
              <a:buNone/>
            </a:pPr>
            <a:r>
              <a:rPr lang="en-US" sz="1000" b="1" spc="80" kern="0" dirty="0">
                <a:solidFill>
                  <a:srgbClr val="C8861E"/>
                </a:solidFill>
                <a:latin typeface="Calibri" pitchFamily="34" charset="0"/>
                <a:ea typeface="Calibri" pitchFamily="34" charset="-122"/>
                <a:cs typeface="Calibri" pitchFamily="34" charset="-120"/>
              </a:rPr>
              <a:t>sustituye al paso 3</a:t>
            </a:r>
            <a:endParaRPr lang="en-US" sz="1000" dirty="0"/>
          </a:p>
        </p:txBody>
      </p:sp>
      <p:sp>
        <p:nvSpPr>
          <p:cNvPr id="29" name="Text 27"/>
          <p:cNvSpPr txBox="1"/>
          <p:nvPr/>
        </p:nvSpPr>
        <p:spPr>
          <a:xfrm>
            <a:off x="795528" y="4315968"/>
            <a:ext cx="4779112" cy="841248"/>
          </a:xfrm>
          <a:prstGeom prst="rect">
            <a:avLst/>
          </a:prstGeom>
          <a:noFill/>
          <a:ln/>
        </p:spPr>
        <p:txBody>
          <a:bodyPr wrap="square" lIns="0" tIns="0" rIns="0" bIns="0" rtlCol="0" anchor="t"/>
          <a:lstStyle/>
          <a:p>
            <a:pPr indent="0" marL="0">
              <a:lnSpc>
                <a:spcPct val="114000"/>
              </a:lnSpc>
              <a:buNone/>
            </a:pPr>
            <a:r>
              <a:rPr lang="en-US" sz="1200" dirty="0">
                <a:solidFill>
                  <a:srgbClr val="1C1C1C"/>
                </a:solidFill>
                <a:latin typeface="Calibri" pitchFamily="34" charset="0"/>
                <a:ea typeface="Calibri" pitchFamily="34" charset="-122"/>
                <a:cs typeface="Calibri" pitchFamily="34" charset="-120"/>
              </a:rPr>
              <a:t>La carga que crea la decisión de producir hidrógeno se ofrece a la batería antes que a la red, mientras el estado de carga esté por encima del 60 %. Diez líneas, y sin usar ninguna previsión.</a:t>
            </a:r>
            <a:endParaRPr lang="en-US" sz="1200" dirty="0"/>
          </a:p>
        </p:txBody>
      </p:sp>
      <p:sp>
        <p:nvSpPr>
          <p:cNvPr id="30" name="Shape 28"/>
          <p:cNvSpPr/>
          <p:nvPr/>
        </p:nvSpPr>
        <p:spPr>
          <a:xfrm>
            <a:off x="6324448" y="3474720"/>
            <a:ext cx="5364328" cy="1755648"/>
          </a:xfrm>
          <a:prstGeom prst="roundRect">
            <a:avLst>
              <a:gd name="adj" fmla="val 2604"/>
            </a:avLst>
          </a:prstGeom>
          <a:solidFill>
            <a:srgbClr val="FFFFFF"/>
          </a:solidFill>
          <a:ln w="12700">
            <a:solidFill>
              <a:srgbClr val="DDE3E6"/>
            </a:solidFill>
            <a:prstDash val="solid"/>
          </a:ln>
        </p:spPr>
      </p:sp>
      <p:sp>
        <p:nvSpPr>
          <p:cNvPr id="31" name="Shape 29"/>
          <p:cNvSpPr/>
          <p:nvPr/>
        </p:nvSpPr>
        <p:spPr>
          <a:xfrm>
            <a:off x="6580480" y="3712464"/>
            <a:ext cx="347472" cy="347472"/>
          </a:xfrm>
          <a:prstGeom prst="ellipse">
            <a:avLst/>
          </a:prstGeom>
          <a:solidFill>
            <a:srgbClr val="C8861E"/>
          </a:solidFill>
          <a:ln/>
        </p:spPr>
      </p:sp>
      <p:sp>
        <p:nvSpPr>
          <p:cNvPr id="32" name="Text 30"/>
          <p:cNvSpPr txBox="1"/>
          <p:nvPr/>
        </p:nvSpPr>
        <p:spPr>
          <a:xfrm>
            <a:off x="6580480" y="3712464"/>
            <a:ext cx="347472" cy="347472"/>
          </a:xfrm>
          <a:prstGeom prst="rect">
            <a:avLst/>
          </a:prstGeom>
          <a:noFill/>
          <a:ln/>
        </p:spPr>
        <p:txBody>
          <a:bodyPr wrap="square" lIns="0" tIns="0" rIns="0" bIns="0" rtlCol="0" anchor="ctr"/>
          <a:lstStyle/>
          <a:p>
            <a:pPr algn="ctr" indent="0" marL="0">
              <a:buNone/>
            </a:pPr>
            <a:r>
              <a:rPr lang="en-US" sz="1300" b="1" dirty="0">
                <a:solidFill>
                  <a:srgbClr val="10394A"/>
                </a:solidFill>
                <a:latin typeface="Calibri" pitchFamily="34" charset="0"/>
                <a:ea typeface="Calibri" pitchFamily="34" charset="-122"/>
                <a:cs typeface="Calibri" pitchFamily="34" charset="-120"/>
              </a:rPr>
              <a:t>2</a:t>
            </a:r>
            <a:endParaRPr lang="en-US" sz="1300" dirty="0"/>
          </a:p>
        </p:txBody>
      </p:sp>
      <p:sp>
        <p:nvSpPr>
          <p:cNvPr id="33" name="Text 31"/>
          <p:cNvSpPr txBox="1"/>
          <p:nvPr/>
        </p:nvSpPr>
        <p:spPr>
          <a:xfrm>
            <a:off x="7037680" y="3675888"/>
            <a:ext cx="4395064" cy="292608"/>
          </a:xfrm>
          <a:prstGeom prst="rect">
            <a:avLst/>
          </a:prstGeom>
          <a:noFill/>
          <a:ln/>
        </p:spPr>
        <p:txBody>
          <a:bodyPr wrap="square" lIns="0" tIns="0" rIns="0" bIns="0" rtlCol="0" anchor="ctr"/>
          <a:lstStyle/>
          <a:p>
            <a:pPr indent="0" marL="0">
              <a:buNone/>
            </a:pPr>
            <a:r>
              <a:rPr lang="en-US" sz="1550" b="1" dirty="0">
                <a:solidFill>
                  <a:srgbClr val="10394A"/>
                </a:solidFill>
                <a:latin typeface="Cambria" pitchFamily="34" charset="0"/>
                <a:ea typeface="Cambria" pitchFamily="34" charset="-122"/>
                <a:cs typeface="Cambria" pitchFamily="34" charset="-120"/>
              </a:rPr>
              <a:t>Planificador de orden de mérito a 24 h</a:t>
            </a:r>
            <a:endParaRPr lang="en-US" sz="1550" dirty="0"/>
          </a:p>
        </p:txBody>
      </p:sp>
      <p:sp>
        <p:nvSpPr>
          <p:cNvPr id="34" name="Text 32"/>
          <p:cNvSpPr txBox="1"/>
          <p:nvPr/>
        </p:nvSpPr>
        <p:spPr>
          <a:xfrm>
            <a:off x="7037680" y="3986784"/>
            <a:ext cx="4395064" cy="237744"/>
          </a:xfrm>
          <a:prstGeom prst="rect">
            <a:avLst/>
          </a:prstGeom>
          <a:noFill/>
          <a:ln/>
        </p:spPr>
        <p:txBody>
          <a:bodyPr wrap="square" lIns="0" tIns="0" rIns="0" bIns="0" rtlCol="0" anchor="ctr"/>
          <a:lstStyle/>
          <a:p>
            <a:pPr indent="0" marL="0">
              <a:buNone/>
            </a:pPr>
            <a:r>
              <a:rPr lang="en-US" sz="1000" b="1" spc="80" kern="0" dirty="0">
                <a:solidFill>
                  <a:srgbClr val="C8861E"/>
                </a:solidFill>
                <a:latin typeface="Calibri" pitchFamily="34" charset="0"/>
                <a:ea typeface="Calibri" pitchFamily="34" charset="-122"/>
                <a:cs typeface="Calibri" pitchFamily="34" charset="-120"/>
              </a:rPr>
              <a:t>sustituye al paso 4</a:t>
            </a:r>
            <a:endParaRPr lang="en-US" sz="1000" dirty="0"/>
          </a:p>
        </p:txBody>
      </p:sp>
      <p:sp>
        <p:nvSpPr>
          <p:cNvPr id="35" name="Text 33"/>
          <p:cNvSpPr txBox="1"/>
          <p:nvPr/>
        </p:nvSpPr>
        <p:spPr>
          <a:xfrm>
            <a:off x="6617056" y="4315968"/>
            <a:ext cx="4779112" cy="841248"/>
          </a:xfrm>
          <a:prstGeom prst="rect">
            <a:avLst/>
          </a:prstGeom>
          <a:noFill/>
          <a:ln/>
        </p:spPr>
        <p:txBody>
          <a:bodyPr wrap="square" lIns="0" tIns="0" rIns="0" bIns="0" rtlCol="0" anchor="t"/>
          <a:lstStyle/>
          <a:p>
            <a:pPr indent="0" marL="0">
              <a:lnSpc>
                <a:spcPct val="114000"/>
              </a:lnSpc>
              <a:buNone/>
            </a:pPr>
            <a:r>
              <a:rPr lang="en-US" sz="1200" dirty="0">
                <a:solidFill>
                  <a:srgbClr val="1C1C1C"/>
                </a:solidFill>
                <a:latin typeface="Calibri" pitchFamily="34" charset="0"/>
                <a:ea typeface="Calibri" pitchFamily="34" charset="-122"/>
                <a:cs typeface="Calibri" pitchFamily="34" charset="-120"/>
              </a:rPr>
              <a:t>Estima cuánto hidrógeno falta y cuánto excedente gratis viene; de ahí salen las horas de electrolizador que hay que comprar, y se producen en las más baratas del horizonte.</a:t>
            </a:r>
            <a:endParaRPr lang="en-US" sz="1200" dirty="0"/>
          </a:p>
        </p:txBody>
      </p:sp>
      <p:sp>
        <p:nvSpPr>
          <p:cNvPr id="36" name="Shape 34"/>
          <p:cNvSpPr/>
          <p:nvPr/>
        </p:nvSpPr>
        <p:spPr>
          <a:xfrm>
            <a:off x="502920" y="5468112"/>
            <a:ext cx="11185855" cy="566928"/>
          </a:xfrm>
          <a:prstGeom prst="roundRect">
            <a:avLst>
              <a:gd name="adj" fmla="val 9677"/>
            </a:avLst>
          </a:prstGeom>
          <a:solidFill>
            <a:srgbClr val="10394A"/>
          </a:solidFill>
          <a:ln/>
        </p:spPr>
      </p:sp>
      <p:sp>
        <p:nvSpPr>
          <p:cNvPr id="37" name="Text 35"/>
          <p:cNvSpPr txBox="1"/>
          <p:nvPr/>
        </p:nvSpPr>
        <p:spPr>
          <a:xfrm>
            <a:off x="777240" y="5486400"/>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El planificador solo usa el ORDEN de los precios: cualquier previsión que conserve ese orden toma exactamente las mismas decisiones.</a:t>
            </a:r>
            <a:endParaRPr lang="en-US" sz="1350" dirty="0"/>
          </a:p>
        </p:txBody>
      </p:sp>
      <p:sp>
        <p:nvSpPr>
          <p:cNvPr id="38" name="Text 36"/>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LOS TRES EMS  ·  5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Versión C: −13,9 % de coste semanal, en los veinte pares evaluados</a:t>
            </a:r>
            <a:endParaRPr lang="en-US" sz="2600" dirty="0"/>
          </a:p>
        </p:txBody>
      </p:sp>
      <p:sp>
        <p:nvSpPr>
          <p:cNvPr id="4" name="Text 2"/>
          <p:cNvSpPr txBox="1"/>
          <p:nvPr/>
        </p:nvSpPr>
        <p:spPr>
          <a:xfrm>
            <a:off x="502920" y="1499616"/>
            <a:ext cx="5852160" cy="274320"/>
          </a:xfrm>
          <a:prstGeom prst="rect">
            <a:avLst/>
          </a:prstGeom>
          <a:noFill/>
          <a:ln/>
        </p:spPr>
        <p:txBody>
          <a:bodyPr wrap="square" lIns="0" tIns="0" rIns="0" bIns="0" rtlCol="0" anchor="ctr"/>
          <a:lstStyle/>
          <a:p>
            <a:pPr indent="0" marL="0">
              <a:buNone/>
            </a:pPr>
            <a:r>
              <a:rPr lang="en-US" sz="1150" b="1" spc="60" kern="0" dirty="0">
                <a:solidFill>
                  <a:srgbClr val="10394A"/>
                </a:solidFill>
                <a:latin typeface="Calibri" pitchFamily="34" charset="0"/>
                <a:ea typeface="Calibri" pitchFamily="34" charset="-122"/>
                <a:cs typeface="Calibri" pitchFamily="34" charset="-120"/>
              </a:rPr>
              <a:t>Diferencia de coste frente a la Versión A</a:t>
            </a:r>
            <a:endParaRPr lang="en-US" sz="1150" dirty="0"/>
          </a:p>
        </p:txBody>
      </p:sp>
      <p:sp>
        <p:nvSpPr>
          <p:cNvPr id="5" name="Shape 3"/>
          <p:cNvSpPr/>
          <p:nvPr/>
        </p:nvSpPr>
        <p:spPr>
          <a:xfrm>
            <a:off x="5126250" y="2011680"/>
            <a:ext cx="764339" cy="2816352"/>
          </a:xfrm>
          <a:prstGeom prst="rect">
            <a:avLst/>
          </a:prstGeom>
          <a:solidFill>
            <a:srgbClr val="F1F5F7"/>
          </a:solidFill>
          <a:ln w="12700">
            <a:solidFill>
              <a:srgbClr val="F1F5F7"/>
            </a:solidFill>
            <a:prstDash val="solid"/>
          </a:ln>
        </p:spPr>
      </p:sp>
      <p:sp>
        <p:nvSpPr>
          <p:cNvPr id="6" name="Shape 4"/>
          <p:cNvSpPr/>
          <p:nvPr/>
        </p:nvSpPr>
        <p:spPr>
          <a:xfrm>
            <a:off x="5508420" y="2011680"/>
            <a:ext cx="0" cy="2816352"/>
          </a:xfrm>
          <a:prstGeom prst="line">
            <a:avLst/>
          </a:prstGeom>
          <a:noFill/>
          <a:ln w="12700">
            <a:solidFill>
              <a:srgbClr val="B9C3C9"/>
            </a:solidFill>
            <a:prstDash val="solid"/>
          </a:ln>
        </p:spPr>
      </p:sp>
      <p:sp>
        <p:nvSpPr>
          <p:cNvPr id="7" name="Text 5"/>
          <p:cNvSpPr txBox="1"/>
          <p:nvPr/>
        </p:nvSpPr>
        <p:spPr>
          <a:xfrm>
            <a:off x="502920" y="2103120"/>
            <a:ext cx="1755648" cy="603504"/>
          </a:xfrm>
          <a:prstGeom prst="rect">
            <a:avLst/>
          </a:prstGeom>
          <a:noFill/>
          <a:ln/>
        </p:spPr>
        <p:txBody>
          <a:bodyPr wrap="square" lIns="0" tIns="0" rIns="0" bIns="0" rtlCol="0" anchor="ctr"/>
          <a:lstStyle/>
          <a:p>
            <a:pPr indent="0" marL="0">
              <a:buNone/>
            </a:pPr>
            <a:r>
              <a:rPr lang="en-US" sz="1150" dirty="0">
                <a:solidFill>
                  <a:srgbClr val="1C1C1C"/>
                </a:solidFill>
                <a:latin typeface="Calibri" pitchFamily="34" charset="0"/>
                <a:ea typeface="Calibri" pitchFamily="34" charset="-122"/>
                <a:cs typeface="Calibri" pitchFamily="34" charset="-120"/>
              </a:rPr>
              <a:t>E1 · laborable soleado</a:t>
            </a:r>
            <a:endParaRPr lang="en-US" sz="1150" dirty="0"/>
          </a:p>
        </p:txBody>
      </p:sp>
      <p:sp>
        <p:nvSpPr>
          <p:cNvPr id="8" name="Shape 6"/>
          <p:cNvSpPr/>
          <p:nvPr/>
        </p:nvSpPr>
        <p:spPr>
          <a:xfrm>
            <a:off x="5508420" y="2185416"/>
            <a:ext cx="53250" cy="201168"/>
          </a:xfrm>
          <a:prstGeom prst="rect">
            <a:avLst/>
          </a:prstGeom>
          <a:solidFill>
            <a:srgbClr val="C9D6DD"/>
          </a:solidFill>
          <a:ln w="12700">
            <a:solidFill>
              <a:srgbClr val="C9D6DD"/>
            </a:solidFill>
            <a:prstDash val="solid"/>
          </a:ln>
        </p:spPr>
      </p:sp>
      <p:sp>
        <p:nvSpPr>
          <p:cNvPr id="9" name="Text 7"/>
          <p:cNvSpPr txBox="1"/>
          <p:nvPr/>
        </p:nvSpPr>
        <p:spPr>
          <a:xfrm>
            <a:off x="5616534" y="2148840"/>
            <a:ext cx="877824" cy="274320"/>
          </a:xfrm>
          <a:prstGeom prst="rect">
            <a:avLst/>
          </a:prstGeom>
          <a:noFill/>
          <a:ln/>
        </p:spPr>
        <p:txBody>
          <a:bodyPr wrap="square" lIns="0" tIns="0" rIns="0" bIns="0" rtlCol="0" anchor="ctr"/>
          <a:lstStyle/>
          <a:p>
            <a:pPr indent="0" marL="0">
              <a:buNone/>
            </a:pPr>
            <a:r>
              <a:rPr lang="en-US" sz="1000" dirty="0">
                <a:solidFill>
                  <a:srgbClr val="5F6B72"/>
                </a:solidFill>
                <a:latin typeface="Calibri" pitchFamily="34" charset="0"/>
                <a:ea typeface="Calibri" pitchFamily="34" charset="-122"/>
                <a:cs typeface="Calibri" pitchFamily="34" charset="-120"/>
              </a:rPr>
              <a:t>+ 1,3 €</a:t>
            </a:r>
            <a:endParaRPr lang="en-US" sz="1000" dirty="0"/>
          </a:p>
        </p:txBody>
      </p:sp>
      <p:sp>
        <p:nvSpPr>
          <p:cNvPr id="10" name="Shape 8"/>
          <p:cNvSpPr/>
          <p:nvPr/>
        </p:nvSpPr>
        <p:spPr>
          <a:xfrm>
            <a:off x="3501312" y="2459736"/>
            <a:ext cx="2007108" cy="201168"/>
          </a:xfrm>
          <a:prstGeom prst="rect">
            <a:avLst/>
          </a:prstGeom>
          <a:solidFill>
            <a:srgbClr val="10394A"/>
          </a:solidFill>
          <a:ln w="12700">
            <a:solidFill>
              <a:srgbClr val="10394A"/>
            </a:solidFill>
            <a:prstDash val="solid"/>
          </a:ln>
        </p:spPr>
      </p:sp>
      <p:sp>
        <p:nvSpPr>
          <p:cNvPr id="11" name="Text 9"/>
          <p:cNvSpPr txBox="1"/>
          <p:nvPr/>
        </p:nvSpPr>
        <p:spPr>
          <a:xfrm>
            <a:off x="2568624" y="2423160"/>
            <a:ext cx="877824" cy="274320"/>
          </a:xfrm>
          <a:prstGeom prst="rect">
            <a:avLst/>
          </a:prstGeom>
          <a:noFill/>
          <a:ln/>
        </p:spPr>
        <p:txBody>
          <a:bodyPr wrap="square" lIns="0" tIns="0" rIns="0" bIns="0" rtlCol="0" anchor="ctr"/>
          <a:lstStyle/>
          <a:p>
            <a:pPr algn="r" indent="0" marL="0">
              <a:buNone/>
            </a:pPr>
            <a:r>
              <a:rPr lang="en-US" sz="1000" b="1" dirty="0">
                <a:solidFill>
                  <a:srgbClr val="10394A"/>
                </a:solidFill>
                <a:latin typeface="Calibri" pitchFamily="34" charset="0"/>
                <a:ea typeface="Calibri" pitchFamily="34" charset="-122"/>
                <a:cs typeface="Calibri" pitchFamily="34" charset="-120"/>
              </a:rPr>
              <a:t>− 49,0 €</a:t>
            </a:r>
            <a:endParaRPr lang="en-US" sz="1000" dirty="0"/>
          </a:p>
        </p:txBody>
      </p:sp>
      <p:sp>
        <p:nvSpPr>
          <p:cNvPr id="12" name="Text 10"/>
          <p:cNvSpPr txBox="1"/>
          <p:nvPr/>
        </p:nvSpPr>
        <p:spPr>
          <a:xfrm>
            <a:off x="502920" y="2779776"/>
            <a:ext cx="1755648" cy="603504"/>
          </a:xfrm>
          <a:prstGeom prst="rect">
            <a:avLst/>
          </a:prstGeom>
          <a:noFill/>
          <a:ln/>
        </p:spPr>
        <p:txBody>
          <a:bodyPr wrap="square" lIns="0" tIns="0" rIns="0" bIns="0" rtlCol="0" anchor="ctr"/>
          <a:lstStyle/>
          <a:p>
            <a:pPr indent="0" marL="0">
              <a:buNone/>
            </a:pPr>
            <a:r>
              <a:rPr lang="en-US" sz="1150" dirty="0">
                <a:solidFill>
                  <a:srgbClr val="1C1C1C"/>
                </a:solidFill>
                <a:latin typeface="Calibri" pitchFamily="34" charset="0"/>
                <a:ea typeface="Calibri" pitchFamily="34" charset="-122"/>
                <a:cs typeface="Calibri" pitchFamily="34" charset="-120"/>
              </a:rPr>
              <a:t>E2 · laborable nublado</a:t>
            </a:r>
            <a:endParaRPr lang="en-US" sz="1150" dirty="0"/>
          </a:p>
        </p:txBody>
      </p:sp>
      <p:sp>
        <p:nvSpPr>
          <p:cNvPr id="13" name="Shape 11"/>
          <p:cNvSpPr/>
          <p:nvPr/>
        </p:nvSpPr>
        <p:spPr>
          <a:xfrm>
            <a:off x="5508420" y="2862072"/>
            <a:ext cx="32769" cy="201168"/>
          </a:xfrm>
          <a:prstGeom prst="rect">
            <a:avLst/>
          </a:prstGeom>
          <a:solidFill>
            <a:srgbClr val="C9D6DD"/>
          </a:solidFill>
          <a:ln w="12700">
            <a:solidFill>
              <a:srgbClr val="C9D6DD"/>
            </a:solidFill>
            <a:prstDash val="solid"/>
          </a:ln>
        </p:spPr>
      </p:sp>
      <p:sp>
        <p:nvSpPr>
          <p:cNvPr id="14" name="Text 12"/>
          <p:cNvSpPr txBox="1"/>
          <p:nvPr/>
        </p:nvSpPr>
        <p:spPr>
          <a:xfrm>
            <a:off x="5596053" y="2825496"/>
            <a:ext cx="877824" cy="274320"/>
          </a:xfrm>
          <a:prstGeom prst="rect">
            <a:avLst/>
          </a:prstGeom>
          <a:noFill/>
          <a:ln/>
        </p:spPr>
        <p:txBody>
          <a:bodyPr wrap="square" lIns="0" tIns="0" rIns="0" bIns="0" rtlCol="0" anchor="ctr"/>
          <a:lstStyle/>
          <a:p>
            <a:pPr indent="0" marL="0">
              <a:buNone/>
            </a:pPr>
            <a:r>
              <a:rPr lang="en-US" sz="1000" dirty="0">
                <a:solidFill>
                  <a:srgbClr val="5F6B72"/>
                </a:solidFill>
                <a:latin typeface="Calibri" pitchFamily="34" charset="0"/>
                <a:ea typeface="Calibri" pitchFamily="34" charset="-122"/>
                <a:cs typeface="Calibri" pitchFamily="34" charset="-120"/>
              </a:rPr>
              <a:t>+ 0,8 €</a:t>
            </a:r>
            <a:endParaRPr lang="en-US" sz="1000" dirty="0"/>
          </a:p>
        </p:txBody>
      </p:sp>
      <p:sp>
        <p:nvSpPr>
          <p:cNvPr id="15" name="Shape 13"/>
          <p:cNvSpPr/>
          <p:nvPr/>
        </p:nvSpPr>
        <p:spPr>
          <a:xfrm>
            <a:off x="3149044" y="3136392"/>
            <a:ext cx="2359376" cy="201168"/>
          </a:xfrm>
          <a:prstGeom prst="rect">
            <a:avLst/>
          </a:prstGeom>
          <a:solidFill>
            <a:srgbClr val="10394A"/>
          </a:solidFill>
          <a:ln w="12700">
            <a:solidFill>
              <a:srgbClr val="10394A"/>
            </a:solidFill>
            <a:prstDash val="solid"/>
          </a:ln>
        </p:spPr>
      </p:sp>
      <p:sp>
        <p:nvSpPr>
          <p:cNvPr id="16" name="Text 14"/>
          <p:cNvSpPr txBox="1"/>
          <p:nvPr/>
        </p:nvSpPr>
        <p:spPr>
          <a:xfrm>
            <a:off x="2216356" y="3099816"/>
            <a:ext cx="877824" cy="274320"/>
          </a:xfrm>
          <a:prstGeom prst="rect">
            <a:avLst/>
          </a:prstGeom>
          <a:noFill/>
          <a:ln/>
        </p:spPr>
        <p:txBody>
          <a:bodyPr wrap="square" lIns="0" tIns="0" rIns="0" bIns="0" rtlCol="0" anchor="ctr"/>
          <a:lstStyle/>
          <a:p>
            <a:pPr algn="r" indent="0" marL="0">
              <a:buNone/>
            </a:pPr>
            <a:r>
              <a:rPr lang="en-US" sz="1000" b="1" dirty="0">
                <a:solidFill>
                  <a:srgbClr val="10394A"/>
                </a:solidFill>
                <a:latin typeface="Calibri" pitchFamily="34" charset="0"/>
                <a:ea typeface="Calibri" pitchFamily="34" charset="-122"/>
                <a:cs typeface="Calibri" pitchFamily="34" charset="-120"/>
              </a:rPr>
              <a:t>− 57,6 €</a:t>
            </a:r>
            <a:endParaRPr lang="en-US" sz="1000" dirty="0"/>
          </a:p>
        </p:txBody>
      </p:sp>
      <p:sp>
        <p:nvSpPr>
          <p:cNvPr id="17" name="Text 15"/>
          <p:cNvSpPr txBox="1"/>
          <p:nvPr/>
        </p:nvSpPr>
        <p:spPr>
          <a:xfrm>
            <a:off x="502920" y="3456432"/>
            <a:ext cx="1755648" cy="603504"/>
          </a:xfrm>
          <a:prstGeom prst="rect">
            <a:avLst/>
          </a:prstGeom>
          <a:noFill/>
          <a:ln/>
        </p:spPr>
        <p:txBody>
          <a:bodyPr wrap="square" lIns="0" tIns="0" rIns="0" bIns="0" rtlCol="0" anchor="ctr"/>
          <a:lstStyle/>
          <a:p>
            <a:pPr indent="0" marL="0">
              <a:buNone/>
            </a:pPr>
            <a:r>
              <a:rPr lang="en-US" sz="1150" dirty="0">
                <a:solidFill>
                  <a:srgbClr val="1C1C1C"/>
                </a:solidFill>
                <a:latin typeface="Calibri" pitchFamily="34" charset="0"/>
                <a:ea typeface="Calibri" pitchFamily="34" charset="-122"/>
                <a:cs typeface="Calibri" pitchFamily="34" charset="-120"/>
              </a:rPr>
              <a:t>E3 · finde soleado</a:t>
            </a:r>
            <a:endParaRPr lang="en-US" sz="1150" dirty="0"/>
          </a:p>
        </p:txBody>
      </p:sp>
      <p:sp>
        <p:nvSpPr>
          <p:cNvPr id="18" name="Shape 16"/>
          <p:cNvSpPr/>
          <p:nvPr/>
        </p:nvSpPr>
        <p:spPr>
          <a:xfrm>
            <a:off x="5508420" y="3538728"/>
            <a:ext cx="24577" cy="201168"/>
          </a:xfrm>
          <a:prstGeom prst="rect">
            <a:avLst/>
          </a:prstGeom>
          <a:solidFill>
            <a:srgbClr val="C9D6DD"/>
          </a:solidFill>
          <a:ln w="12700">
            <a:solidFill>
              <a:srgbClr val="C9D6DD"/>
            </a:solidFill>
            <a:prstDash val="solid"/>
          </a:ln>
        </p:spPr>
      </p:sp>
      <p:sp>
        <p:nvSpPr>
          <p:cNvPr id="19" name="Text 17"/>
          <p:cNvSpPr txBox="1"/>
          <p:nvPr/>
        </p:nvSpPr>
        <p:spPr>
          <a:xfrm>
            <a:off x="5587861" y="3502152"/>
            <a:ext cx="877824" cy="274320"/>
          </a:xfrm>
          <a:prstGeom prst="rect">
            <a:avLst/>
          </a:prstGeom>
          <a:noFill/>
          <a:ln/>
        </p:spPr>
        <p:txBody>
          <a:bodyPr wrap="square" lIns="0" tIns="0" rIns="0" bIns="0" rtlCol="0" anchor="ctr"/>
          <a:lstStyle/>
          <a:p>
            <a:pPr indent="0" marL="0">
              <a:buNone/>
            </a:pPr>
            <a:r>
              <a:rPr lang="en-US" sz="1000" dirty="0">
                <a:solidFill>
                  <a:srgbClr val="5F6B72"/>
                </a:solidFill>
                <a:latin typeface="Calibri" pitchFamily="34" charset="0"/>
                <a:ea typeface="Calibri" pitchFamily="34" charset="-122"/>
                <a:cs typeface="Calibri" pitchFamily="34" charset="-120"/>
              </a:rPr>
              <a:t>+ 0,6 €</a:t>
            </a:r>
            <a:endParaRPr lang="en-US" sz="1000" dirty="0"/>
          </a:p>
        </p:txBody>
      </p:sp>
      <p:sp>
        <p:nvSpPr>
          <p:cNvPr id="20" name="Shape 18"/>
          <p:cNvSpPr/>
          <p:nvPr/>
        </p:nvSpPr>
        <p:spPr>
          <a:xfrm>
            <a:off x="4001041" y="3813048"/>
            <a:ext cx="1507379" cy="201168"/>
          </a:xfrm>
          <a:prstGeom prst="rect">
            <a:avLst/>
          </a:prstGeom>
          <a:solidFill>
            <a:srgbClr val="10394A"/>
          </a:solidFill>
          <a:ln w="12700">
            <a:solidFill>
              <a:srgbClr val="10394A"/>
            </a:solidFill>
            <a:prstDash val="solid"/>
          </a:ln>
        </p:spPr>
      </p:sp>
      <p:sp>
        <p:nvSpPr>
          <p:cNvPr id="21" name="Text 19"/>
          <p:cNvSpPr txBox="1"/>
          <p:nvPr/>
        </p:nvSpPr>
        <p:spPr>
          <a:xfrm>
            <a:off x="3068353" y="3776472"/>
            <a:ext cx="877824" cy="274320"/>
          </a:xfrm>
          <a:prstGeom prst="rect">
            <a:avLst/>
          </a:prstGeom>
          <a:noFill/>
          <a:ln/>
        </p:spPr>
        <p:txBody>
          <a:bodyPr wrap="square" lIns="0" tIns="0" rIns="0" bIns="0" rtlCol="0" anchor="ctr"/>
          <a:lstStyle/>
          <a:p>
            <a:pPr algn="r" indent="0" marL="0">
              <a:buNone/>
            </a:pPr>
            <a:r>
              <a:rPr lang="en-US" sz="1000" b="1" dirty="0">
                <a:solidFill>
                  <a:srgbClr val="10394A"/>
                </a:solidFill>
                <a:latin typeface="Calibri" pitchFamily="34" charset="0"/>
                <a:ea typeface="Calibri" pitchFamily="34" charset="-122"/>
                <a:cs typeface="Calibri" pitchFamily="34" charset="-120"/>
              </a:rPr>
              <a:t>− 36,8 €</a:t>
            </a:r>
            <a:endParaRPr lang="en-US" sz="1000" dirty="0"/>
          </a:p>
        </p:txBody>
      </p:sp>
      <p:sp>
        <p:nvSpPr>
          <p:cNvPr id="22" name="Text 20"/>
          <p:cNvSpPr txBox="1"/>
          <p:nvPr/>
        </p:nvSpPr>
        <p:spPr>
          <a:xfrm>
            <a:off x="502920" y="4133088"/>
            <a:ext cx="1755648" cy="603504"/>
          </a:xfrm>
          <a:prstGeom prst="rect">
            <a:avLst/>
          </a:prstGeom>
          <a:noFill/>
          <a:ln/>
        </p:spPr>
        <p:txBody>
          <a:bodyPr wrap="square" lIns="0" tIns="0" rIns="0" bIns="0" rtlCol="0" anchor="ctr"/>
          <a:lstStyle/>
          <a:p>
            <a:pPr indent="0" marL="0">
              <a:buNone/>
            </a:pPr>
            <a:r>
              <a:rPr lang="en-US" sz="1150" dirty="0">
                <a:solidFill>
                  <a:srgbClr val="1C1C1C"/>
                </a:solidFill>
                <a:latin typeface="Calibri" pitchFamily="34" charset="0"/>
                <a:ea typeface="Calibri" pitchFamily="34" charset="-122"/>
                <a:cs typeface="Calibri" pitchFamily="34" charset="-120"/>
              </a:rPr>
              <a:t>E4 · volatilidad</a:t>
            </a:r>
            <a:endParaRPr lang="en-US" sz="1150" dirty="0"/>
          </a:p>
        </p:txBody>
      </p:sp>
      <p:sp>
        <p:nvSpPr>
          <p:cNvPr id="23" name="Shape 21"/>
          <p:cNvSpPr/>
          <p:nvPr/>
        </p:nvSpPr>
        <p:spPr>
          <a:xfrm>
            <a:off x="5508420" y="4215384"/>
            <a:ext cx="57346" cy="201168"/>
          </a:xfrm>
          <a:prstGeom prst="rect">
            <a:avLst/>
          </a:prstGeom>
          <a:solidFill>
            <a:srgbClr val="C9D6DD"/>
          </a:solidFill>
          <a:ln w="12700">
            <a:solidFill>
              <a:srgbClr val="C9D6DD"/>
            </a:solidFill>
            <a:prstDash val="solid"/>
          </a:ln>
        </p:spPr>
      </p:sp>
      <p:sp>
        <p:nvSpPr>
          <p:cNvPr id="24" name="Text 22"/>
          <p:cNvSpPr txBox="1"/>
          <p:nvPr/>
        </p:nvSpPr>
        <p:spPr>
          <a:xfrm>
            <a:off x="5620630" y="4178808"/>
            <a:ext cx="877824" cy="274320"/>
          </a:xfrm>
          <a:prstGeom prst="rect">
            <a:avLst/>
          </a:prstGeom>
          <a:noFill/>
          <a:ln/>
        </p:spPr>
        <p:txBody>
          <a:bodyPr wrap="square" lIns="0" tIns="0" rIns="0" bIns="0" rtlCol="0" anchor="ctr"/>
          <a:lstStyle/>
          <a:p>
            <a:pPr indent="0" marL="0">
              <a:buNone/>
            </a:pPr>
            <a:r>
              <a:rPr lang="en-US" sz="1000" dirty="0">
                <a:solidFill>
                  <a:srgbClr val="5F6B72"/>
                </a:solidFill>
                <a:latin typeface="Calibri" pitchFamily="34" charset="0"/>
                <a:ea typeface="Calibri" pitchFamily="34" charset="-122"/>
                <a:cs typeface="Calibri" pitchFamily="34" charset="-120"/>
              </a:rPr>
              <a:t>+ 1,4 €</a:t>
            </a:r>
            <a:endParaRPr lang="en-US" sz="1000" dirty="0"/>
          </a:p>
        </p:txBody>
      </p:sp>
      <p:sp>
        <p:nvSpPr>
          <p:cNvPr id="25" name="Shape 23"/>
          <p:cNvSpPr/>
          <p:nvPr/>
        </p:nvSpPr>
        <p:spPr>
          <a:xfrm>
            <a:off x="2796776" y="4489704"/>
            <a:ext cx="2711644" cy="201168"/>
          </a:xfrm>
          <a:prstGeom prst="rect">
            <a:avLst/>
          </a:prstGeom>
          <a:solidFill>
            <a:srgbClr val="10394A"/>
          </a:solidFill>
          <a:ln w="12700">
            <a:solidFill>
              <a:srgbClr val="10394A"/>
            </a:solidFill>
            <a:prstDash val="solid"/>
          </a:ln>
        </p:spPr>
      </p:sp>
      <p:sp>
        <p:nvSpPr>
          <p:cNvPr id="26" name="Text 24"/>
          <p:cNvSpPr txBox="1"/>
          <p:nvPr/>
        </p:nvSpPr>
        <p:spPr>
          <a:xfrm>
            <a:off x="1864088" y="4453128"/>
            <a:ext cx="877824" cy="274320"/>
          </a:xfrm>
          <a:prstGeom prst="rect">
            <a:avLst/>
          </a:prstGeom>
          <a:noFill/>
          <a:ln/>
        </p:spPr>
        <p:txBody>
          <a:bodyPr wrap="square" lIns="0" tIns="0" rIns="0" bIns="0" rtlCol="0" anchor="ctr"/>
          <a:lstStyle/>
          <a:p>
            <a:pPr algn="r" indent="0" marL="0">
              <a:buNone/>
            </a:pPr>
            <a:r>
              <a:rPr lang="en-US" sz="1000" b="1" dirty="0">
                <a:solidFill>
                  <a:srgbClr val="10394A"/>
                </a:solidFill>
                <a:latin typeface="Calibri" pitchFamily="34" charset="0"/>
                <a:ea typeface="Calibri" pitchFamily="34" charset="-122"/>
                <a:cs typeface="Calibri" pitchFamily="34" charset="-120"/>
              </a:rPr>
              <a:t>− 66,2 €</a:t>
            </a:r>
            <a:endParaRPr lang="en-US" sz="1000" dirty="0"/>
          </a:p>
        </p:txBody>
      </p:sp>
      <p:sp>
        <p:nvSpPr>
          <p:cNvPr id="27" name="Text 25"/>
          <p:cNvSpPr txBox="1"/>
          <p:nvPr/>
        </p:nvSpPr>
        <p:spPr>
          <a:xfrm>
            <a:off x="4303290" y="4864608"/>
            <a:ext cx="2468880" cy="237744"/>
          </a:xfrm>
          <a:prstGeom prst="rect">
            <a:avLst/>
          </a:prstGeom>
          <a:noFill/>
          <a:ln/>
        </p:spPr>
        <p:txBody>
          <a:bodyPr wrap="square" lIns="0" tIns="0" rIns="0" bIns="0" rtlCol="0" anchor="ctr"/>
          <a:lstStyle/>
          <a:p>
            <a:pPr algn="ctr" indent="0" marL="0">
              <a:buNone/>
            </a:pPr>
            <a:r>
              <a:rPr lang="en-US" sz="950" i="1" dirty="0">
                <a:solidFill>
                  <a:srgbClr val="5F6B72"/>
                </a:solidFill>
                <a:latin typeface="Calibri" pitchFamily="34" charset="0"/>
                <a:ea typeface="Calibri" pitchFamily="34" charset="-122"/>
                <a:cs typeface="Calibri" pitchFamily="34" charset="-120"/>
              </a:rPr>
              <a:t>± 9,33 € · umbral de relevancia</a:t>
            </a:r>
            <a:endParaRPr lang="en-US" sz="950" dirty="0"/>
          </a:p>
        </p:txBody>
      </p:sp>
      <p:sp>
        <p:nvSpPr>
          <p:cNvPr id="28" name="Text 26"/>
          <p:cNvSpPr txBox="1"/>
          <p:nvPr/>
        </p:nvSpPr>
        <p:spPr>
          <a:xfrm>
            <a:off x="502920" y="5138928"/>
            <a:ext cx="5852160" cy="237744"/>
          </a:xfrm>
          <a:prstGeom prst="rect">
            <a:avLst/>
          </a:prstGeom>
          <a:noFill/>
          <a:ln/>
        </p:spPr>
        <p:txBody>
          <a:bodyPr wrap="square" lIns="0" tIns="0" rIns="0" bIns="0" rtlCol="0" anchor="ctr"/>
          <a:lstStyle/>
          <a:p>
            <a:pPr indent="0" marL="0">
              <a:buNone/>
            </a:pPr>
            <a:r>
              <a:rPr lang="en-US" sz="1000" i="1" dirty="0">
                <a:solidFill>
                  <a:srgbClr val="5F6B72"/>
                </a:solidFill>
                <a:latin typeface="Calibri" pitchFamily="34" charset="0"/>
                <a:ea typeface="Calibri" pitchFamily="34" charset="-122"/>
                <a:cs typeface="Calibri" pitchFamily="34" charset="-120"/>
              </a:rPr>
              <a:t>€ por semana · a la izquierda del cero, más barato que A</a:t>
            </a:r>
            <a:endParaRPr lang="en-US" sz="1000" dirty="0"/>
          </a:p>
        </p:txBody>
      </p:sp>
      <p:sp>
        <p:nvSpPr>
          <p:cNvPr id="29" name="Shape 27"/>
          <p:cNvSpPr/>
          <p:nvPr/>
        </p:nvSpPr>
        <p:spPr>
          <a:xfrm>
            <a:off x="3749040" y="1527048"/>
            <a:ext cx="219456" cy="146304"/>
          </a:xfrm>
          <a:prstGeom prst="rect">
            <a:avLst/>
          </a:prstGeom>
          <a:solidFill>
            <a:srgbClr val="C9D6DD"/>
          </a:solidFill>
          <a:ln w="12700">
            <a:solidFill>
              <a:srgbClr val="333333"/>
            </a:solidFill>
            <a:prstDash val="solid"/>
          </a:ln>
        </p:spPr>
      </p:sp>
      <p:sp>
        <p:nvSpPr>
          <p:cNvPr id="30" name="Text 28"/>
          <p:cNvSpPr txBox="1"/>
          <p:nvPr/>
        </p:nvSpPr>
        <p:spPr>
          <a:xfrm>
            <a:off x="4023360" y="1453896"/>
            <a:ext cx="1188720" cy="274320"/>
          </a:xfrm>
          <a:prstGeom prst="rect">
            <a:avLst/>
          </a:prstGeom>
          <a:noFill/>
          <a:ln/>
        </p:spPr>
        <p:txBody>
          <a:bodyPr wrap="square" lIns="0" tIns="0" rIns="0" bIns="0" rtlCol="0" anchor="ctr"/>
          <a:lstStyle/>
          <a:p>
            <a:pPr indent="0" marL="0">
              <a:buNone/>
            </a:pPr>
            <a:r>
              <a:rPr lang="en-US" sz="1050" dirty="0">
                <a:solidFill>
                  <a:srgbClr val="5F6B72"/>
                </a:solidFill>
                <a:latin typeface="Calibri" pitchFamily="34" charset="0"/>
                <a:ea typeface="Calibri" pitchFamily="34" charset="-122"/>
                <a:cs typeface="Calibri" pitchFamily="34" charset="-120"/>
              </a:rPr>
              <a:t>Versión B</a:t>
            </a:r>
            <a:endParaRPr lang="en-US" sz="1050" dirty="0"/>
          </a:p>
        </p:txBody>
      </p:sp>
      <p:sp>
        <p:nvSpPr>
          <p:cNvPr id="31" name="Shape 29"/>
          <p:cNvSpPr/>
          <p:nvPr/>
        </p:nvSpPr>
        <p:spPr>
          <a:xfrm>
            <a:off x="5257800" y="1527048"/>
            <a:ext cx="219456" cy="146304"/>
          </a:xfrm>
          <a:prstGeom prst="rect">
            <a:avLst/>
          </a:prstGeom>
          <a:solidFill>
            <a:srgbClr val="10394A"/>
          </a:solidFill>
          <a:ln w="12700">
            <a:solidFill>
              <a:srgbClr val="333333"/>
            </a:solidFill>
            <a:prstDash val="solid"/>
          </a:ln>
        </p:spPr>
      </p:sp>
      <p:sp>
        <p:nvSpPr>
          <p:cNvPr id="32" name="Text 30"/>
          <p:cNvSpPr txBox="1"/>
          <p:nvPr/>
        </p:nvSpPr>
        <p:spPr>
          <a:xfrm>
            <a:off x="5532120" y="1453896"/>
            <a:ext cx="1188720" cy="274320"/>
          </a:xfrm>
          <a:prstGeom prst="rect">
            <a:avLst/>
          </a:prstGeom>
          <a:noFill/>
          <a:ln/>
        </p:spPr>
        <p:txBody>
          <a:bodyPr wrap="square" lIns="0" tIns="0" rIns="0" bIns="0" rtlCol="0" anchor="ctr"/>
          <a:lstStyle/>
          <a:p>
            <a:pPr indent="0" marL="0">
              <a:buNone/>
            </a:pPr>
            <a:r>
              <a:rPr lang="en-US" sz="1050" dirty="0">
                <a:solidFill>
                  <a:srgbClr val="5F6B72"/>
                </a:solidFill>
                <a:latin typeface="Calibri" pitchFamily="34" charset="0"/>
                <a:ea typeface="Calibri" pitchFamily="34" charset="-122"/>
                <a:cs typeface="Calibri" pitchFamily="34" charset="-120"/>
              </a:rPr>
              <a:t>Versión C</a:t>
            </a:r>
            <a:endParaRPr lang="en-US" sz="10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629400" y="1810512"/>
          <a:ext cx="5056632" cy="914400"/>
        </p:xfrm>
        <a:graphic>
          <a:graphicData uri="http://schemas.openxmlformats.org/drawingml/2006/table">
            <a:tbl>
              <a:tblPr/>
              <a:tblGrid>
                <a:gridCol w="2286000"/>
                <a:gridCol w="1856232"/>
                <a:gridCol w="914400"/>
              </a:tblGrid>
              <a:tr h="50292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Métrica (C − A, 7 días, 20 pares)</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10394A"/>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Diferencia</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10394A"/>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Gana</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10394A"/>
                    </a:solidFill>
                  </a:tcPr>
                </a:tc>
              </a:tr>
              <a:tr h="502920">
                <a:tc>
                  <a:txBody>
                    <a:bodyPr/>
                    <a:lstStyle/>
                    <a:p>
                      <a:pPr algn="l" indent="0" marL="0">
                        <a:buNone/>
                      </a:pPr>
                      <a:r>
                        <a:rPr lang="en-US" sz="1200" b="1" dirty="0">
                          <a:solidFill>
                            <a:srgbClr val="1C1C1C"/>
                          </a:solidFill>
                          <a:latin typeface="Calibri" pitchFamily="34" charset="0"/>
                          <a:ea typeface="Calibri" pitchFamily="34" charset="-122"/>
                          <a:cs typeface="Calibri" pitchFamily="34" charset="-120"/>
                        </a:rPr>
                        <a:t>Coste total con hidrógeno</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8861E"/>
                          </a:solidFill>
                          <a:latin typeface="Calibri" pitchFamily="34" charset="0"/>
                          <a:ea typeface="Calibri" pitchFamily="34" charset="-122"/>
                          <a:cs typeface="Calibri" pitchFamily="34" charset="-120"/>
                        </a:rPr>
                        <a:t>− 52,3 €  (− 13,9 %)</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C1C1C"/>
                          </a:solidFill>
                          <a:latin typeface="Calibri" pitchFamily="34" charset="0"/>
                          <a:ea typeface="Calibri" pitchFamily="34" charset="-122"/>
                          <a:cs typeface="Calibri" pitchFamily="34" charset="-120"/>
                        </a:rPr>
                        <a:t>20/20</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r>
              <a:tr h="502920">
                <a:tc>
                  <a:txBody>
                    <a:bodyPr/>
                    <a:lstStyle/>
                    <a:p>
                      <a:pPr algn="l" indent="0" marL="0">
                        <a:buNone/>
                      </a:pPr>
                      <a:r>
                        <a:rPr lang="en-US" sz="1200" dirty="0">
                          <a:solidFill>
                            <a:srgbClr val="1C1C1C"/>
                          </a:solidFill>
                          <a:latin typeface="Calibri" pitchFamily="34" charset="0"/>
                          <a:ea typeface="Calibri" pitchFamily="34" charset="-122"/>
                          <a:cs typeface="Calibri" pitchFamily="34" charset="-120"/>
                        </a:rPr>
                        <a:t>Energía importada de la red</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1F5F7"/>
                    </a:solidFill>
                  </a:tcPr>
                </a:tc>
                <a:tc>
                  <a:txBody>
                    <a:bodyPr/>
                    <a:lstStyle/>
                    <a:p>
                      <a:pPr algn="r" indent="0" marL="0">
                        <a:buNone/>
                      </a:pPr>
                      <a:r>
                        <a:rPr lang="en-US" sz="1200" dirty="0">
                          <a:solidFill>
                            <a:srgbClr val="1C1C1C"/>
                          </a:solidFill>
                          <a:latin typeface="Calibri" pitchFamily="34" charset="0"/>
                          <a:ea typeface="Calibri" pitchFamily="34" charset="-122"/>
                          <a:cs typeface="Calibri" pitchFamily="34" charset="-120"/>
                        </a:rPr>
                        <a:t>− 717 kWh  (− 54 %)</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1F5F7"/>
                    </a:solidFill>
                  </a:tcPr>
                </a:tc>
                <a:tc>
                  <a:txBody>
                    <a:bodyPr/>
                    <a:lstStyle/>
                    <a:p>
                      <a:pPr algn="r" indent="0" marL="0">
                        <a:buNone/>
                      </a:pPr>
                      <a:r>
                        <a:rPr lang="en-US" sz="1200" dirty="0">
                          <a:solidFill>
                            <a:srgbClr val="1C1C1C"/>
                          </a:solidFill>
                          <a:latin typeface="Calibri" pitchFamily="34" charset="0"/>
                          <a:ea typeface="Calibri" pitchFamily="34" charset="-122"/>
                          <a:cs typeface="Calibri" pitchFamily="34" charset="-120"/>
                        </a:rPr>
                        <a:t>20/20</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1F5F7"/>
                    </a:solidFill>
                  </a:tcPr>
                </a:tc>
              </a:tr>
              <a:tr h="502920">
                <a:tc>
                  <a:txBody>
                    <a:bodyPr/>
                    <a:lstStyle/>
                    <a:p>
                      <a:pPr algn="l" indent="0" marL="0">
                        <a:buNone/>
                      </a:pPr>
                      <a:r>
                        <a:rPr lang="en-US" sz="1200" dirty="0">
                          <a:solidFill>
                            <a:srgbClr val="1C1C1C"/>
                          </a:solidFill>
                          <a:latin typeface="Calibri" pitchFamily="34" charset="0"/>
                          <a:ea typeface="Calibri" pitchFamily="34" charset="-122"/>
                          <a:cs typeface="Calibri" pitchFamily="34" charset="-120"/>
                        </a:rPr>
                        <a:t>Autosuficiencia</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1C1C"/>
                          </a:solidFill>
                          <a:latin typeface="Calibri" pitchFamily="34" charset="0"/>
                          <a:ea typeface="Calibri" pitchFamily="34" charset="-122"/>
                          <a:cs typeface="Calibri" pitchFamily="34" charset="-120"/>
                        </a:rPr>
                        <a:t>+ 6,7 pts  (87,7 → 94,3 %)</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1C1C"/>
                          </a:solidFill>
                          <a:latin typeface="Calibri" pitchFamily="34" charset="0"/>
                          <a:ea typeface="Calibri" pitchFamily="34" charset="-122"/>
                          <a:cs typeface="Calibri" pitchFamily="34" charset="-120"/>
                        </a:rPr>
                        <a:t>20/20</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r>
            </a:tbl>
          </a:graphicData>
        </a:graphic>
      </p:graphicFrame>
      <p:sp>
        <p:nvSpPr>
          <p:cNvPr id="34" name="Text 31"/>
          <p:cNvSpPr txBox="1"/>
          <p:nvPr/>
        </p:nvSpPr>
        <p:spPr>
          <a:xfrm>
            <a:off x="6629400" y="4096512"/>
            <a:ext cx="5056632" cy="548640"/>
          </a:xfrm>
          <a:prstGeom prst="rect">
            <a:avLst/>
          </a:prstGeom>
          <a:noFill/>
          <a:ln/>
        </p:spPr>
        <p:txBody>
          <a:bodyPr wrap="square" lIns="0" tIns="0" rIns="0" bIns="0" rtlCol="0" anchor="ctr"/>
          <a:lstStyle/>
          <a:p>
            <a:pPr indent="0" marL="0">
              <a:lnSpc>
                <a:spcPct val="110000"/>
              </a:lnSpc>
              <a:buNone/>
            </a:pPr>
            <a:r>
              <a:rPr lang="en-US" sz="1150" i="1" dirty="0">
                <a:solidFill>
                  <a:srgbClr val="5F6B72"/>
                </a:solidFill>
                <a:latin typeface="Calibri" pitchFamily="34" charset="0"/>
                <a:ea typeface="Calibri" pitchFamily="34" charset="-122"/>
                <a:cs typeface="Calibri" pitchFamily="34" charset="-120"/>
              </a:rPr>
              <a:t>20 de 20 pares, p por debajo de una diezmilésima · cinco veces el umbral de relevancia fijado antes de simular</a:t>
            </a:r>
            <a:endParaRPr lang="en-US" sz="1150" dirty="0"/>
          </a:p>
        </p:txBody>
      </p:sp>
      <p:sp>
        <p:nvSpPr>
          <p:cNvPr id="35" name="Shape 32"/>
          <p:cNvSpPr/>
          <p:nvPr/>
        </p:nvSpPr>
        <p:spPr>
          <a:xfrm>
            <a:off x="502920" y="5623560"/>
            <a:ext cx="11185855" cy="566928"/>
          </a:xfrm>
          <a:prstGeom prst="roundRect">
            <a:avLst>
              <a:gd name="adj" fmla="val 9677"/>
            </a:avLst>
          </a:prstGeom>
          <a:solidFill>
            <a:srgbClr val="10394A"/>
          </a:solidFill>
          <a:ln/>
        </p:spPr>
      </p:sp>
      <p:sp>
        <p:nvSpPr>
          <p:cNvPr id="36" name="Text 33"/>
          <p:cNvSpPr txBox="1"/>
          <p:nvPr/>
        </p:nvSpPr>
        <p:spPr>
          <a:xfrm>
            <a:off x="777240" y="5641848"/>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El precio de la mejora: la batería cicla ×2,2, y en el nublado hay que reponer 3,07 kg de H₂ desde fuera en vez de 0,82. Valorado dentro del coste.</a:t>
            </a:r>
            <a:endParaRPr lang="en-US" sz="1350" dirty="0"/>
          </a:p>
        </p:txBody>
      </p:sp>
      <p:sp>
        <p:nvSpPr>
          <p:cNvPr id="37" name="Text 34"/>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LOS TRES EMS  ·  5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Y la mejora se puede atribuir pieza a pieza</a:t>
            </a:r>
            <a:endParaRPr lang="en-US" sz="2600" dirty="0"/>
          </a:p>
        </p:txBody>
      </p:sp>
      <p:sp>
        <p:nvSpPr>
          <p:cNvPr id="4" name="Text 2"/>
          <p:cNvSpPr txBox="1"/>
          <p:nvPr/>
        </p:nvSpPr>
        <p:spPr>
          <a:xfrm>
            <a:off x="502920" y="1554480"/>
            <a:ext cx="1554480" cy="777240"/>
          </a:xfrm>
          <a:prstGeom prst="rect">
            <a:avLst/>
          </a:prstGeom>
          <a:noFill/>
          <a:ln/>
        </p:spPr>
        <p:txBody>
          <a:bodyPr wrap="square" lIns="0" tIns="0" rIns="0" bIns="0" rtlCol="0" anchor="ctr"/>
          <a:lstStyle/>
          <a:p>
            <a:pPr indent="0" marL="0">
              <a:buNone/>
            </a:pPr>
            <a:r>
              <a:rPr lang="en-US" sz="1500" b="1" dirty="0">
                <a:solidFill>
                  <a:srgbClr val="10394A"/>
                </a:solidFill>
                <a:latin typeface="Calibri" pitchFamily="34" charset="0"/>
                <a:ea typeface="Calibri" pitchFamily="34" charset="-122"/>
                <a:cs typeface="Calibri" pitchFamily="34" charset="-120"/>
              </a:rPr>
              <a:t>A → C0</a:t>
            </a:r>
            <a:endParaRPr lang="en-US" sz="1500" dirty="0"/>
          </a:p>
        </p:txBody>
      </p:sp>
      <p:sp>
        <p:nvSpPr>
          <p:cNvPr id="5" name="Text 3"/>
          <p:cNvSpPr txBox="1"/>
          <p:nvPr/>
        </p:nvSpPr>
        <p:spPr>
          <a:xfrm>
            <a:off x="2148840" y="1554480"/>
            <a:ext cx="5486400" cy="402336"/>
          </a:xfrm>
          <a:prstGeom prst="rect">
            <a:avLst/>
          </a:prstGeom>
          <a:noFill/>
          <a:ln/>
        </p:spPr>
        <p:txBody>
          <a:bodyPr wrap="square" lIns="0" tIns="0" rIns="0" bIns="0" rtlCol="0" anchor="ctr"/>
          <a:lstStyle/>
          <a:p>
            <a:pPr indent="0" marL="0">
              <a:buNone/>
            </a:pPr>
            <a:r>
              <a:rPr lang="en-US" sz="1500" b="1" dirty="0">
                <a:solidFill>
                  <a:srgbClr val="1C1C1C"/>
                </a:solidFill>
                <a:latin typeface="Calibri" pitchFamily="34" charset="0"/>
                <a:ea typeface="Calibri" pitchFamily="34" charset="-122"/>
                <a:cs typeface="Calibri" pitchFamily="34" charset="-120"/>
              </a:rPr>
              <a:t>Alimentar el electrolizador desde la batería</a:t>
            </a:r>
            <a:endParaRPr lang="en-US" sz="1500" dirty="0"/>
          </a:p>
        </p:txBody>
      </p:sp>
      <p:sp>
        <p:nvSpPr>
          <p:cNvPr id="6" name="Text 4"/>
          <p:cNvSpPr txBox="1"/>
          <p:nvPr/>
        </p:nvSpPr>
        <p:spPr>
          <a:xfrm>
            <a:off x="2148840" y="1938528"/>
            <a:ext cx="5486400" cy="384048"/>
          </a:xfrm>
          <a:prstGeom prst="rect">
            <a:avLst/>
          </a:prstGeom>
          <a:noFill/>
          <a:ln/>
        </p:spPr>
        <p:txBody>
          <a:bodyPr wrap="square" lIns="0" tIns="0" rIns="0" bIns="0" rtlCol="0" anchor="ctr"/>
          <a:lstStyle/>
          <a:p>
            <a:pPr indent="0" marL="0">
              <a:buNone/>
            </a:pPr>
            <a:r>
              <a:rPr lang="en-US" sz="1200" dirty="0">
                <a:solidFill>
                  <a:srgbClr val="5F6B72"/>
                </a:solidFill>
                <a:latin typeface="Calibri" pitchFamily="34" charset="0"/>
                <a:ea typeface="Calibri" pitchFamily="34" charset="-122"/>
                <a:cs typeface="Calibri" pitchFamily="34" charset="-120"/>
              </a:rPr>
              <a:t>20/20 pares · el 90 % del ahorro</a:t>
            </a:r>
            <a:endParaRPr lang="en-US" sz="1200" dirty="0"/>
          </a:p>
        </p:txBody>
      </p:sp>
      <p:sp>
        <p:nvSpPr>
          <p:cNvPr id="7" name="Text 5"/>
          <p:cNvSpPr txBox="1"/>
          <p:nvPr/>
        </p:nvSpPr>
        <p:spPr>
          <a:xfrm>
            <a:off x="7498080" y="1554480"/>
            <a:ext cx="4206240" cy="777240"/>
          </a:xfrm>
          <a:prstGeom prst="rect">
            <a:avLst/>
          </a:prstGeom>
          <a:noFill/>
          <a:ln/>
        </p:spPr>
        <p:txBody>
          <a:bodyPr wrap="square" lIns="0" tIns="0" rIns="0" bIns="0" rtlCol="0" anchor="ctr"/>
          <a:lstStyle/>
          <a:p>
            <a:pPr algn="r" indent="0" marL="0">
              <a:buNone/>
            </a:pPr>
            <a:r>
              <a:rPr lang="en-US" sz="3200" b="1" dirty="0">
                <a:solidFill>
                  <a:srgbClr val="C8861E"/>
                </a:solidFill>
                <a:latin typeface="Cambria" pitchFamily="34" charset="0"/>
                <a:ea typeface="Cambria" pitchFamily="34" charset="-122"/>
                <a:cs typeface="Cambria" pitchFamily="34" charset="-120"/>
              </a:rPr>
              <a:t>− 47,1 €</a:t>
            </a:r>
            <a:endParaRPr lang="en-US" sz="3200" dirty="0"/>
          </a:p>
        </p:txBody>
      </p:sp>
      <p:sp>
        <p:nvSpPr>
          <p:cNvPr id="8" name="Shape 6"/>
          <p:cNvSpPr/>
          <p:nvPr/>
        </p:nvSpPr>
        <p:spPr>
          <a:xfrm>
            <a:off x="502920" y="2468880"/>
            <a:ext cx="11185855" cy="0"/>
          </a:xfrm>
          <a:prstGeom prst="line">
            <a:avLst/>
          </a:prstGeom>
          <a:noFill/>
          <a:ln w="9525">
            <a:solidFill>
              <a:srgbClr val="DDE3E6"/>
            </a:solidFill>
            <a:prstDash val="solid"/>
          </a:ln>
        </p:spPr>
      </p:sp>
      <p:sp>
        <p:nvSpPr>
          <p:cNvPr id="9" name="Text 7"/>
          <p:cNvSpPr txBox="1"/>
          <p:nvPr/>
        </p:nvSpPr>
        <p:spPr>
          <a:xfrm>
            <a:off x="502920" y="2615184"/>
            <a:ext cx="1554480" cy="777240"/>
          </a:xfrm>
          <a:prstGeom prst="rect">
            <a:avLst/>
          </a:prstGeom>
          <a:noFill/>
          <a:ln/>
        </p:spPr>
        <p:txBody>
          <a:bodyPr wrap="square" lIns="0" tIns="0" rIns="0" bIns="0" rtlCol="0" anchor="ctr"/>
          <a:lstStyle/>
          <a:p>
            <a:pPr indent="0" marL="0">
              <a:buNone/>
            </a:pPr>
            <a:r>
              <a:rPr lang="en-US" sz="1500" b="1" dirty="0">
                <a:solidFill>
                  <a:srgbClr val="10394A"/>
                </a:solidFill>
                <a:latin typeface="Calibri" pitchFamily="34" charset="0"/>
                <a:ea typeface="Calibri" pitchFamily="34" charset="-122"/>
                <a:cs typeface="Calibri" pitchFamily="34" charset="-120"/>
              </a:rPr>
              <a:t>C0 → Cp</a:t>
            </a:r>
            <a:endParaRPr lang="en-US" sz="1500" dirty="0"/>
          </a:p>
        </p:txBody>
      </p:sp>
      <p:sp>
        <p:nvSpPr>
          <p:cNvPr id="10" name="Text 8"/>
          <p:cNvSpPr txBox="1"/>
          <p:nvPr/>
        </p:nvSpPr>
        <p:spPr>
          <a:xfrm>
            <a:off x="2148840" y="2615184"/>
            <a:ext cx="5486400" cy="402336"/>
          </a:xfrm>
          <a:prstGeom prst="rect">
            <a:avLst/>
          </a:prstGeom>
          <a:noFill/>
          <a:ln/>
        </p:spPr>
        <p:txBody>
          <a:bodyPr wrap="square" lIns="0" tIns="0" rIns="0" bIns="0" rtlCol="0" anchor="ctr"/>
          <a:lstStyle/>
          <a:p>
            <a:pPr indent="0" marL="0">
              <a:buNone/>
            </a:pPr>
            <a:r>
              <a:rPr lang="en-US" sz="1500" b="1" dirty="0">
                <a:solidFill>
                  <a:srgbClr val="1C1C1C"/>
                </a:solidFill>
                <a:latin typeface="Calibri" pitchFamily="34" charset="0"/>
                <a:ea typeface="Calibri" pitchFamily="34" charset="-122"/>
                <a:cs typeface="Calibri" pitchFamily="34" charset="-120"/>
              </a:rPr>
              <a:t>Añadir la programación de las horas</a:t>
            </a:r>
            <a:endParaRPr lang="en-US" sz="1500" dirty="0"/>
          </a:p>
        </p:txBody>
      </p:sp>
      <p:sp>
        <p:nvSpPr>
          <p:cNvPr id="11" name="Text 9"/>
          <p:cNvSpPr txBox="1"/>
          <p:nvPr/>
        </p:nvSpPr>
        <p:spPr>
          <a:xfrm>
            <a:off x="2148840" y="2999232"/>
            <a:ext cx="5486400" cy="384048"/>
          </a:xfrm>
          <a:prstGeom prst="rect">
            <a:avLst/>
          </a:prstGeom>
          <a:noFill/>
          <a:ln/>
        </p:spPr>
        <p:txBody>
          <a:bodyPr wrap="square" lIns="0" tIns="0" rIns="0" bIns="0" rtlCol="0" anchor="ctr"/>
          <a:lstStyle/>
          <a:p>
            <a:pPr indent="0" marL="0">
              <a:buNone/>
            </a:pPr>
            <a:r>
              <a:rPr lang="en-US" sz="1200" dirty="0">
                <a:solidFill>
                  <a:srgbClr val="5F6B72"/>
                </a:solidFill>
                <a:latin typeface="Calibri" pitchFamily="34" charset="0"/>
                <a:ea typeface="Calibri" pitchFamily="34" charset="-122"/>
                <a:cs typeface="Calibri" pitchFamily="34" charset="-120"/>
              </a:rPr>
              <a:t>19/20 · significativa, bajo el umbral de relevancia</a:t>
            </a:r>
            <a:endParaRPr lang="en-US" sz="1200" dirty="0"/>
          </a:p>
        </p:txBody>
      </p:sp>
      <p:sp>
        <p:nvSpPr>
          <p:cNvPr id="12" name="Text 10"/>
          <p:cNvSpPr txBox="1"/>
          <p:nvPr/>
        </p:nvSpPr>
        <p:spPr>
          <a:xfrm>
            <a:off x="7498080" y="2615184"/>
            <a:ext cx="4206240" cy="777240"/>
          </a:xfrm>
          <a:prstGeom prst="rect">
            <a:avLst/>
          </a:prstGeom>
          <a:noFill/>
          <a:ln/>
        </p:spPr>
        <p:txBody>
          <a:bodyPr wrap="square" lIns="0" tIns="0" rIns="0" bIns="0" rtlCol="0" anchor="ctr"/>
          <a:lstStyle/>
          <a:p>
            <a:pPr algn="r" indent="0" marL="0">
              <a:buNone/>
            </a:pPr>
            <a:r>
              <a:rPr lang="en-US" sz="3200" b="1" dirty="0">
                <a:solidFill>
                  <a:srgbClr val="C8861E"/>
                </a:solidFill>
                <a:latin typeface="Cambria" pitchFamily="34" charset="0"/>
                <a:ea typeface="Cambria" pitchFamily="34" charset="-122"/>
                <a:cs typeface="Cambria" pitchFamily="34" charset="-120"/>
              </a:rPr>
              <a:t>− 5,1 €</a:t>
            </a:r>
            <a:endParaRPr lang="en-US" sz="3200" dirty="0"/>
          </a:p>
        </p:txBody>
      </p:sp>
      <p:sp>
        <p:nvSpPr>
          <p:cNvPr id="13" name="Shape 11"/>
          <p:cNvSpPr/>
          <p:nvPr/>
        </p:nvSpPr>
        <p:spPr>
          <a:xfrm>
            <a:off x="502920" y="3529584"/>
            <a:ext cx="11185855" cy="0"/>
          </a:xfrm>
          <a:prstGeom prst="line">
            <a:avLst/>
          </a:prstGeom>
          <a:noFill/>
          <a:ln w="9525">
            <a:solidFill>
              <a:srgbClr val="DDE3E6"/>
            </a:solidFill>
            <a:prstDash val="solid"/>
          </a:ln>
        </p:spPr>
      </p:sp>
      <p:sp>
        <p:nvSpPr>
          <p:cNvPr id="14" name="Text 12"/>
          <p:cNvSpPr txBox="1"/>
          <p:nvPr/>
        </p:nvSpPr>
        <p:spPr>
          <a:xfrm>
            <a:off x="502920" y="3675888"/>
            <a:ext cx="1554480" cy="777240"/>
          </a:xfrm>
          <a:prstGeom prst="rect">
            <a:avLst/>
          </a:prstGeom>
          <a:noFill/>
          <a:ln/>
        </p:spPr>
        <p:txBody>
          <a:bodyPr wrap="square" lIns="0" tIns="0" rIns="0" bIns="0" rtlCol="0" anchor="ctr"/>
          <a:lstStyle/>
          <a:p>
            <a:pPr indent="0" marL="0">
              <a:buNone/>
            </a:pPr>
            <a:r>
              <a:rPr lang="en-US" sz="1500" b="1" dirty="0">
                <a:solidFill>
                  <a:srgbClr val="10394A"/>
                </a:solidFill>
                <a:latin typeface="Calibri" pitchFamily="34" charset="0"/>
                <a:ea typeface="Calibri" pitchFamily="34" charset="-122"/>
                <a:cs typeface="Calibri" pitchFamily="34" charset="-120"/>
              </a:rPr>
              <a:t>Cp → C</a:t>
            </a:r>
            <a:endParaRPr lang="en-US" sz="1500" dirty="0"/>
          </a:p>
        </p:txBody>
      </p:sp>
      <p:sp>
        <p:nvSpPr>
          <p:cNvPr id="15" name="Text 13"/>
          <p:cNvSpPr txBox="1"/>
          <p:nvPr/>
        </p:nvSpPr>
        <p:spPr>
          <a:xfrm>
            <a:off x="2148840" y="3675888"/>
            <a:ext cx="5486400" cy="402336"/>
          </a:xfrm>
          <a:prstGeom prst="rect">
            <a:avLst/>
          </a:prstGeom>
          <a:noFill/>
          <a:ln/>
        </p:spPr>
        <p:txBody>
          <a:bodyPr wrap="square" lIns="0" tIns="0" rIns="0" bIns="0" rtlCol="0" anchor="ctr"/>
          <a:lstStyle/>
          <a:p>
            <a:pPr indent="0" marL="0">
              <a:buNone/>
            </a:pPr>
            <a:r>
              <a:rPr lang="en-US" sz="1500" b="1" dirty="0">
                <a:solidFill>
                  <a:srgbClr val="1C1C1C"/>
                </a:solidFill>
                <a:latin typeface="Calibri" pitchFamily="34" charset="0"/>
                <a:ea typeface="Calibri" pitchFamily="34" charset="-122"/>
                <a:cs typeface="Calibri" pitchFamily="34" charset="-120"/>
              </a:rPr>
              <a:t>Añadir la red neuronal de precio</a:t>
            </a:r>
            <a:endParaRPr lang="en-US" sz="1500" dirty="0"/>
          </a:p>
        </p:txBody>
      </p:sp>
      <p:sp>
        <p:nvSpPr>
          <p:cNvPr id="16" name="Text 14"/>
          <p:cNvSpPr txBox="1"/>
          <p:nvPr/>
        </p:nvSpPr>
        <p:spPr>
          <a:xfrm>
            <a:off x="2148840" y="4059936"/>
            <a:ext cx="5486400" cy="384048"/>
          </a:xfrm>
          <a:prstGeom prst="rect">
            <a:avLst/>
          </a:prstGeom>
          <a:noFill/>
          <a:ln/>
        </p:spPr>
        <p:txBody>
          <a:bodyPr wrap="square" lIns="0" tIns="0" rIns="0" bIns="0" rtlCol="0" anchor="ctr"/>
          <a:lstStyle/>
          <a:p>
            <a:pPr indent="0" marL="0">
              <a:buNone/>
            </a:pPr>
            <a:r>
              <a:rPr lang="en-US" sz="1200" dirty="0">
                <a:solidFill>
                  <a:srgbClr val="5F6B72"/>
                </a:solidFill>
                <a:latin typeface="Calibri" pitchFamily="34" charset="0"/>
                <a:ea typeface="Calibri" pitchFamily="34" charset="-122"/>
                <a:cs typeface="Calibri" pitchFamily="34" charset="-120"/>
              </a:rPr>
              <a:t>idénticas a precisión de máquina en los 40 indicadores</a:t>
            </a:r>
            <a:endParaRPr lang="en-US" sz="1200" dirty="0"/>
          </a:p>
        </p:txBody>
      </p:sp>
      <p:sp>
        <p:nvSpPr>
          <p:cNvPr id="17" name="Text 15"/>
          <p:cNvSpPr txBox="1"/>
          <p:nvPr/>
        </p:nvSpPr>
        <p:spPr>
          <a:xfrm>
            <a:off x="7498080" y="3675888"/>
            <a:ext cx="4206240" cy="777240"/>
          </a:xfrm>
          <a:prstGeom prst="rect">
            <a:avLst/>
          </a:prstGeom>
          <a:noFill/>
          <a:ln/>
        </p:spPr>
        <p:txBody>
          <a:bodyPr wrap="square" lIns="0" tIns="0" rIns="0" bIns="0" rtlCol="0" anchor="ctr"/>
          <a:lstStyle/>
          <a:p>
            <a:pPr algn="r" indent="0" marL="0">
              <a:buNone/>
            </a:pPr>
            <a:r>
              <a:rPr lang="en-US" sz="3200" b="1" dirty="0">
                <a:solidFill>
                  <a:srgbClr val="5F6B72"/>
                </a:solidFill>
                <a:latin typeface="Cambria" pitchFamily="34" charset="0"/>
                <a:ea typeface="Cambria" pitchFamily="34" charset="-122"/>
                <a:cs typeface="Cambria" pitchFamily="34" charset="-120"/>
              </a:rPr>
              <a:t>0,00 €</a:t>
            </a:r>
            <a:endParaRPr lang="en-US" sz="3200" dirty="0"/>
          </a:p>
        </p:txBody>
      </p:sp>
      <p:sp>
        <p:nvSpPr>
          <p:cNvPr id="18" name="Text 16"/>
          <p:cNvSpPr txBox="1"/>
          <p:nvPr/>
        </p:nvSpPr>
        <p:spPr>
          <a:xfrm>
            <a:off x="502920" y="4718304"/>
            <a:ext cx="11185855" cy="292608"/>
          </a:xfrm>
          <a:prstGeom prst="rect">
            <a:avLst/>
          </a:prstGeom>
          <a:noFill/>
          <a:ln/>
        </p:spPr>
        <p:txBody>
          <a:bodyPr wrap="square" lIns="0" tIns="0" rIns="0" bIns="0" rtlCol="0" anchor="ctr"/>
          <a:lstStyle/>
          <a:p>
            <a:pPr indent="0" marL="0">
              <a:buNone/>
            </a:pPr>
            <a:r>
              <a:rPr lang="en-US" sz="1150" i="1" dirty="0">
                <a:solidFill>
                  <a:srgbClr val="5F6B72"/>
                </a:solidFill>
                <a:latin typeface="Calibri" pitchFamily="34" charset="0"/>
                <a:ea typeface="Calibri" pitchFamily="34" charset="-122"/>
                <a:cs typeface="Calibri" pitchFamily="34" charset="-120"/>
              </a:rPr>
              <a:t>C₀ = solo el cambio 1 (batería → electrolizador)   ·   C_p = C₀ + planificador con el precio ya publicado   ·   C = versión completa, con la LSTM de precio en el tramo no publicado</a:t>
            </a:r>
            <a:endParaRPr lang="en-US" sz="1150" dirty="0"/>
          </a:p>
        </p:txBody>
      </p:sp>
      <p:sp>
        <p:nvSpPr>
          <p:cNvPr id="19" name="Text 17"/>
          <p:cNvSpPr txBox="1"/>
          <p:nvPr/>
        </p:nvSpPr>
        <p:spPr>
          <a:xfrm>
            <a:off x="502920" y="5029200"/>
            <a:ext cx="11185855" cy="475488"/>
          </a:xfrm>
          <a:prstGeom prst="rect">
            <a:avLst/>
          </a:prstGeom>
          <a:noFill/>
          <a:ln/>
        </p:spPr>
        <p:txBody>
          <a:bodyPr wrap="square" lIns="0" tIns="0" rIns="0" bIns="0" rtlCol="0" anchor="t"/>
          <a:lstStyle/>
          <a:p>
            <a:pPr indent="0" marL="0">
              <a:lnSpc>
                <a:spcPct val="110000"/>
              </a:lnSpc>
              <a:buNone/>
            </a:pPr>
            <a:r>
              <a:rPr lang="en-US" sz="1150" dirty="0">
                <a:solidFill>
                  <a:srgbClr val="C8861E"/>
                </a:solidFill>
                <a:latin typeface="Calibri" pitchFamily="34" charset="0"/>
                <a:ea typeface="Calibri" pitchFamily="34" charset="-122"/>
                <a:cs typeface="Calibri" pitchFamily="34" charset="-120"/>
              </a:rPr>
              <a:t>La previsión solar sí interviene, y no aparece como escalón propio: el planificador la usa para estimar el excedente gratis del horizonte, así que su aportación va dentro de los 5,1 €.</a:t>
            </a:r>
            <a:endParaRPr lang="en-US" sz="1150" dirty="0"/>
          </a:p>
        </p:txBody>
      </p:sp>
      <p:sp>
        <p:nvSpPr>
          <p:cNvPr id="20" name="Shape 18"/>
          <p:cNvSpPr/>
          <p:nvPr/>
        </p:nvSpPr>
        <p:spPr>
          <a:xfrm>
            <a:off x="502920" y="5596128"/>
            <a:ext cx="11185855" cy="566928"/>
          </a:xfrm>
          <a:prstGeom prst="roundRect">
            <a:avLst>
              <a:gd name="adj" fmla="val 9677"/>
            </a:avLst>
          </a:prstGeom>
          <a:solidFill>
            <a:srgbClr val="10394A"/>
          </a:solidFill>
          <a:ln/>
        </p:spPr>
      </p:sp>
      <p:sp>
        <p:nvSpPr>
          <p:cNvPr id="21" name="Text 19"/>
          <p:cNvSpPr txBox="1"/>
          <p:nvPr/>
        </p:nvSpPr>
        <p:spPr>
          <a:xfrm>
            <a:off x="777240" y="5614416"/>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El mercado diario publica a las 13:00 el precio del día siguiente: entre 11 y 35 horas del horizonte no hay nada que predecir.</a:t>
            </a:r>
            <a:endParaRPr lang="en-US" sz="1350" dirty="0"/>
          </a:p>
        </p:txBody>
      </p:sp>
      <p:sp>
        <p:nvSpPr>
          <p:cNvPr id="22" name="Text 20"/>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LIMITACIONES  ·  6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Limitaciones</a:t>
            </a:r>
            <a:endParaRPr lang="en-US" sz="2600" dirty="0"/>
          </a:p>
        </p:txBody>
      </p:sp>
      <p:sp>
        <p:nvSpPr>
          <p:cNvPr id="4" name="Text 2"/>
          <p:cNvSpPr txBox="1"/>
          <p:nvPr/>
        </p:nvSpPr>
        <p:spPr>
          <a:xfrm>
            <a:off x="502920" y="1536192"/>
            <a:ext cx="2103120" cy="365760"/>
          </a:xfrm>
          <a:prstGeom prst="rect">
            <a:avLst/>
          </a:prstGeom>
          <a:noFill/>
          <a:ln/>
        </p:spPr>
        <p:txBody>
          <a:bodyPr wrap="square" lIns="0" tIns="0" rIns="0" bIns="0" rtlCol="0" anchor="t"/>
          <a:lstStyle/>
          <a:p>
            <a:pPr indent="0" marL="0">
              <a:buNone/>
            </a:pPr>
            <a:r>
              <a:rPr lang="en-US" sz="1700" b="1" dirty="0">
                <a:solidFill>
                  <a:srgbClr val="10394A"/>
                </a:solidFill>
                <a:latin typeface="Cambria" pitchFamily="34" charset="0"/>
                <a:ea typeface="Cambria" pitchFamily="34" charset="-122"/>
                <a:cs typeface="Cambria" pitchFamily="34" charset="-120"/>
              </a:rPr>
              <a:t>Modelo físico</a:t>
            </a:r>
            <a:endParaRPr lang="en-US" sz="1700" dirty="0"/>
          </a:p>
        </p:txBody>
      </p:sp>
      <p:sp>
        <p:nvSpPr>
          <p:cNvPr id="5" name="Text 3"/>
          <p:cNvSpPr txBox="1"/>
          <p:nvPr/>
        </p:nvSpPr>
        <p:spPr>
          <a:xfrm>
            <a:off x="2788920" y="1536192"/>
            <a:ext cx="8899855" cy="438912"/>
          </a:xfrm>
          <a:prstGeom prst="rect">
            <a:avLst/>
          </a:prstGeom>
          <a:noFill/>
          <a:ln/>
        </p:spPr>
        <p:txBody>
          <a:bodyPr wrap="square" lIns="0" tIns="0" rIns="0" bIns="0" rtlCol="0" anchor="ctr"/>
          <a:lstStyle/>
          <a:p>
            <a:pPr indent="0" marL="0">
              <a:buNone/>
            </a:pPr>
            <a:r>
              <a:rPr lang="en-US" sz="1300" dirty="0">
                <a:solidFill>
                  <a:srgbClr val="1C1C1C"/>
                </a:solidFill>
                <a:latin typeface="Calibri" pitchFamily="34" charset="0"/>
                <a:ea typeface="Calibri" pitchFamily="34" charset="-122"/>
                <a:cs typeface="Calibri" pitchFamily="34" charset="-120"/>
              </a:rPr>
              <a:t>— Algunos bloques asumen simplificaciones, como la ecuación de gas ideal en los tanques: la autonomía simulada es optimista</a:t>
            </a:r>
            <a:endParaRPr lang="en-US" sz="1300" dirty="0"/>
          </a:p>
        </p:txBody>
      </p:sp>
      <p:sp>
        <p:nvSpPr>
          <p:cNvPr id="6" name="Text 4"/>
          <p:cNvSpPr txBox="1"/>
          <p:nvPr/>
        </p:nvSpPr>
        <p:spPr>
          <a:xfrm>
            <a:off x="2788920" y="1993392"/>
            <a:ext cx="8899855" cy="438912"/>
          </a:xfrm>
          <a:prstGeom prst="rect">
            <a:avLst/>
          </a:prstGeom>
          <a:noFill/>
          <a:ln/>
        </p:spPr>
        <p:txBody>
          <a:bodyPr wrap="square" lIns="0" tIns="0" rIns="0" bIns="0" rtlCol="0" anchor="ctr"/>
          <a:lstStyle/>
          <a:p>
            <a:pPr indent="0" marL="0">
              <a:buNone/>
            </a:pPr>
            <a:r>
              <a:rPr lang="en-US" sz="1300" dirty="0">
                <a:solidFill>
                  <a:srgbClr val="1C1C1C"/>
                </a:solidFill>
                <a:latin typeface="Calibri" pitchFamily="34" charset="0"/>
                <a:ea typeface="Calibri" pitchFamily="34" charset="-122"/>
                <a:cs typeface="Calibri" pitchFamily="34" charset="-120"/>
              </a:rPr>
              <a:t>— La pila de combustible no llega a arrancar, porque la batería siempre cubre el déficit antes: el modo isla queda sin ejercitar</a:t>
            </a:r>
            <a:endParaRPr lang="en-US" sz="1300" dirty="0"/>
          </a:p>
        </p:txBody>
      </p:sp>
      <p:sp>
        <p:nvSpPr>
          <p:cNvPr id="7" name="Shape 5"/>
          <p:cNvSpPr/>
          <p:nvPr/>
        </p:nvSpPr>
        <p:spPr>
          <a:xfrm>
            <a:off x="502920" y="2770632"/>
            <a:ext cx="11185855" cy="0"/>
          </a:xfrm>
          <a:prstGeom prst="line">
            <a:avLst/>
          </a:prstGeom>
          <a:noFill/>
          <a:ln w="9525">
            <a:solidFill>
              <a:srgbClr val="DDE3E6"/>
            </a:solidFill>
            <a:prstDash val="solid"/>
          </a:ln>
        </p:spPr>
      </p:sp>
      <p:sp>
        <p:nvSpPr>
          <p:cNvPr id="8" name="Text 6"/>
          <p:cNvSpPr txBox="1"/>
          <p:nvPr/>
        </p:nvSpPr>
        <p:spPr>
          <a:xfrm>
            <a:off x="502920" y="3017520"/>
            <a:ext cx="2103120" cy="365760"/>
          </a:xfrm>
          <a:prstGeom prst="rect">
            <a:avLst/>
          </a:prstGeom>
          <a:noFill/>
          <a:ln/>
        </p:spPr>
        <p:txBody>
          <a:bodyPr wrap="square" lIns="0" tIns="0" rIns="0" bIns="0" rtlCol="0" anchor="t"/>
          <a:lstStyle/>
          <a:p>
            <a:pPr indent="0" marL="0">
              <a:buNone/>
            </a:pPr>
            <a:r>
              <a:rPr lang="en-US" sz="1700" b="1" dirty="0">
                <a:solidFill>
                  <a:srgbClr val="10394A"/>
                </a:solidFill>
                <a:latin typeface="Cambria" pitchFamily="34" charset="0"/>
                <a:ea typeface="Cambria" pitchFamily="34" charset="-122"/>
                <a:cs typeface="Cambria" pitchFamily="34" charset="-120"/>
              </a:rPr>
              <a:t>Datos</a:t>
            </a:r>
            <a:endParaRPr lang="en-US" sz="1700" dirty="0"/>
          </a:p>
        </p:txBody>
      </p:sp>
      <p:sp>
        <p:nvSpPr>
          <p:cNvPr id="9" name="Text 7"/>
          <p:cNvSpPr txBox="1"/>
          <p:nvPr/>
        </p:nvSpPr>
        <p:spPr>
          <a:xfrm>
            <a:off x="2788920" y="3017520"/>
            <a:ext cx="8899855" cy="438912"/>
          </a:xfrm>
          <a:prstGeom prst="rect">
            <a:avLst/>
          </a:prstGeom>
          <a:noFill/>
          <a:ln/>
        </p:spPr>
        <p:txBody>
          <a:bodyPr wrap="square" lIns="0" tIns="0" rIns="0" bIns="0" rtlCol="0" anchor="ctr"/>
          <a:lstStyle/>
          <a:p>
            <a:pPr indent="0" marL="0">
              <a:buNone/>
            </a:pPr>
            <a:r>
              <a:rPr lang="en-US" sz="1300" dirty="0">
                <a:solidFill>
                  <a:srgbClr val="1C1C1C"/>
                </a:solidFill>
                <a:latin typeface="Calibri" pitchFamily="34" charset="0"/>
                <a:ea typeface="Calibri" pitchFamily="34" charset="-122"/>
                <a:cs typeface="Calibri" pitchFamily="34" charset="-120"/>
              </a:rPr>
              <a:t>— La irradiancia sale de un reanálisis: sirve para entrenar, no es la señal que tendría la estación en tiempo real</a:t>
            </a:r>
            <a:endParaRPr lang="en-US" sz="1300" dirty="0"/>
          </a:p>
        </p:txBody>
      </p:sp>
      <p:sp>
        <p:nvSpPr>
          <p:cNvPr id="10" name="Text 8"/>
          <p:cNvSpPr txBox="1"/>
          <p:nvPr/>
        </p:nvSpPr>
        <p:spPr>
          <a:xfrm>
            <a:off x="2788920" y="3474720"/>
            <a:ext cx="8899855" cy="438912"/>
          </a:xfrm>
          <a:prstGeom prst="rect">
            <a:avLst/>
          </a:prstGeom>
          <a:noFill/>
          <a:ln/>
        </p:spPr>
        <p:txBody>
          <a:bodyPr wrap="square" lIns="0" tIns="0" rIns="0" bIns="0" rtlCol="0" anchor="ctr"/>
          <a:lstStyle/>
          <a:p>
            <a:pPr indent="0" marL="0">
              <a:buNone/>
            </a:pPr>
            <a:r>
              <a:rPr lang="en-US" sz="1300" dirty="0">
                <a:solidFill>
                  <a:srgbClr val="1C1C1C"/>
                </a:solidFill>
                <a:latin typeface="Calibri" pitchFamily="34" charset="0"/>
                <a:ea typeface="Calibri" pitchFamily="34" charset="-122"/>
                <a:cs typeface="Calibri" pitchFamily="34" charset="-120"/>
              </a:rPr>
              <a:t>— La demanda de hidrógeno se construye por analogía con la eléctrica, porque todavía no hay flota de la que medirla</a:t>
            </a:r>
            <a:endParaRPr lang="en-US" sz="1300" dirty="0"/>
          </a:p>
        </p:txBody>
      </p:sp>
      <p:sp>
        <p:nvSpPr>
          <p:cNvPr id="11" name="Shape 9"/>
          <p:cNvSpPr/>
          <p:nvPr/>
        </p:nvSpPr>
        <p:spPr>
          <a:xfrm>
            <a:off x="502920" y="4251960"/>
            <a:ext cx="11185855" cy="0"/>
          </a:xfrm>
          <a:prstGeom prst="line">
            <a:avLst/>
          </a:prstGeom>
          <a:noFill/>
          <a:ln w="9525">
            <a:solidFill>
              <a:srgbClr val="DDE3E6"/>
            </a:solidFill>
            <a:prstDash val="solid"/>
          </a:ln>
        </p:spPr>
      </p:sp>
      <p:sp>
        <p:nvSpPr>
          <p:cNvPr id="12" name="Text 10"/>
          <p:cNvSpPr txBox="1"/>
          <p:nvPr/>
        </p:nvSpPr>
        <p:spPr>
          <a:xfrm>
            <a:off x="502920" y="4498848"/>
            <a:ext cx="2103120" cy="365760"/>
          </a:xfrm>
          <a:prstGeom prst="rect">
            <a:avLst/>
          </a:prstGeom>
          <a:noFill/>
          <a:ln/>
        </p:spPr>
        <p:txBody>
          <a:bodyPr wrap="square" lIns="0" tIns="0" rIns="0" bIns="0" rtlCol="0" anchor="t"/>
          <a:lstStyle/>
          <a:p>
            <a:pPr indent="0" marL="0">
              <a:buNone/>
            </a:pPr>
            <a:r>
              <a:rPr lang="en-US" sz="1700" b="1" dirty="0">
                <a:solidFill>
                  <a:srgbClr val="10394A"/>
                </a:solidFill>
                <a:latin typeface="Cambria" pitchFamily="34" charset="0"/>
                <a:ea typeface="Cambria" pitchFamily="34" charset="-122"/>
                <a:cs typeface="Cambria" pitchFamily="34" charset="-120"/>
              </a:rPr>
              <a:t>Alcance</a:t>
            </a:r>
            <a:endParaRPr lang="en-US" sz="1700" dirty="0"/>
          </a:p>
        </p:txBody>
      </p:sp>
      <p:sp>
        <p:nvSpPr>
          <p:cNvPr id="13" name="Text 11"/>
          <p:cNvSpPr txBox="1"/>
          <p:nvPr/>
        </p:nvSpPr>
        <p:spPr>
          <a:xfrm>
            <a:off x="2788920" y="4498848"/>
            <a:ext cx="8899855" cy="438912"/>
          </a:xfrm>
          <a:prstGeom prst="rect">
            <a:avLst/>
          </a:prstGeom>
          <a:noFill/>
          <a:ln/>
        </p:spPr>
        <p:txBody>
          <a:bodyPr wrap="square" lIns="0" tIns="0" rIns="0" bIns="0" rtlCol="0" anchor="ctr"/>
          <a:lstStyle/>
          <a:p>
            <a:pPr indent="0" marL="0">
              <a:buNone/>
            </a:pPr>
            <a:r>
              <a:rPr lang="en-US" sz="1300" dirty="0">
                <a:solidFill>
                  <a:srgbClr val="1C1C1C"/>
                </a:solidFill>
                <a:latin typeface="Calibri" pitchFamily="34" charset="0"/>
                <a:ea typeface="Calibri" pitchFamily="34" charset="-122"/>
                <a:cs typeface="Calibri" pitchFamily="34" charset="-120"/>
              </a:rPr>
              <a:t>— El coste no incluye peajes ni cargos: las cifras son comparativas, no de facturación</a:t>
            </a:r>
            <a:endParaRPr lang="en-US" sz="1300" dirty="0"/>
          </a:p>
        </p:txBody>
      </p:sp>
      <p:sp>
        <p:nvSpPr>
          <p:cNvPr id="14" name="Text 12"/>
          <p:cNvSpPr txBox="1"/>
          <p:nvPr/>
        </p:nvSpPr>
        <p:spPr>
          <a:xfrm>
            <a:off x="2788920" y="4956048"/>
            <a:ext cx="8899855" cy="438912"/>
          </a:xfrm>
          <a:prstGeom prst="rect">
            <a:avLst/>
          </a:prstGeom>
          <a:noFill/>
          <a:ln/>
        </p:spPr>
        <p:txBody>
          <a:bodyPr wrap="square" lIns="0" tIns="0" rIns="0" bIns="0" rtlCol="0" anchor="ctr"/>
          <a:lstStyle/>
          <a:p>
            <a:pPr indent="0" marL="0">
              <a:buNone/>
            </a:pPr>
            <a:r>
              <a:rPr lang="en-US" sz="1300" dirty="0">
                <a:solidFill>
                  <a:srgbClr val="1C1C1C"/>
                </a:solidFill>
                <a:latin typeface="Calibri" pitchFamily="34" charset="0"/>
                <a:ea typeface="Calibri" pitchFamily="34" charset="-122"/>
                <a:cs typeface="Calibri" pitchFamily="34" charset="-120"/>
              </a:rPr>
              <a:t>— Los umbrales y la reserva del 60 % están ajustados a esta instalación: otra exigiría recalibrarlos</a:t>
            </a:r>
            <a:endParaRPr lang="en-US" sz="1300" dirty="0"/>
          </a:p>
        </p:txBody>
      </p:sp>
      <p:sp>
        <p:nvSpPr>
          <p:cNvPr id="15" name="Text 13"/>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0394A"/>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C8861E"/>
                </a:solidFill>
                <a:latin typeface="Calibri" pitchFamily="34" charset="0"/>
                <a:ea typeface="Calibri" pitchFamily="34" charset="-122"/>
                <a:cs typeface="Calibri" pitchFamily="34" charset="-120"/>
              </a:rPr>
              <a:t>CONCLUSIONES  ·  7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FFFFFF"/>
                </a:solidFill>
                <a:latin typeface="Cambria" pitchFamily="34" charset="0"/>
                <a:ea typeface="Cambria" pitchFamily="34" charset="-122"/>
                <a:cs typeface="Cambria" pitchFamily="34" charset="-120"/>
              </a:rPr>
              <a:t>Conclusiones</a:t>
            </a:r>
            <a:endParaRPr lang="en-US" sz="2600" dirty="0"/>
          </a:p>
        </p:txBody>
      </p:sp>
      <p:sp>
        <p:nvSpPr>
          <p:cNvPr id="4" name="Text 2"/>
          <p:cNvSpPr txBox="1"/>
          <p:nvPr/>
        </p:nvSpPr>
        <p:spPr>
          <a:xfrm>
            <a:off x="502920" y="1627632"/>
            <a:ext cx="411480" cy="411480"/>
          </a:xfrm>
          <a:prstGeom prst="rect">
            <a:avLst/>
          </a:prstGeom>
          <a:noFill/>
          <a:ln/>
        </p:spPr>
        <p:txBody>
          <a:bodyPr wrap="square" lIns="0" tIns="0" rIns="0" bIns="0" rtlCol="0" anchor="ctr"/>
          <a:lstStyle/>
          <a:p>
            <a:pPr indent="0" marL="0">
              <a:buNone/>
            </a:pPr>
            <a:r>
              <a:rPr lang="en-US" sz="2200" b="1" dirty="0">
                <a:solidFill>
                  <a:srgbClr val="C8861E"/>
                </a:solidFill>
                <a:latin typeface="Cambria" pitchFamily="34" charset="0"/>
                <a:ea typeface="Cambria" pitchFamily="34" charset="-122"/>
                <a:cs typeface="Cambria" pitchFamily="34" charset="-120"/>
              </a:rPr>
              <a:t>1</a:t>
            </a:r>
            <a:endParaRPr lang="en-US" sz="2200" dirty="0"/>
          </a:p>
        </p:txBody>
      </p:sp>
      <p:sp>
        <p:nvSpPr>
          <p:cNvPr id="5" name="Text 3"/>
          <p:cNvSpPr txBox="1"/>
          <p:nvPr/>
        </p:nvSpPr>
        <p:spPr>
          <a:xfrm>
            <a:off x="960120" y="1627632"/>
            <a:ext cx="10728655" cy="4114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Dos modelos de previsión validados, corregidos y desplegados</a:t>
            </a:r>
            <a:endParaRPr lang="en-US" sz="1900" dirty="0"/>
          </a:p>
        </p:txBody>
      </p:sp>
      <p:sp>
        <p:nvSpPr>
          <p:cNvPr id="6" name="Text 4"/>
          <p:cNvSpPr txBox="1"/>
          <p:nvPr/>
        </p:nvSpPr>
        <p:spPr>
          <a:xfrm>
            <a:off x="960120" y="2048256"/>
            <a:ext cx="10728655" cy="502920"/>
          </a:xfrm>
          <a:prstGeom prst="rect">
            <a:avLst/>
          </a:prstGeom>
          <a:noFill/>
          <a:ln/>
        </p:spPr>
        <p:txBody>
          <a:bodyPr wrap="square" lIns="0" tIns="0" rIns="0" bIns="0" rtlCol="0" anchor="t"/>
          <a:lstStyle/>
          <a:p>
            <a:pPr indent="0" marL="0">
              <a:buNone/>
            </a:pPr>
            <a:r>
              <a:rPr lang="en-US" sz="1300" dirty="0">
                <a:solidFill>
                  <a:srgbClr val="A9C2D0"/>
                </a:solidFill>
                <a:latin typeface="Calibri" pitchFamily="34" charset="0"/>
                <a:ea typeface="Calibri" pitchFamily="34" charset="-122"/>
                <a:cs typeface="Calibri" pitchFamily="34" charset="-120"/>
              </a:rPr>
              <a:t>La señal combinada supera a la línea base en solar y en precio, y es la que consume el EMS</a:t>
            </a:r>
            <a:endParaRPr lang="en-US" sz="1300" dirty="0"/>
          </a:p>
        </p:txBody>
      </p:sp>
      <p:sp>
        <p:nvSpPr>
          <p:cNvPr id="7" name="Text 5"/>
          <p:cNvSpPr txBox="1"/>
          <p:nvPr/>
        </p:nvSpPr>
        <p:spPr>
          <a:xfrm>
            <a:off x="502920" y="2761488"/>
            <a:ext cx="411480" cy="411480"/>
          </a:xfrm>
          <a:prstGeom prst="rect">
            <a:avLst/>
          </a:prstGeom>
          <a:noFill/>
          <a:ln/>
        </p:spPr>
        <p:txBody>
          <a:bodyPr wrap="square" lIns="0" tIns="0" rIns="0" bIns="0" rtlCol="0" anchor="ctr"/>
          <a:lstStyle/>
          <a:p>
            <a:pPr indent="0" marL="0">
              <a:buNone/>
            </a:pPr>
            <a:r>
              <a:rPr lang="en-US" sz="2200" b="1" dirty="0">
                <a:solidFill>
                  <a:srgbClr val="C8861E"/>
                </a:solidFill>
                <a:latin typeface="Cambria" pitchFamily="34" charset="0"/>
                <a:ea typeface="Cambria" pitchFamily="34" charset="-122"/>
                <a:cs typeface="Cambria" pitchFamily="34" charset="-120"/>
              </a:rPr>
              <a:t>2</a:t>
            </a:r>
            <a:endParaRPr lang="en-US" sz="2200" dirty="0"/>
          </a:p>
        </p:txBody>
      </p:sp>
      <p:sp>
        <p:nvSpPr>
          <p:cNvPr id="8" name="Text 6"/>
          <p:cNvSpPr txBox="1"/>
          <p:nvPr/>
        </p:nvSpPr>
        <p:spPr>
          <a:xfrm>
            <a:off x="960120" y="2761488"/>
            <a:ext cx="10728655" cy="4114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Tres gestores comparados sobre la misma instalación</a:t>
            </a:r>
            <a:endParaRPr lang="en-US" sz="1900" dirty="0"/>
          </a:p>
        </p:txBody>
      </p:sp>
      <p:sp>
        <p:nvSpPr>
          <p:cNvPr id="9" name="Text 7"/>
          <p:cNvSpPr txBox="1"/>
          <p:nvPr/>
        </p:nvSpPr>
        <p:spPr>
          <a:xfrm>
            <a:off x="960120" y="3182112"/>
            <a:ext cx="10728655" cy="502920"/>
          </a:xfrm>
          <a:prstGeom prst="rect">
            <a:avLst/>
          </a:prstGeom>
          <a:noFill/>
          <a:ln/>
        </p:spPr>
        <p:txBody>
          <a:bodyPr wrap="square" lIns="0" tIns="0" rIns="0" bIns="0" rtlCol="0" anchor="t"/>
          <a:lstStyle/>
          <a:p>
            <a:pPr indent="0" marL="0">
              <a:buNone/>
            </a:pPr>
            <a:r>
              <a:rPr lang="en-US" sz="1300" dirty="0">
                <a:solidFill>
                  <a:srgbClr val="A9C2D0"/>
                </a:solidFill>
                <a:latin typeface="Calibri" pitchFamily="34" charset="0"/>
                <a:ea typeface="Calibri" pitchFamily="34" charset="-122"/>
                <a:cs typeface="Calibri" pitchFamily="34" charset="-120"/>
              </a:rPr>
              <a:t>B mejora el servicio de hidrógeno; C reduce un 13,9 % el coste semanal en los veinte casos</a:t>
            </a:r>
            <a:endParaRPr lang="en-US" sz="1300" dirty="0"/>
          </a:p>
        </p:txBody>
      </p:sp>
      <p:sp>
        <p:nvSpPr>
          <p:cNvPr id="10" name="Text 8"/>
          <p:cNvSpPr txBox="1"/>
          <p:nvPr/>
        </p:nvSpPr>
        <p:spPr>
          <a:xfrm>
            <a:off x="502920" y="3895344"/>
            <a:ext cx="411480" cy="411480"/>
          </a:xfrm>
          <a:prstGeom prst="rect">
            <a:avLst/>
          </a:prstGeom>
          <a:noFill/>
          <a:ln/>
        </p:spPr>
        <p:txBody>
          <a:bodyPr wrap="square" lIns="0" tIns="0" rIns="0" bIns="0" rtlCol="0" anchor="ctr"/>
          <a:lstStyle/>
          <a:p>
            <a:pPr indent="0" marL="0">
              <a:buNone/>
            </a:pPr>
            <a:r>
              <a:rPr lang="en-US" sz="2200" b="1" dirty="0">
                <a:solidFill>
                  <a:srgbClr val="C8861E"/>
                </a:solidFill>
                <a:latin typeface="Cambria" pitchFamily="34" charset="0"/>
                <a:ea typeface="Cambria" pitchFamily="34" charset="-122"/>
                <a:cs typeface="Cambria" pitchFamily="34" charset="-120"/>
              </a:rPr>
              <a:t>3</a:t>
            </a:r>
            <a:endParaRPr lang="en-US" sz="2200" dirty="0"/>
          </a:p>
        </p:txBody>
      </p:sp>
      <p:sp>
        <p:nvSpPr>
          <p:cNvPr id="11" name="Text 9"/>
          <p:cNvSpPr txBox="1"/>
          <p:nvPr/>
        </p:nvSpPr>
        <p:spPr>
          <a:xfrm>
            <a:off x="960120" y="3895344"/>
            <a:ext cx="10728655" cy="4114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Una cadena de medida que atribuye la mejora</a:t>
            </a:r>
            <a:endParaRPr lang="en-US" sz="1900" dirty="0"/>
          </a:p>
        </p:txBody>
      </p:sp>
      <p:sp>
        <p:nvSpPr>
          <p:cNvPr id="12" name="Text 10"/>
          <p:cNvSpPr txBox="1"/>
          <p:nvPr/>
        </p:nvSpPr>
        <p:spPr>
          <a:xfrm>
            <a:off x="960120" y="4315968"/>
            <a:ext cx="10728655" cy="502920"/>
          </a:xfrm>
          <a:prstGeom prst="rect">
            <a:avLst/>
          </a:prstGeom>
          <a:noFill/>
          <a:ln/>
        </p:spPr>
        <p:txBody>
          <a:bodyPr wrap="square" lIns="0" tIns="0" rIns="0" bIns="0" rtlCol="0" anchor="t"/>
          <a:lstStyle/>
          <a:p>
            <a:pPr indent="0" marL="0">
              <a:buNone/>
            </a:pPr>
            <a:r>
              <a:rPr lang="en-US" sz="1300" dirty="0">
                <a:solidFill>
                  <a:srgbClr val="A9C2D0"/>
                </a:solidFill>
                <a:latin typeface="Calibri" pitchFamily="34" charset="0"/>
                <a:ea typeface="Calibri" pitchFamily="34" charset="-122"/>
                <a:cs typeface="Calibri" pitchFamily="34" charset="-120"/>
              </a:rPr>
              <a:t>47,1 € del uso de la batería, 5,1 de la programación, 0,00 de la red de precio</a:t>
            </a:r>
            <a:endParaRPr lang="en-US" sz="1300" dirty="0"/>
          </a:p>
        </p:txBody>
      </p:sp>
      <p:sp>
        <p:nvSpPr>
          <p:cNvPr id="13" name="Shape 11"/>
          <p:cNvSpPr/>
          <p:nvPr/>
        </p:nvSpPr>
        <p:spPr>
          <a:xfrm>
            <a:off x="502920" y="5029200"/>
            <a:ext cx="11185855" cy="749808"/>
          </a:xfrm>
          <a:prstGeom prst="roundRect">
            <a:avLst>
              <a:gd name="adj" fmla="val 7317"/>
            </a:avLst>
          </a:prstGeom>
          <a:solidFill>
            <a:srgbClr val="1C4E63"/>
          </a:solidFill>
          <a:ln/>
        </p:spPr>
      </p:sp>
      <p:sp>
        <p:nvSpPr>
          <p:cNvPr id="14" name="Text 12"/>
          <p:cNvSpPr txBox="1"/>
          <p:nvPr/>
        </p:nvSpPr>
        <p:spPr>
          <a:xfrm>
            <a:off x="777240" y="5065776"/>
            <a:ext cx="10637215" cy="676656"/>
          </a:xfrm>
          <a:prstGeom prst="rect">
            <a:avLst/>
          </a:prstGeom>
          <a:noFill/>
          <a:ln/>
        </p:spPr>
        <p:txBody>
          <a:bodyPr wrap="square" lIns="0" tIns="0" rIns="0" bIns="0" rtlCol="0" anchor="ctr"/>
          <a:lstStyle/>
          <a:p>
            <a:pPr indent="0" marL="0">
              <a:lnSpc>
                <a:spcPct val="110000"/>
              </a:lnSpc>
              <a:buNone/>
            </a:pPr>
            <a:r>
              <a:rPr lang="en-US" sz="1250" dirty="0">
                <a:solidFill>
                  <a:srgbClr val="C4D6E0"/>
                </a:solidFill>
                <a:latin typeface="Calibri" pitchFamily="34" charset="0"/>
                <a:ea typeface="Calibri" pitchFamily="34" charset="-122"/>
                <a:cs typeface="Calibri" pitchFamily="34" charset="-120"/>
              </a:rPr>
              <a:t>Líneas futuras: aislar la previsión solar · objetivo de inventario del tanque previo al día nublado · modelo de degradación de la batería · control predictivo a 48 h, donde el mercado ya no está publicado</a:t>
            </a:r>
            <a:endParaRPr lang="en-US" sz="1250" dirty="0"/>
          </a:p>
        </p:txBody>
      </p:sp>
      <p:sp>
        <p:nvSpPr>
          <p:cNvPr id="15" name="Text 13"/>
          <p:cNvSpPr txBox="1"/>
          <p:nvPr/>
        </p:nvSpPr>
        <p:spPr>
          <a:xfrm>
            <a:off x="502920" y="5943600"/>
            <a:ext cx="11185855" cy="384048"/>
          </a:xfrm>
          <a:prstGeom prst="rect">
            <a:avLst/>
          </a:prstGeom>
          <a:noFill/>
          <a:ln/>
        </p:spPr>
        <p:txBody>
          <a:bodyPr wrap="square" lIns="0" tIns="0" rIns="0" bIns="0" rtlCol="0" anchor="ctr"/>
          <a:lstStyle/>
          <a:p>
            <a:pPr algn="ctr" indent="0" marL="0">
              <a:buNone/>
            </a:pPr>
            <a:r>
              <a:rPr lang="en-US" sz="1600" b="1" i="1" dirty="0">
                <a:solidFill>
                  <a:srgbClr val="FFFFFF"/>
                </a:solidFill>
                <a:latin typeface="Cambria" pitchFamily="34" charset="0"/>
                <a:ea typeface="Cambria" pitchFamily="34" charset="-122"/>
                <a:cs typeface="Cambria" pitchFamily="34" charset="-120"/>
              </a:rPr>
              <a:t>Muchas gracias por su atención</a:t>
            </a:r>
            <a:endParaRPr lang="en-US" sz="1600" dirty="0"/>
          </a:p>
        </p:txBody>
      </p:sp>
      <p:sp>
        <p:nvSpPr>
          <p:cNvPr id="16" name="Text 14"/>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6B8794"/>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0394A"/>
        </a:solidFill>
      </p:bgPr>
    </p:bg>
    <p:spTree>
      <p:nvGrpSpPr>
        <p:cNvPr id="1" name=""/>
        <p:cNvGrpSpPr/>
        <p:nvPr/>
      </p:nvGrpSpPr>
      <p:grpSpPr>
        <a:xfrm>
          <a:off x="0" y="0"/>
          <a:ext cx="0" cy="0"/>
          <a:chOff x="0" y="0"/>
          <a:chExt cx="0" cy="0"/>
        </a:xfrm>
      </p:grpSpPr>
      <p:sp>
        <p:nvSpPr>
          <p:cNvPr id="2" name="Text 0"/>
          <p:cNvSpPr txBox="1"/>
          <p:nvPr/>
        </p:nvSpPr>
        <p:spPr>
          <a:xfrm>
            <a:off x="502920" y="2743200"/>
            <a:ext cx="11185855" cy="82296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Diapositivas de reserva</a:t>
            </a:r>
            <a:endParaRPr lang="en-US" sz="3400" dirty="0"/>
          </a:p>
        </p:txBody>
      </p:sp>
      <p:sp>
        <p:nvSpPr>
          <p:cNvPr id="3" name="Text 1"/>
          <p:cNvSpPr txBox="1"/>
          <p:nvPr/>
        </p:nvSpPr>
        <p:spPr>
          <a:xfrm>
            <a:off x="1097280" y="3703320"/>
            <a:ext cx="9997135" cy="640080"/>
          </a:xfrm>
          <a:prstGeom prst="rect">
            <a:avLst/>
          </a:prstGeom>
          <a:noFill/>
          <a:ln/>
        </p:spPr>
        <p:txBody>
          <a:bodyPr wrap="square" lIns="0" tIns="0" rIns="0" bIns="0" rtlCol="0" anchor="ctr"/>
          <a:lstStyle/>
          <a:p>
            <a:pPr algn="ctr" indent="0" marL="0">
              <a:lnSpc>
                <a:spcPct val="120000"/>
              </a:lnSpc>
              <a:buNone/>
            </a:pPr>
            <a:r>
              <a:rPr lang="en-US" sz="1300" dirty="0">
                <a:solidFill>
                  <a:srgbClr val="A9C2D0"/>
                </a:solidFill>
                <a:latin typeface="Calibri" pitchFamily="34" charset="0"/>
                <a:ea typeface="Calibri" pitchFamily="34" charset="-122"/>
                <a:cs typeface="Calibri" pitchFamily="34" charset="-120"/>
              </a:rPr>
              <a:t>R1 semana completa con la Versión C   ·   R2 día nublado hora a hora   ·   R3 nivel del tanque en la semana nublada</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3657600" cy="237744"/>
          </a:xfrm>
          <a:prstGeom prst="rect">
            <a:avLst/>
          </a:prstGeom>
          <a:noFill/>
          <a:ln/>
        </p:spPr>
        <p:txBody>
          <a:bodyPr wrap="square" lIns="0" tIns="0" rIns="0" bIns="0" rtlCol="0" anchor="ctr"/>
          <a:lstStyle/>
          <a:p>
            <a:pPr indent="0" marL="0">
              <a:buNone/>
            </a:pPr>
            <a:r>
              <a:rPr lang="en-US" sz="1000" b="1" spc="220" kern="0" dirty="0">
                <a:solidFill>
                  <a:srgbClr val="C8861E"/>
                </a:solidFill>
                <a:latin typeface="Calibri" pitchFamily="34" charset="0"/>
                <a:ea typeface="Calibri" pitchFamily="34" charset="-122"/>
                <a:cs typeface="Calibri" pitchFamily="34" charset="-120"/>
              </a:rPr>
              <a:t>RESERVA R1</a:t>
            </a:r>
            <a:endParaRPr lang="en-US" sz="1000" dirty="0"/>
          </a:p>
        </p:txBody>
      </p:sp>
      <p:sp>
        <p:nvSpPr>
          <p:cNvPr id="3" name="Text 1"/>
          <p:cNvSpPr txBox="1"/>
          <p:nvPr/>
        </p:nvSpPr>
        <p:spPr>
          <a:xfrm>
            <a:off x="502920" y="640080"/>
            <a:ext cx="3794760" cy="1371600"/>
          </a:xfrm>
          <a:prstGeom prst="rect">
            <a:avLst/>
          </a:prstGeom>
          <a:noFill/>
          <a:ln/>
        </p:spPr>
        <p:txBody>
          <a:bodyPr wrap="square" lIns="0" tIns="0" rIns="0" bIns="0" rtlCol="0" anchor="t"/>
          <a:lstStyle/>
          <a:p>
            <a:pPr indent="0" marL="0">
              <a:lnSpc>
                <a:spcPct val="105000"/>
              </a:lnSpc>
              <a:buNone/>
            </a:pPr>
            <a:r>
              <a:rPr lang="en-US" sz="2300" b="1" dirty="0">
                <a:solidFill>
                  <a:srgbClr val="10394A"/>
                </a:solidFill>
                <a:latin typeface="Cambria" pitchFamily="34" charset="0"/>
                <a:ea typeface="Cambria" pitchFamily="34" charset="-122"/>
                <a:cs typeface="Cambria" pitchFamily="34" charset="-120"/>
              </a:rPr>
              <a:t>Una semana completa con la Versión C</a:t>
            </a:r>
            <a:endParaRPr lang="en-US" sz="2300" dirty="0"/>
          </a:p>
        </p:txBody>
      </p:sp>
      <p:sp>
        <p:nvSpPr>
          <p:cNvPr id="4" name="Text 2"/>
          <p:cNvSpPr txBox="1"/>
          <p:nvPr/>
        </p:nvSpPr>
        <p:spPr>
          <a:xfrm>
            <a:off x="502920" y="2103120"/>
            <a:ext cx="3794760" cy="548640"/>
          </a:xfrm>
          <a:prstGeom prst="rect">
            <a:avLst/>
          </a:prstGeom>
          <a:noFill/>
          <a:ln/>
        </p:spPr>
        <p:txBody>
          <a:bodyPr wrap="square" lIns="0" tIns="0" rIns="0" bIns="0" rtlCol="0" anchor="t"/>
          <a:lstStyle/>
          <a:p>
            <a:pPr indent="0" marL="0">
              <a:buNone/>
            </a:pPr>
            <a:r>
              <a:rPr lang="en-US" sz="1250" i="1" dirty="0">
                <a:solidFill>
                  <a:srgbClr val="5F6B72"/>
                </a:solidFill>
                <a:latin typeface="Calibri" pitchFamily="34" charset="0"/>
                <a:ea typeface="Calibri" pitchFamily="34" charset="-122"/>
                <a:cs typeface="Calibri" pitchFamily="34" charset="-120"/>
              </a:rPr>
              <a:t>Escenario laborable soleado, semilla 1</a:t>
            </a:r>
            <a:endParaRPr lang="en-US" sz="1250" dirty="0"/>
          </a:p>
        </p:txBody>
      </p:sp>
      <p:sp>
        <p:nvSpPr>
          <p:cNvPr id="5" name="Shape 3"/>
          <p:cNvSpPr/>
          <p:nvPr/>
        </p:nvSpPr>
        <p:spPr>
          <a:xfrm>
            <a:off x="502920" y="2743200"/>
            <a:ext cx="3794760" cy="0"/>
          </a:xfrm>
          <a:prstGeom prst="line">
            <a:avLst/>
          </a:prstGeom>
          <a:noFill/>
          <a:ln w="9525">
            <a:solidFill>
              <a:srgbClr val="DDE3E6"/>
            </a:solidFill>
            <a:prstDash val="solid"/>
          </a:ln>
        </p:spPr>
      </p:sp>
      <p:sp>
        <p:nvSpPr>
          <p:cNvPr id="6" name="Text 4"/>
          <p:cNvSpPr txBox="1"/>
          <p:nvPr/>
        </p:nvSpPr>
        <p:spPr>
          <a:xfrm>
            <a:off x="502920" y="2926080"/>
            <a:ext cx="3794760" cy="3017520"/>
          </a:xfrm>
          <a:prstGeom prst="rect">
            <a:avLst/>
          </a:prstGeom>
          <a:noFill/>
          <a:ln/>
        </p:spPr>
        <p:txBody>
          <a:bodyPr wrap="square" lIns="0" tIns="0" rIns="0" bIns="0" rtlCol="0" anchor="t"/>
          <a:lstStyle/>
          <a:p>
            <a:pPr indent="0" marL="0">
              <a:lnSpc>
                <a:spcPct val="118000"/>
              </a:lnSpc>
              <a:buNone/>
            </a:pPr>
            <a:r>
              <a:rPr lang="en-US" sz="1200" dirty="0">
                <a:solidFill>
                  <a:srgbClr val="1C1C1C"/>
                </a:solidFill>
                <a:latin typeface="Calibri" pitchFamily="34" charset="0"/>
                <a:ea typeface="Calibri" pitchFamily="34" charset="-122"/>
                <a:cs typeface="Calibri" pitchFamily="34" charset="-120"/>
              </a:rPr>
              <a:t>Potencias en el bus de alterna · precio horario · SOC con la reserva del 60 % · nivel de los dos tanques.</a:t>
            </a:r>
            <a:endParaRPr lang="en-US" sz="1200" dirty="0"/>
          </a:p>
        </p:txBody>
      </p:sp>
      <p:pic>
        <p:nvPicPr>
          <p:cNvPr id="7" name="Image 0" descr="img/fig_res_panorama.png">    </p:cNvPr>
          <p:cNvPicPr>
            <a:picLocks noChangeAspect="1"/>
          </p:cNvPicPr>
          <p:nvPr/>
        </p:nvPicPr>
        <p:blipFill>
          <a:blip r:embed="rId1"/>
          <a:stretch>
            <a:fillRect/>
          </a:stretch>
        </p:blipFill>
        <p:spPr>
          <a:xfrm>
            <a:off x="4712377" y="640080"/>
            <a:ext cx="6973181" cy="557784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3657600" cy="237744"/>
          </a:xfrm>
          <a:prstGeom prst="rect">
            <a:avLst/>
          </a:prstGeom>
          <a:noFill/>
          <a:ln/>
        </p:spPr>
        <p:txBody>
          <a:bodyPr wrap="square" lIns="0" tIns="0" rIns="0" bIns="0" rtlCol="0" anchor="ctr"/>
          <a:lstStyle/>
          <a:p>
            <a:pPr indent="0" marL="0">
              <a:buNone/>
            </a:pPr>
            <a:r>
              <a:rPr lang="en-US" sz="1000" b="1" spc="220" kern="0" dirty="0">
                <a:solidFill>
                  <a:srgbClr val="C8861E"/>
                </a:solidFill>
                <a:latin typeface="Calibri" pitchFamily="34" charset="0"/>
                <a:ea typeface="Calibri" pitchFamily="34" charset="-122"/>
                <a:cs typeface="Calibri" pitchFamily="34" charset="-120"/>
              </a:rPr>
              <a:t>RESERVA R2</a:t>
            </a:r>
            <a:endParaRPr lang="en-US" sz="1000" dirty="0"/>
          </a:p>
        </p:txBody>
      </p:sp>
      <p:sp>
        <p:nvSpPr>
          <p:cNvPr id="3" name="Text 1"/>
          <p:cNvSpPr txBox="1"/>
          <p:nvPr/>
        </p:nvSpPr>
        <p:spPr>
          <a:xfrm>
            <a:off x="502920" y="640080"/>
            <a:ext cx="3794760" cy="1371600"/>
          </a:xfrm>
          <a:prstGeom prst="rect">
            <a:avLst/>
          </a:prstGeom>
          <a:noFill/>
          <a:ln/>
        </p:spPr>
        <p:txBody>
          <a:bodyPr wrap="square" lIns="0" tIns="0" rIns="0" bIns="0" rtlCol="0" anchor="t"/>
          <a:lstStyle/>
          <a:p>
            <a:pPr indent="0" marL="0">
              <a:lnSpc>
                <a:spcPct val="105000"/>
              </a:lnSpc>
              <a:buNone/>
            </a:pPr>
            <a:r>
              <a:rPr lang="en-US" sz="2300" b="1" dirty="0">
                <a:solidFill>
                  <a:srgbClr val="10394A"/>
                </a:solidFill>
                <a:latin typeface="Cambria" pitchFamily="34" charset="0"/>
                <a:ea typeface="Cambria" pitchFamily="34" charset="-122"/>
                <a:cs typeface="Cambria" pitchFamily="34" charset="-120"/>
              </a:rPr>
              <a:t>Un día del escenario nublado, hora a hora</a:t>
            </a:r>
            <a:endParaRPr lang="en-US" sz="2300" dirty="0"/>
          </a:p>
        </p:txBody>
      </p:sp>
      <p:sp>
        <p:nvSpPr>
          <p:cNvPr id="4" name="Text 2"/>
          <p:cNvSpPr txBox="1"/>
          <p:nvPr/>
        </p:nvSpPr>
        <p:spPr>
          <a:xfrm>
            <a:off x="502920" y="2103120"/>
            <a:ext cx="3794760" cy="548640"/>
          </a:xfrm>
          <a:prstGeom prst="rect">
            <a:avLst/>
          </a:prstGeom>
          <a:noFill/>
          <a:ln/>
        </p:spPr>
        <p:txBody>
          <a:bodyPr wrap="square" lIns="0" tIns="0" rIns="0" bIns="0" rtlCol="0" anchor="t"/>
          <a:lstStyle/>
          <a:p>
            <a:pPr indent="0" marL="0">
              <a:buNone/>
            </a:pPr>
            <a:r>
              <a:rPr lang="en-US" sz="1250" i="1" dirty="0">
                <a:solidFill>
                  <a:srgbClr val="5F6B72"/>
                </a:solidFill>
                <a:latin typeface="Calibri" pitchFamily="34" charset="0"/>
                <a:ea typeface="Calibri" pitchFamily="34" charset="-122"/>
                <a:cs typeface="Calibri" pitchFamily="34" charset="-120"/>
              </a:rPr>
              <a:t>Misma semilla, Versión A frente a Versión C</a:t>
            </a:r>
            <a:endParaRPr lang="en-US" sz="1250" dirty="0"/>
          </a:p>
        </p:txBody>
      </p:sp>
      <p:sp>
        <p:nvSpPr>
          <p:cNvPr id="5" name="Shape 3"/>
          <p:cNvSpPr/>
          <p:nvPr/>
        </p:nvSpPr>
        <p:spPr>
          <a:xfrm>
            <a:off x="502920" y="2743200"/>
            <a:ext cx="3794760" cy="0"/>
          </a:xfrm>
          <a:prstGeom prst="line">
            <a:avLst/>
          </a:prstGeom>
          <a:noFill/>
          <a:ln w="9525">
            <a:solidFill>
              <a:srgbClr val="DDE3E6"/>
            </a:solidFill>
            <a:prstDash val="solid"/>
          </a:ln>
        </p:spPr>
      </p:sp>
      <p:sp>
        <p:nvSpPr>
          <p:cNvPr id="6" name="Text 4"/>
          <p:cNvSpPr txBox="1"/>
          <p:nvPr/>
        </p:nvSpPr>
        <p:spPr>
          <a:xfrm>
            <a:off x="502920" y="2926080"/>
            <a:ext cx="3794760" cy="3017520"/>
          </a:xfrm>
          <a:prstGeom prst="rect">
            <a:avLst/>
          </a:prstGeom>
          <a:noFill/>
          <a:ln/>
        </p:spPr>
        <p:txBody>
          <a:bodyPr wrap="square" lIns="0" tIns="0" rIns="0" bIns="0" rtlCol="0" anchor="t"/>
          <a:lstStyle/>
          <a:p>
            <a:pPr indent="0" marL="0">
              <a:lnSpc>
                <a:spcPct val="118000"/>
              </a:lnSpc>
              <a:buNone/>
            </a:pPr>
            <a:r>
              <a:rPr lang="en-US" sz="1200" dirty="0">
                <a:solidFill>
                  <a:srgbClr val="1C1C1C"/>
                </a:solidFill>
                <a:latin typeface="Calibri" pitchFamily="34" charset="0"/>
                <a:ea typeface="Calibri" pitchFamily="34" charset="-122"/>
                <a:cs typeface="Calibri" pitchFamily="34" charset="-120"/>
              </a:rPr>
              <a:t>En C la batería baja hasta la reserva alimentando al electrolizador y la importación desaparece; en A la batería se mantiene llena y el electrolizador consume red.</a:t>
            </a:r>
            <a:endParaRPr lang="en-US" sz="1200" dirty="0"/>
          </a:p>
        </p:txBody>
      </p:sp>
      <p:pic>
        <p:nvPicPr>
          <p:cNvPr id="7" name="Image 0" descr="img/fig_res_dia_nublado.png">    </p:cNvPr>
          <p:cNvPicPr>
            <a:picLocks noChangeAspect="1"/>
          </p:cNvPicPr>
          <p:nvPr/>
        </p:nvPicPr>
        <p:blipFill>
          <a:blip r:embed="rId1"/>
          <a:stretch>
            <a:fillRect/>
          </a:stretch>
        </p:blipFill>
        <p:spPr>
          <a:xfrm>
            <a:off x="4712818" y="640080"/>
            <a:ext cx="6972300" cy="55778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3657600" cy="237744"/>
          </a:xfrm>
          <a:prstGeom prst="rect">
            <a:avLst/>
          </a:prstGeom>
          <a:noFill/>
          <a:ln/>
        </p:spPr>
        <p:txBody>
          <a:bodyPr wrap="square" lIns="0" tIns="0" rIns="0" bIns="0" rtlCol="0" anchor="ctr"/>
          <a:lstStyle/>
          <a:p>
            <a:pPr indent="0" marL="0">
              <a:buNone/>
            </a:pPr>
            <a:r>
              <a:rPr lang="en-US" sz="1000" b="1" spc="220" kern="0" dirty="0">
                <a:solidFill>
                  <a:srgbClr val="C8861E"/>
                </a:solidFill>
                <a:latin typeface="Calibri" pitchFamily="34" charset="0"/>
                <a:ea typeface="Calibri" pitchFamily="34" charset="-122"/>
                <a:cs typeface="Calibri" pitchFamily="34" charset="-120"/>
              </a:rPr>
              <a:t>RESERVA R3</a:t>
            </a:r>
            <a:endParaRPr lang="en-US" sz="1000" dirty="0"/>
          </a:p>
        </p:txBody>
      </p:sp>
      <p:sp>
        <p:nvSpPr>
          <p:cNvPr id="3" name="Text 1"/>
          <p:cNvSpPr txBox="1"/>
          <p:nvPr/>
        </p:nvSpPr>
        <p:spPr>
          <a:xfrm>
            <a:off x="502920" y="585216"/>
            <a:ext cx="11185855" cy="457200"/>
          </a:xfrm>
          <a:prstGeom prst="rect">
            <a:avLst/>
          </a:prstGeom>
          <a:noFill/>
          <a:ln/>
        </p:spPr>
        <p:txBody>
          <a:bodyPr wrap="square" lIns="0" tIns="0" rIns="0" bIns="0" rtlCol="0" anchor="ctr"/>
          <a:lstStyle/>
          <a:p>
            <a:pPr indent="0" marL="0">
              <a:buNone/>
            </a:pPr>
            <a:r>
              <a:rPr lang="en-US" sz="2400" b="1" dirty="0">
                <a:solidFill>
                  <a:srgbClr val="10394A"/>
                </a:solidFill>
                <a:latin typeface="Cambria" pitchFamily="34" charset="0"/>
                <a:ea typeface="Cambria" pitchFamily="34" charset="-122"/>
                <a:cs typeface="Cambria" pitchFamily="34" charset="-120"/>
              </a:rPr>
              <a:t>Nivel del tanque de alta en la semana nublada</a:t>
            </a:r>
            <a:endParaRPr lang="en-US" sz="2400" dirty="0"/>
          </a:p>
        </p:txBody>
      </p:sp>
      <p:sp>
        <p:nvSpPr>
          <p:cNvPr id="4" name="Text 2"/>
          <p:cNvSpPr txBox="1"/>
          <p:nvPr/>
        </p:nvSpPr>
        <p:spPr>
          <a:xfrm>
            <a:off x="502920" y="1060704"/>
            <a:ext cx="11185855" cy="292608"/>
          </a:xfrm>
          <a:prstGeom prst="rect">
            <a:avLst/>
          </a:prstGeom>
          <a:noFill/>
          <a:ln/>
        </p:spPr>
        <p:txBody>
          <a:bodyPr wrap="square" lIns="0" tIns="0" rIns="0" bIns="0" rtlCol="0" anchor="ctr"/>
          <a:lstStyle/>
          <a:p>
            <a:pPr indent="0" marL="0">
              <a:buNone/>
            </a:pPr>
            <a:r>
              <a:rPr lang="en-US" sz="1250" i="1" dirty="0">
                <a:solidFill>
                  <a:srgbClr val="5F6B72"/>
                </a:solidFill>
                <a:latin typeface="Calibri" pitchFamily="34" charset="0"/>
                <a:ea typeface="Calibri" pitchFamily="34" charset="-122"/>
                <a:cs typeface="Calibri" pitchFamily="34" charset="-120"/>
              </a:rPr>
              <a:t>Misma semilla, Versión A frente a Versión C</a:t>
            </a:r>
            <a:endParaRPr lang="en-US" sz="1250" dirty="0"/>
          </a:p>
        </p:txBody>
      </p:sp>
      <p:pic>
        <p:nvPicPr>
          <p:cNvPr id="5" name="Image 0" descr="img/fig_res_tanque_nublado.png">    </p:cNvPr>
          <p:cNvPicPr>
            <a:picLocks noChangeAspect="1"/>
          </p:cNvPicPr>
          <p:nvPr/>
        </p:nvPicPr>
        <p:blipFill>
          <a:blip r:embed="rId1"/>
          <a:stretch>
            <a:fillRect/>
          </a:stretch>
        </p:blipFill>
        <p:spPr>
          <a:xfrm>
            <a:off x="952348" y="1463040"/>
            <a:ext cx="10287000" cy="4114800"/>
          </a:xfrm>
          <a:prstGeom prst="rect">
            <a:avLst/>
          </a:prstGeom>
        </p:spPr>
      </p:pic>
      <p:sp>
        <p:nvSpPr>
          <p:cNvPr id="6" name="Text 3"/>
          <p:cNvSpPr txBox="1"/>
          <p:nvPr/>
        </p:nvSpPr>
        <p:spPr>
          <a:xfrm>
            <a:off x="502920" y="5687568"/>
            <a:ext cx="11185855" cy="548640"/>
          </a:xfrm>
          <a:prstGeom prst="rect">
            <a:avLst/>
          </a:prstGeom>
          <a:noFill/>
          <a:ln/>
        </p:spPr>
        <p:txBody>
          <a:bodyPr wrap="square" lIns="0" tIns="0" rIns="0" bIns="0" rtlCol="0" anchor="ctr"/>
          <a:lstStyle/>
          <a:p>
            <a:pPr indent="0" marL="0">
              <a:lnSpc>
                <a:spcPct val="110000"/>
              </a:lnSpc>
              <a:buNone/>
            </a:pP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Defensa TFG - EMS estacion multi-energia</dc:title>
  <dc:subject>PptxGenJS Presentation</dc:subject>
  <dc:creator>Fernando Roman Hidalgo</dc:creator>
  <cp:lastModifiedBy>Fernando Roman Hidalgo</cp:lastModifiedBy>
  <cp:revision>1</cp:revision>
  <dcterms:created xsi:type="dcterms:W3CDTF">2026-09-16T17:44:22Z</dcterms:created>
  <dcterms:modified xsi:type="dcterms:W3CDTF">2026-09-16T17:44:22Z</dcterms:modified>
</cp:coreProperties>
</file>