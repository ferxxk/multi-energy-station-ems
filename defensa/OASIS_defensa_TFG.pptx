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Gracias, presidente.
Soy Fernando Román Hidalgo y presento el Trabajo Fin de Grado «Estrategias de gestión energética para una estación de repostaje multi-energía», dirigido por el catedrático Miguel Ángel Ridao Carlini, del Departamento de Ingeniería de Sistemas y Automática.
La charla tiene tres movimientos: el planteamiento y los datos, los dos modelos de predicción, y los tres gestores de energía que comparo.
— — — — —
NO SE DICE · objetivo 0:29 · No leas el título: ya está en pantalla. Anuncia la estructura y levanta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transporte es una cuarta parte de las emisiones de la Unión, y casi tres cuartas partes de esa fracción son carretera. Es uno de los focos que el Pacto Verde Europeo tiene que cerrar.
El marco ya pone fechas. La Hoja de Ruta del Hidrógeno fija entre cien y ciento cincuenta hidrogeneras públicas para dos mil treinta, y sitúa los corredores de repostaje verde como prioridad. El PNIEC fija cinco millones y medio de vehículos eléctricos en España para esa misma fecha. Y el reglamento europeo AFIR convierte el despliegue de recarga en objetivos vinculantes.
El problema es esa fragmentación: cada vector arrastra hoy su propia infraestructura y su propia inversión.
Y ya hay precedentes: Repsol inauguró en dos mil veinticinco la estación de Morro Jable, en Fuerteventura, que es casi la combinación de componentes de OASIS a menor escala y sin electrolizador propio.
Con esa integración el reto deja de ser de dimensionamiento y pasa a ser de operación: decidir, en cada instante, de dónde sale cada kilovatio.
— — — — —
NO SE DICE · objetivo 1:16 · Las dos referencias que demuestran que has investigado —H2ME y Morro Jable— van habladas, no en pantalla. Morro Jable es tu mejor baza: casi los mismos componentes que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instalación: la microrred OASIS del departamento, modelada en Simulink sobre la librería Simugrid. Tienen en pantalla los seis componentes con sus tamaños; el orden de magnitud es medio megavatio de fotovoltaica, un megavatio-hora de batería y doscientos kilovatios de electrolizador.
El modelo de Simulink viene del trabajo previo del grupo, y lo primero que hice fue ajustar su parametrización a la escala de una electrolinera, para que la estación no quedara sobredimensionada. Y hay dos tamaños que sí salen de la demanda medida: los cargadores, cincuenta kilovatios y dos unidades, y la pila de combustible, ciento treinta kilovatios, que es el pico de los dos cargadores más el compresor y un margen del diez por ciento. En dos diapositivas están los datos de demanda que lo sostienen.
— — — — —
NO SE DICE · objetivo 0:58 · No recites la tabla: está en pantalla. Lo que aportas hablando es la distinción entre heredado y dimensionado.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gestor de energía —el EMS, por sus siglas en inglés— es este único bloque de Simulink, y toma tres decisiones.
Cuando sobra sol, cómo repartir el excedente entre cargar la batería y producir hidrógeno. Cuando falta, en qué orden cubrir el déficit: batería, pila, red. Y en todo momento, si conviene producir hidrógeno o reponerlo desde fuera, comparando el coste del kilogramo producido aquí con su precio de reposición.
Todas las versiones que voy a comparar mantienen exactamente esta firma. Cambia el script del bloque de decisión y nada más: el mismo modelo físico, los mismos perfiles de entrada, la misma semilla de demanda.
Y el objetivo del trabajo no es solo mejorar ese gestor, sino poder atribuir la mejora: cuánto viene de la predicción y cuánto de las reglas que la consumen.
— — — — —
NO SE DICE · objetivo 1:00 · «Solo cambia el bloque de decisión» es tu primer blindaje metodológico.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bloque de datos sirve para dimensionar, y fija dos parámetros de la instalación.
La fuente es DESL-EPFL, casi mil novecientas sesiones reales de carga rápida con una energía media de treinta y dos kilovatios-hora, contrastadas con las de Caltech para comprobar que carga rápida y carga lenta son familias distintas.
De ahí salen las dos cifras del dimensionado. Cincuenta kilovatios cubren una sesión media en unos cuarenta minutos sin exigir transformador de media tensión. Y el número de cargadores sale de la cola en hora punta: con uno la espera media se va a media hora, con dos baja a dos minutos, y el tercero ya no compensa.
Dimensiono sobre el panorama actual a propósito: es el escenario del que hay datos reales, y escalar hacia arriba es más fácil que hacia abajo, más con una arquitectura modular como esta.
Con esas distribuciones se genera el perfil de demanda de cada simulación. Es estocástico, y eso importará en la comparación.
— — — — —
NO SE DICE · objetivo 1:13 · Este bloque es trabajo tuyo de principio a fin. Cuéntalo con calma: es lo que justifica que la instalación sea creíble.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bloque es el de entrenamiento, y son dos fuentes públicas alineadas hora a hora.
Para la irradiancia, NASA POWER, que es un reanálisis meteorológico: de ahí saco, para el punto de Sevilla, casi veinte años de registro horario y las variables que explican la nubosidad. Un detalle que merece la pena: la hora y el día no entran como un número, sino codificados en seno y coseno, para que el modelo sepa que las once de la noche y la medianoche —que en la escala numérica son el veintitrés y el cero— están pegadas, y no en los extremos opuestos.
Para el precio, las casaciones del mercado diario español a través de ENTSO-E. Además del histórico, entra el contexto que explica su deriva: sobre todo la capacidad fotovoltaica instalada en España, que ha crecido lo suficiente como para cambiar la forma del precio a mediodía.
Y un detalle que importa: el reparto entre entrenamiento y prueba es temporal, nunca aleatorio. Mezclar horas le regalaría al modelo información del futuro.
— — — — —
NO SE DICE · objetivo 1:16 · La frase del split es la que te compra credibilidad con un tribunal que sabe de aprendizaje automático.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redes comparten arquitectura: dos capas LSTM apiladas —redes recurrentes con memoria larga— y una salida de veinticuatro valores, que es el horizonte de un día. Se entrenan con Adam y paran por criterio de validación. En pantalla, la curva de RMSE: azul entrenamiento, negro validación. No se separan: no hay sobreajuste.
Entreno con RMSE, el error cuadrático medio, porque al elevar al cuadrado penaliza mucho más un fallo grande que varios pequeños, y aquí lo que rompe una decisión es el fallo grande: no ver una punta de precio o una caída de sol. Para comparar modelos uso después el error absoluto medio, que está en las unidades de la variable y no lo dominan cuatro horas atípicas.
Una diferencia que importa: el modelo solar puede imponer que la irradiancia predicha no sea negativa. El de precio no, porque el precio admite negativos.
— — — — —
NO SE DICE · objetivo 1:04 · Rápida. Es la diapositiva de «así están hechas», no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está el problema, el resultado que reorientó este capítulo.
Cada red se evalúa contra su línea base: la solar contra la persistencia de cielo claro, la de precio contra la de veinticuatro horas. Y no es una vara de medir cualquiera: en estas dos series el día de hoy se parece muchísimo al de ayer, así que «lo mismo que ayer» acierta la mayor parte del tiempo. Es una referencia dura.
Ninguna de las dos la bate: la solar queda un ocho coma ocho por ciento por detrás, la de precio un siete coma uno.
Pero el motivo de esa derrota es lo que abre la solución. Una red recurrente está pensada para anticipar cambios, no para repetir lo de ayer. En las horas en que no pasa nada, que son la mayoría, la persistencia es imbatible; en las que sí pasa algo, que son las que deciden, aporta la red. Lo ven en el panel de abajo a la izquierda: el día nublado la red da cuatrocientos veinte y lo real fueron doscientos sesenta. Aciertan en sitios distintos, así que la salida no es elegir una, sino combinarlas.
— — — — —
NO SE DICE · objetivo 1:25 · Presentar esto como resultado medido, no como fallo. Es lo que demuestra que validaste contra la referencia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tiene tres partes, y ninguna exige reentrenar.
La primera es física: acotar la predicción a la envolvente de cielo claro, no dejar que la irradiancia prevista supere la de un día despejado. Con eso el error medio diurno baja de cincuenta y nueve a cincuenta y seis vatios-hora por metro cuadrado.
La segunda da nombre a la diapositiva: ponderar la red con su propia línea base, una combinación convexa con un peso distinto por cada hora del horizonte, ajustado en validación y nunca en test.
La tercera es la corrección del lazo cerrado, realimentando con el precio real de la hora ya transcurrida, que sigue siendo causal.
Y el resultado es que la señal combinada sí bate a su línea base: un cinco coma ocho por ciento mejor en solar y un seis coma seis en precio. Conviene decir sobre qué se mide esa mejora: no sobre no predecir nada, sino sobre una referencia que ya acierta la mayor parte del tiempo.
— — — — —
NO SE DICE · objetivo 1:13 · Esta es la diapositiva que cierra el bloque de redes. Deja claro que lo desplegado es la señal combinada.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los gestores hacen falta escenarios, y no los elegí al azar: cruzan las dos variables que gobiernan la decisión del EMS, recurso solar y régimen de precio.
Un laborable soleado con precio plano. Un laborable nublado, que es el caso sin excedente, con punta de precio por la tarde. Un fin de semana soleado, con precio casi nulo a mediodía. Y el de mayor diferencial de precio de todo dos mil veinticinco.
Cada escenario no se simula como un día suelto, sino como la semana real de siete días que arranca en esa fecha, con su precio y su irradiancia de calendario. Y cada uno se repite con cinco semillas del generador de demanda.
— — — — —
NO SE DICE · objetivo 0:52 · Enlaza directa con la siguiente: «y esas semillas son la clave de cómo comparo».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las cifras, las cuatro piezas que las sostienen.
La primera es comparar en pareja, que es el esquema: la misma semilla genera el mismo perfil de demanda para todas las versiones, así que comparo dos versiones sobre la misma semana y no dos promedios. El azar de la demanda se va en la resta. Veinte pares: cuatro escenarios por cinco semillas.
La segunda es el test de Wilcoxon: en vez de mirar si la media mejora, mira si las diferencias caen siempre del mismo lado. Lo elegí porque unas pocas semanas nubladas muy caras bastaban para arrastrar la media.
La tercera es un umbral de relevancia, y es el que me pongo en contra: por debajo de nueve euros a la semana, que es lo que varía la propia referencia solo por cambiar de semillas, lo doy por empate. Fijado antes de simular.
Y la cuarta es el oráculo: repetir la tanda con la previsión perfecta. Es un techo. Si con previsión perfecta una idea no gana, mejorar la predicción no la va a salvar.
— — — — —
NO SE DICE · objetivo 1:19 · Ritmo pausado, una pieza cada vez. Es la diapositiva que te compra credibilidad para todo el bloque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gestor, la Versión A, es la referencia: viene del TFM previo del grupo y lo he portado a esta arquitectura.
Quiero insistir en lo que ya trae, porque condiciona cómo se lee todo lo demás. Tienen las cuatro en pantalla; me detengo en dos. El tiempo mínimo de funcionamiento de dos horas con histéresis, para que los equipos electroquímicos no conmuten cada pocos minutos. Y una decisión económica de producir, que compara el coste del kilogramo producido aquí con lo que costaría reponerlo fuera.
Es decir, ya tiene los mecanismos que distinguen a un gestor de reglas maduro de un reparto por prioridades. Lo que no tiene es ninguna predicción.
— — — — —
NO SE DICE · objetivo 0:50 · Si el tribunal no retiene esto, el 14 % del final parecerá fácil.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B es la misma heurística con las dos previsiones metidas dentro. No cambia la arquitectura: cambia lo que mira la regla en el momento de decidir.
La previsión solar entra en el reparto del excedente: antes dependía solo del estado de carga del instante; ahora, si se anticipa que el excedente va a caer, el reparto se desplaza hacia la batería antes de que caiga. Y la de precio gobierna un arbitraje de batería.
B se comparó sobre veinticuatro horas con diez semillas, cuarenta pares, porque ahí lo que importa es la dinámica eléctrica. Y tiene una victoria y un empate. La victoria es el servicio de hidrógeno —el nivel medio del tanque de alta y el tiempo que pasa por debajo del nivel crítico—: mejora en treinta y nueve de los cuarenta pares. La mejora es pequeña, pero escala con la calidad de la previsión: con el oráculo se multiplica por diez. Lo que limita es la predicción, no el diseño.
El empate es el coste, y de ahí sale la regla de diseño que aplico después: la primera versión del arbitraje traducía «el precio va a subir» en una acción de tamaño fijo, y empeoraba el coste, más cuanto mejor era la previsión. Una acción disparada por una previsión tiene que salir del margen económico disponible, no de una constante.
— — — — —
NO SE DICE · objetivo 1:40 · Tono de quien informa. B tiene su victoria y la cuentas primero; el empate en coste viene después y sin disculpas.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no movió el coste, así que la pregunta pasó a ser dónde se va ese dinero. Volví a la Versión A y descompuse su importación de red por destinos, y apareció esto.
De los mil trescientos veintiún kilovatios-hora que compra a la red en una semana, el setenta y seis por ciento van al electrolizador, a ciento veintiuno con cinco euros el megavatio-hora. Y en los instantes exactos en que los compra, la batería está al ochenta y cinco por ciento de media.
Pongan eso junto al otro lado del balance: en esa misma semana la estación exporta catorce mil kilovatios-hora a treinta y nueve euros. Vende diez veces más energía de la que compra, y la compra tres veces más cara de lo que la vende. Está pasando la misma energía dos veces por el contador, y perdiendo en los dos sentidos.
El motivo está en el orden del código: la batería cubre primero los vehículos y, en un paso posterior, la decisión económica enciende el electrolizador; esa carga nueva no se le vuelve a ofrecer, así que la absorbe la red.
— — — — —
NO SE DICE · objetivo 1:23 · Sobrio. Es un diagnóstico de ingeniería, no una revelación. Deja aire entre las tres cifras y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C separa dos decisiones que la heurística tomaba juntas: de dónde sale la energía del electrolizador y cuándo conviene producir. En pantalla, los cuatro pasos de la lógica común, con los dos que sustituyo en ámbar.
El primero son diez líneas: la carga que crea la decisión de producir hidrógeno se le ofrece a la batería antes que a la red, mientras el estado de carga esté por encima del sesenta por ciento, que sale del contrafactual del diagnóstico anterior.
El segundo es un planificador: estima cuánto hidrógeno falta y cuánto excedente gratis viene, y de ahí salen las horas de electrolizador que hay que comprar a la red, que se colocan en las más baratas del horizonte.
Y conviene precisar de dónde sale ese precio: el mercado diario publica sobre la una de la tarde las veinticuatro horas del día siguiente, así que la parte ya publicada se usa tal cual y solo se predice el tramo que falta.
Y lo que hace defendible la regla es que solo usa el orden: la decisión es «estoy entre las ene más baratas, sí o no», y eso no cambia si la previsión falla en el nivel mientras acierte en el orden.
— — — — —
NO SE DICE · objetivo 1:31 · La invariancia monótona es el argumento más elegante del trabajo. Dilo despacio.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de la Versión C, sobre siete días y veinte pares escenario-semilla.
La figura es la diferencia de coste frente a la A, escenario por escenario; la banda gris es el umbral de relevancia. B cae dentro de la banda en los cuatro: en coste empata. C se sale por la izquierda en los cuatro, y por bastante.
En la tabla, tres métricas. El coste baja unos cincuenta y dos euros por semana: casi un catorce por ciento, y gana en los veinte pares. La importación de red cae a la mitad, un cincuenta y cuatro por ciento. Y la autosuficiencia sube del ochenta y ocho al noventa y cuatro por ciento.
El orden entre escenarios no lo fija el excedente, sino el precio al que compraba el electrolizador: se ahorra más donde más caro compraba.
Y la mejora tiene un precio, que declaro yo. Los tres kilos de hidrógeno que hay que reponer desde fuera en el nublado sí están valorados dentro de esos cincuenta y dos euros. El ciclado no: la batería mueve dos coma dos veces más energía y la degradación no está modelada. Es la principal reserva que le pongo yo mismo al resultado.
— — — — —
NO SE DICE · objetivo 1:29 · El contrapeso va en la misma diapositiva y lo dices tú. No lo dejes para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cada mecanismo tiene su interruptor, la mejora se atribuye pieza a pieza. Tres tandas, el mismo fichero, los mismos veinte pares: la versión con solo el primer cambio, la que le añade el planificador con el precio ya publicado, y la completa.
Alimentar el electrolizador desde la batería, solo eso: menos cuarenta y siete euros con uno. El noventa por ciento del ahorro, en veinte de veinte pares.
Añadir el planificador: cinco euros más. Y es aquí donde entra la previsión solar, porque el planificador la usa para estimar cuánto excedente gratis viene: su aportación está dentro de esta cifra y no se puede aislar de ella. Wilcoxon la da por significativa, pero cae por debajo de mi umbral de nueve, así que la declaro empate. El mecanismo no es comprar más barato, sino comprar menos.
Y añadir la red neuronal de precio: cero. Las dos tandas salen idénticas a precisión de máquina en los cuarenta indicadores. La razón es de disponibilidad de información: el mercado publica a las trece horas el día siguiente, así que el planificador ve entre once y treinta y cinco horas ya publicadas. Solo hay que predecir lo que quede del horizonte, y en la campaña ese tramo no cambió ni una de las decisiones.
— — — — —
NO SE DICE · objetivo 1:34 · Sin dramatizar el cero. Es un dato de la atribución, y la atribución es la aportación metodológica del trabajo. SI TE ATACAN EL TÍTULO («habla de LSTM y el 90 % no la usa»): el título dice CUANTIFICAR la mejora de la predicción, y cuantificar incluye que salga pequeña. B sí usa previsión y sí mejora, pero en servicio de hidrógeno, no en coste. Ver pregunta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agrupadas según a qué afectan.
Del modelo físico: algunos bloques asumen simplificaciones, la más relevante la ecuación de gas ideal en los tanques, que hace caber más hidrógeno del que cabría de verdad. Y la pila no llega a arrancar, que no es un fallo del gestor sino la decisión correcta: recuperar electricidad del hidrógeno es el camino más caro y con más pérdidas de la estación. Tiene sentido en modo isla, y ese modo no lo ejercito.
De los datos: la irradiancia sale de un reanálisis, que es lo que hace falta para entrenar pero no es la señal que tendría la estación en tiempo real; cambiarla por una previsión operativa no toca el modelo, solo la entrada. Y la demanda de hidrógeno se construye por analogía con la eléctrica porque aún no hay flota de la que medirla; es la misma para las tres versiones, así que no favorece a ninguna.
Y de alcance: el coste no incluye peajes ni cargos, así que las cifras son comparativas. Y los umbrales están ajustados a esta instalación: llevar el algoritmo a otra exige recalibrarlos, no solo copiarlo.
— — — — —
NO SE DICE · objetivo 1:24 · Rápido y sin dramatizar. Cada una de estas seis es una pregunta que el tribunal ya no necesita hacerte. SI PREGUNTAN POR EL GAS IDEAL: la cifra exacta con tablas NIST es 40 %, no 45 (Z = 1,40 a 600 bar y 15 °C); el 45 sale de interpolar entre dos densidades publicadas. Dala tú. SI PREGUNTAN POR LA PILA: el bloque tiene 120 celdas de 600 cm² y 600 A; su curva de polarización da el máximo en ~156 A y son unos 11 kW, no los 130 del criterio de diseño. No contamina ningún resultado porque la pila no arranca nunca, pero el modo isla no está cubierto ni sobre el papel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del trabajo era si una previsión con redes LSTM mejora a un EMS heurístico ya maduro. La respuesta, medida, son estas tres conclusiones.
Dos modelos entrenados, validados y corregidos, cuya señal combinada supera a la línea base en solar y en precio, y es la que consume el simulador.
Tres gestores sobre la misma instalación: la predictiva mejora el servicio de hidrógeno, y la final reduce el coste semanal casi un catorce por ciento en los veinte casos.
Y la tercera, que da sentido a las otras dos: la cadena de medida permite atribuir la mejora pieza a pieza. El valor de una previsión depende de en qué decisión se inserte y de qué información no esté ya disponible.
Cuatro líneas futuras. Aislar la previsión solar, para medir por separado lo que hoy va sumado dentro de la programación. Dar al tanque un nivel objetivo antes de un día nublado previsto, que corregiría el único indicador que C empeora. Modelar la degradación de la batería. Y ampliar el horizonte a cuarenta y ocho horas con control predictivo: es el único tramo donde el mercado ya no está publicado.
Muchas gracias por su atención.
— — — — —
NO SE DICE · objetivo 1:27 · Levanta la vista en la tercera conclusión. Cierra con firmeza, sin arrastrar el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Separador. Ten memorizado qué reserva es cuál para no perder tiempo buscándola.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comportamiento dinámico, la reserva del 60 % o el ciclado de la batería.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explicar el mecanismo de C con un caso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pregunta sobre el servicio de hidrógeno que empeora. C pasa más tiempo por debajo del nivel crítico que A: es la contrapartida del ahorro y está valorada dentro de la métrica de coste. SI PREGUNTAN POR EL TRAMO NEGATIVO: es un artefacto declarado del modelo — los integradores de los tanques no saturan a cero, así que el inventario puede bajar de cero. Ese tramo es exactamente el hidrógeno que hay que comprar fuera, y se valora a 8 €/kg dentro de la métrica principal. Activar la saturación queda como corrección pendiente, y está declarado en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822960" y="1143000"/>
            <a:ext cx="8229600" cy="292608"/>
          </a:xfrm>
          <a:prstGeom prst="rect">
            <a:avLst/>
          </a:prstGeom>
          <a:noFill/>
          <a:ln/>
        </p:spPr>
        <p:txBody>
          <a:bodyPr wrap="square" lIns="0" tIns="0" rIns="0" bIns="0" rtlCol="0" anchor="ctr"/>
          <a:lstStyle/>
          <a:p>
            <a:pPr indent="0" marL="0">
              <a:buNone/>
            </a:pPr>
            <a:r>
              <a:rPr lang="en-US" sz="1200" b="1" spc="300" kern="0" dirty="0">
                <a:solidFill>
                  <a:srgbClr val="C8861E"/>
                </a:solidFill>
                <a:latin typeface="Calibri" pitchFamily="34" charset="0"/>
                <a:ea typeface="Calibri" pitchFamily="34" charset="-122"/>
                <a:cs typeface="Calibri" pitchFamily="34" charset="-120"/>
              </a:rPr>
              <a:t>TRABAJO FIN DE GRADO</a:t>
            </a:r>
            <a:endParaRPr lang="en-US" sz="1200" dirty="0"/>
          </a:p>
        </p:txBody>
      </p:sp>
      <p:sp>
        <p:nvSpPr>
          <p:cNvPr id="3" name="Text 1"/>
          <p:cNvSpPr txBox="1"/>
          <p:nvPr/>
        </p:nvSpPr>
        <p:spPr>
          <a:xfrm>
            <a:off x="822960" y="1600200"/>
            <a:ext cx="8778240" cy="1737360"/>
          </a:xfrm>
          <a:prstGeom prst="rect">
            <a:avLst/>
          </a:prstGeom>
          <a:noFill/>
          <a:ln/>
        </p:spPr>
        <p:txBody>
          <a:bodyPr wrap="square" lIns="0" tIns="0" rIns="0" bIns="0" rtlCol="0" anchor="ctr"/>
          <a:lstStyle/>
          <a:p>
            <a:pPr indent="0" marL="0">
              <a:lnSpc>
                <a:spcPct val="106000"/>
              </a:lnSpc>
              <a:buNone/>
            </a:pPr>
            <a:r>
              <a:rPr lang="en-US" sz="3200" b="1" dirty="0">
                <a:solidFill>
                  <a:srgbClr val="FFFFFF"/>
                </a:solidFill>
                <a:latin typeface="Cambria" pitchFamily="34" charset="0"/>
                <a:ea typeface="Cambria" pitchFamily="34" charset="-122"/>
                <a:cs typeface="Cambria" pitchFamily="34" charset="-120"/>
              </a:rPr>
              <a:t>Estrategias de gestión energética para una estación de repostaje multi-energía</a:t>
            </a:r>
            <a:endParaRPr lang="en-US" sz="3200" dirty="0"/>
          </a:p>
        </p:txBody>
      </p:sp>
      <p:sp>
        <p:nvSpPr>
          <p:cNvPr id="4" name="Text 2"/>
          <p:cNvSpPr txBox="1"/>
          <p:nvPr/>
        </p:nvSpPr>
        <p:spPr>
          <a:xfrm>
            <a:off x="822960" y="3429000"/>
            <a:ext cx="8778240" cy="457200"/>
          </a:xfrm>
          <a:prstGeom prst="rect">
            <a:avLst/>
          </a:prstGeom>
          <a:noFill/>
          <a:ln/>
        </p:spPr>
        <p:txBody>
          <a:bodyPr wrap="square" lIns="0" tIns="0" rIns="0" bIns="0" rtlCol="0" anchor="ctr"/>
          <a:lstStyle/>
          <a:p>
            <a:pPr indent="0" marL="0">
              <a:buNone/>
            </a:pPr>
            <a:r>
              <a:rPr lang="en-US" sz="1600" i="1" dirty="0">
                <a:solidFill>
                  <a:srgbClr val="A9C2D0"/>
                </a:solidFill>
                <a:latin typeface="Calibri" pitchFamily="34" charset="0"/>
                <a:ea typeface="Calibri" pitchFamily="34" charset="-122"/>
                <a:cs typeface="Calibri" pitchFamily="34" charset="-120"/>
              </a:rPr>
              <a:t>Cuantificación de la mejora aportada por la predicción con redes LSTM</a:t>
            </a:r>
            <a:endParaRPr lang="en-US" sz="1600" dirty="0"/>
          </a:p>
        </p:txBody>
      </p:sp>
      <p:sp>
        <p:nvSpPr>
          <p:cNvPr id="5" name="Text 3"/>
          <p:cNvSpPr txBox="1"/>
          <p:nvPr/>
        </p:nvSpPr>
        <p:spPr>
          <a:xfrm>
            <a:off x="822960" y="4343400"/>
            <a:ext cx="8778240" cy="1554480"/>
          </a:xfrm>
          <a:prstGeom prst="rect">
            <a:avLst/>
          </a:prstGeom>
          <a:noFill/>
          <a:ln/>
        </p:spPr>
        <p:txBody>
          <a:bodyPr wrap="square" lIns="0" tIns="0" rIns="0" bIns="0" rtlCol="0" anchor="ctr"/>
          <a:lstStyle/>
          <a:p>
            <a:pPr indent="0" marL="0">
              <a:lnSpc>
                <a:spcPct val="128000"/>
              </a:lnSpc>
              <a:buNone/>
            </a:pPr>
            <a:r>
              <a:rPr lang="en-US" sz="1700" b="1" dirty="0">
                <a:solidFill>
                  <a:srgbClr val="FFFFFF"/>
                </a:solidFill>
                <a:latin typeface="Calibri" pitchFamily="34" charset="0"/>
                <a:ea typeface="Calibri" pitchFamily="34" charset="-122"/>
                <a:cs typeface="Calibri" pitchFamily="34" charset="-120"/>
              </a:rPr>
              <a:t>Fernando Román Hidalgo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Tutor: Miguel Ángel Ridao Carlini · Catedrático de Universidad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Dpto. de Ingeniería de Sistemas y Automática · ETSI · Universidad de Sevilla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Grado en Ingeniería Electrónica, Robótica y Mecatrónica</a:t>
            </a:r>
            <a:endParaRPr lang="en-US" sz="1700" dirty="0"/>
          </a:p>
        </p:txBody>
      </p:sp>
      <p:pic>
        <p:nvPicPr>
          <p:cNvPr id="6" name="Image 0" descr="img/US-marca-principal.png">    </p:cNvPr>
          <p:cNvPicPr>
            <a:picLocks noChangeAspect="1"/>
          </p:cNvPicPr>
          <p:nvPr/>
        </p:nvPicPr>
        <p:blipFill>
          <a:blip r:embed="rId1"/>
          <a:stretch>
            <a:fillRect/>
          </a:stretch>
        </p:blipFill>
        <p:spPr>
          <a:xfrm>
            <a:off x="10653231" y="457200"/>
            <a:ext cx="1051089"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marco ya pone fechas; la infraestructura sigue separada por vector</a:t>
            </a:r>
            <a:endParaRPr lang="en-US" sz="2600" dirty="0"/>
          </a:p>
        </p:txBody>
      </p:sp>
      <p:sp>
        <p:nvSpPr>
          <p:cNvPr id="4" name="Text 2"/>
          <p:cNvSpPr txBox="1"/>
          <p:nvPr/>
        </p:nvSpPr>
        <p:spPr>
          <a:xfrm>
            <a:off x="502920"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25 %</a:t>
            </a:r>
            <a:endParaRPr lang="en-US" sz="3400" dirty="0"/>
          </a:p>
        </p:txBody>
      </p:sp>
      <p:sp>
        <p:nvSpPr>
          <p:cNvPr id="5" name="Text 3"/>
          <p:cNvSpPr txBox="1"/>
          <p:nvPr/>
        </p:nvSpPr>
        <p:spPr>
          <a:xfrm>
            <a:off x="502920"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de las emisiones de gases de efecto invernadero de la UE son del transporte, y el 72 % de ellas del transporte por carretera</a:t>
            </a:r>
            <a:endParaRPr lang="en-US" sz="1200" dirty="0"/>
          </a:p>
        </p:txBody>
      </p:sp>
      <p:sp>
        <p:nvSpPr>
          <p:cNvPr id="6" name="Text 4"/>
          <p:cNvSpPr txBox="1"/>
          <p:nvPr/>
        </p:nvSpPr>
        <p:spPr>
          <a:xfrm>
            <a:off x="4338218"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100 – 150</a:t>
            </a:r>
            <a:endParaRPr lang="en-US" sz="3400" dirty="0"/>
          </a:p>
        </p:txBody>
      </p:sp>
      <p:sp>
        <p:nvSpPr>
          <p:cNvPr id="7" name="Text 5"/>
          <p:cNvSpPr txBox="1"/>
          <p:nvPr/>
        </p:nvSpPr>
        <p:spPr>
          <a:xfrm>
            <a:off x="4338218"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hidrogeneras públicas previstas en España para 2030, con los corredores de repostaje verde como línea prioritaria</a:t>
            </a:r>
            <a:endParaRPr lang="en-US" sz="1200" dirty="0"/>
          </a:p>
        </p:txBody>
      </p:sp>
      <p:sp>
        <p:nvSpPr>
          <p:cNvPr id="8" name="Text 6"/>
          <p:cNvSpPr txBox="1"/>
          <p:nvPr/>
        </p:nvSpPr>
        <p:spPr>
          <a:xfrm>
            <a:off x="8173517"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5,5 M</a:t>
            </a:r>
            <a:endParaRPr lang="en-US" sz="3400" dirty="0"/>
          </a:p>
        </p:txBody>
      </p:sp>
      <p:sp>
        <p:nvSpPr>
          <p:cNvPr id="9" name="Text 7"/>
          <p:cNvSpPr txBox="1"/>
          <p:nvPr/>
        </p:nvSpPr>
        <p:spPr>
          <a:xfrm>
            <a:off x="8173517"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vehículos eléctricos en circulación en España en 2030, con objetivos vinculantes de infraestructura de recarga</a:t>
            </a:r>
            <a:endParaRPr lang="en-US" sz="1200" dirty="0"/>
          </a:p>
        </p:txBody>
      </p:sp>
      <p:sp>
        <p:nvSpPr>
          <p:cNvPr id="10" name="Text 8"/>
          <p:cNvSpPr txBox="1"/>
          <p:nvPr/>
        </p:nvSpPr>
        <p:spPr>
          <a:xfrm>
            <a:off x="502920" y="3072384"/>
            <a:ext cx="11185855" cy="274320"/>
          </a:xfrm>
          <a:prstGeom prst="rect">
            <a:avLst/>
          </a:prstGeom>
          <a:noFill/>
          <a:ln/>
        </p:spPr>
        <p:txBody>
          <a:bodyPr wrap="square" lIns="0" tIns="0" rIns="0" bIns="0" rtlCol="0" anchor="ctr"/>
          <a:lstStyle/>
          <a:p>
            <a:pPr indent="0" marL="0">
              <a:buNone/>
            </a:pPr>
            <a:r>
              <a:rPr lang="en-US" sz="1000" i="1" dirty="0">
                <a:solidFill>
                  <a:srgbClr val="93A2AA"/>
                </a:solidFill>
                <a:latin typeface="Calibri" pitchFamily="34" charset="0"/>
                <a:ea typeface="Calibri" pitchFamily="34" charset="-122"/>
                <a:cs typeface="Calibri" pitchFamily="34" charset="-120"/>
              </a:rPr>
              <a:t>Agencia Europea de Medio Ambiente · Pacto Verde Europeo · Hoja de Ruta del Hidrógeno (MITECO) · PNIEC 2023-2030 · Reglamento europeo AFIR</a:t>
            </a:r>
            <a:endParaRPr lang="en-US" sz="1000" dirty="0"/>
          </a:p>
        </p:txBody>
      </p:sp>
      <p:sp>
        <p:nvSpPr>
          <p:cNvPr id="11" name="Shape 9"/>
          <p:cNvSpPr/>
          <p:nvPr/>
        </p:nvSpPr>
        <p:spPr>
          <a:xfrm>
            <a:off x="502920" y="3438144"/>
            <a:ext cx="11185855" cy="0"/>
          </a:xfrm>
          <a:prstGeom prst="line">
            <a:avLst/>
          </a:prstGeom>
          <a:noFill/>
          <a:ln w="9525">
            <a:solidFill>
              <a:srgbClr val="DDE3E6"/>
            </a:solidFill>
            <a:prstDash val="solid"/>
          </a:ln>
        </p:spPr>
      </p:sp>
      <p:sp>
        <p:nvSpPr>
          <p:cNvPr id="12" name="Text 10"/>
          <p:cNvSpPr txBox="1"/>
          <p:nvPr/>
        </p:nvSpPr>
        <p:spPr>
          <a:xfrm>
            <a:off x="502920"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eléctrico de batería</a:t>
            </a:r>
            <a:endParaRPr lang="en-US" sz="1800" dirty="0"/>
          </a:p>
        </p:txBody>
      </p:sp>
      <p:sp>
        <p:nvSpPr>
          <p:cNvPr id="13" name="Text 11"/>
          <p:cNvSpPr txBox="1"/>
          <p:nvPr/>
        </p:nvSpPr>
        <p:spPr>
          <a:xfrm>
            <a:off x="502920"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Tecnología consolidada y de despliegue masivo.</a:t>
            </a:r>
            <a:endParaRPr lang="en-US" sz="1400" dirty="0"/>
          </a:p>
        </p:txBody>
      </p:sp>
      <p:sp>
        <p:nvSpPr>
          <p:cNvPr id="14" name="Text 12"/>
          <p:cNvSpPr txBox="1"/>
          <p:nvPr/>
        </p:nvSpPr>
        <p:spPr>
          <a:xfrm>
            <a:off x="6233008"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de pila de combustible</a:t>
            </a:r>
            <a:endParaRPr lang="en-US" sz="1800" dirty="0"/>
          </a:p>
        </p:txBody>
      </p:sp>
      <p:sp>
        <p:nvSpPr>
          <p:cNvPr id="15" name="Text 13"/>
          <p:cNvSpPr txBox="1"/>
          <p:nvPr/>
        </p:nvSpPr>
        <p:spPr>
          <a:xfrm>
            <a:off x="6233008"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Dos o tres órdenes de magnitud por detrás en parque y en estaciones.</a:t>
            </a:r>
            <a:endParaRPr lang="en-US" sz="1400" dirty="0"/>
          </a:p>
        </p:txBody>
      </p:sp>
      <p:sp>
        <p:nvSpPr>
          <p:cNvPr id="16" name="Shape 14"/>
          <p:cNvSpPr/>
          <p:nvPr/>
        </p:nvSpPr>
        <p:spPr>
          <a:xfrm>
            <a:off x="502920" y="5230368"/>
            <a:ext cx="11185855" cy="841248"/>
          </a:xfrm>
          <a:prstGeom prst="roundRect">
            <a:avLst>
              <a:gd name="adj" fmla="val 6522"/>
            </a:avLst>
          </a:prstGeom>
          <a:solidFill>
            <a:srgbClr val="10394A"/>
          </a:solidFill>
          <a:ln/>
        </p:spPr>
      </p:sp>
      <p:sp>
        <p:nvSpPr>
          <p:cNvPr id="17" name="Text 15"/>
          <p:cNvSpPr txBox="1"/>
          <p:nvPr/>
        </p:nvSpPr>
        <p:spPr>
          <a:xfrm>
            <a:off x="777240" y="5248656"/>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Los dos dependen de una infraestructura hoy separada, y eso fragmenta la inversión. La estación multi-energía los integra — y con ella el reto pasa a ser de operación: decidir, en cada instante, de dónde sale cada kilovatio.</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estación OASIS, modelada en Simulink</a:t>
            </a:r>
            <a:endParaRPr lang="en-US" sz="2600" dirty="0"/>
          </a:p>
        </p:txBody>
      </p:sp>
      <p:pic>
        <p:nvPicPr>
          <p:cNvPr id="4" name="Image 0" descr="img/electrolinera-iso-NE.png">    </p:cNvPr>
          <p:cNvPicPr>
            <a:picLocks noChangeAspect="1"/>
          </p:cNvPicPr>
          <p:nvPr/>
        </p:nvPicPr>
        <p:blipFill>
          <a:blip r:embed="rId1"/>
          <a:stretch>
            <a:fillRect/>
          </a:stretch>
        </p:blipFill>
        <p:spPr>
          <a:xfrm>
            <a:off x="502920" y="1840992"/>
            <a:ext cx="6400800" cy="3733800"/>
          </a:xfrm>
          <a:prstGeom prst="rect">
            <a:avLst/>
          </a:prstGeom>
        </p:spPr>
      </p:pic>
      <p:sp>
        <p:nvSpPr>
          <p:cNvPr id="5" name="Shape 2"/>
          <p:cNvSpPr/>
          <p:nvPr/>
        </p:nvSpPr>
        <p:spPr>
          <a:xfrm>
            <a:off x="7040880" y="1719072"/>
            <a:ext cx="292608" cy="292608"/>
          </a:xfrm>
          <a:prstGeom prst="ellipse">
            <a:avLst/>
          </a:prstGeom>
          <a:solidFill>
            <a:srgbClr val="10394A"/>
          </a:solidFill>
          <a:ln/>
        </p:spPr>
      </p:sp>
      <p:sp>
        <p:nvSpPr>
          <p:cNvPr id="6" name="Text 3"/>
          <p:cNvSpPr txBox="1"/>
          <p:nvPr/>
        </p:nvSpPr>
        <p:spPr>
          <a:xfrm>
            <a:off x="7040880" y="17190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txBox="1"/>
          <p:nvPr/>
        </p:nvSpPr>
        <p:spPr>
          <a:xfrm>
            <a:off x="7452360" y="159105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≈500 kWp</a:t>
            </a:r>
            <a:endParaRPr lang="en-US" sz="1600" dirty="0"/>
          </a:p>
        </p:txBody>
      </p:sp>
      <p:sp>
        <p:nvSpPr>
          <p:cNvPr id="8" name="Text 5"/>
          <p:cNvSpPr txBox="1"/>
          <p:nvPr/>
        </p:nvSpPr>
        <p:spPr>
          <a:xfrm>
            <a:off x="9281160" y="159105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Fotovoltaica en marquesina</a:t>
            </a:r>
            <a:endParaRPr lang="en-US" sz="1150" dirty="0"/>
          </a:p>
        </p:txBody>
      </p:sp>
      <p:sp>
        <p:nvSpPr>
          <p:cNvPr id="9" name="Shape 6"/>
          <p:cNvSpPr/>
          <p:nvPr/>
        </p:nvSpPr>
        <p:spPr>
          <a:xfrm>
            <a:off x="7040880" y="2212848"/>
            <a:ext cx="4663440" cy="0"/>
          </a:xfrm>
          <a:prstGeom prst="line">
            <a:avLst/>
          </a:prstGeom>
          <a:noFill/>
          <a:ln w="9525">
            <a:solidFill>
              <a:srgbClr val="DDE3E6"/>
            </a:solidFill>
            <a:prstDash val="solid"/>
          </a:ln>
        </p:spPr>
      </p:sp>
      <p:sp>
        <p:nvSpPr>
          <p:cNvPr id="10" name="Shape 7"/>
          <p:cNvSpPr/>
          <p:nvPr/>
        </p:nvSpPr>
        <p:spPr>
          <a:xfrm>
            <a:off x="7040880" y="2432304"/>
            <a:ext cx="292608" cy="292608"/>
          </a:xfrm>
          <a:prstGeom prst="ellipse">
            <a:avLst/>
          </a:prstGeom>
          <a:solidFill>
            <a:srgbClr val="10394A"/>
          </a:solidFill>
          <a:ln/>
        </p:spPr>
      </p:sp>
      <p:sp>
        <p:nvSpPr>
          <p:cNvPr id="11" name="Text 8"/>
          <p:cNvSpPr txBox="1"/>
          <p:nvPr/>
        </p:nvSpPr>
        <p:spPr>
          <a:xfrm>
            <a:off x="7040880" y="24323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7452360" y="2304288"/>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 MWh</a:t>
            </a:r>
            <a:endParaRPr lang="en-US" sz="1600" dirty="0"/>
          </a:p>
        </p:txBody>
      </p:sp>
      <p:sp>
        <p:nvSpPr>
          <p:cNvPr id="13" name="Text 10"/>
          <p:cNvSpPr txBox="1"/>
          <p:nvPr/>
        </p:nvSpPr>
        <p:spPr>
          <a:xfrm>
            <a:off x="9281160" y="2304288"/>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Batería, ≈494 kW de potencia</a:t>
            </a:r>
            <a:endParaRPr lang="en-US" sz="1150" dirty="0"/>
          </a:p>
        </p:txBody>
      </p:sp>
      <p:sp>
        <p:nvSpPr>
          <p:cNvPr id="14" name="Shape 11"/>
          <p:cNvSpPr/>
          <p:nvPr/>
        </p:nvSpPr>
        <p:spPr>
          <a:xfrm>
            <a:off x="7040880" y="2926080"/>
            <a:ext cx="4663440" cy="0"/>
          </a:xfrm>
          <a:prstGeom prst="line">
            <a:avLst/>
          </a:prstGeom>
          <a:noFill/>
          <a:ln w="9525">
            <a:solidFill>
              <a:srgbClr val="DDE3E6"/>
            </a:solidFill>
            <a:prstDash val="solid"/>
          </a:ln>
        </p:spPr>
      </p:sp>
      <p:sp>
        <p:nvSpPr>
          <p:cNvPr id="15" name="Shape 12"/>
          <p:cNvSpPr/>
          <p:nvPr/>
        </p:nvSpPr>
        <p:spPr>
          <a:xfrm>
            <a:off x="7040880" y="3145536"/>
            <a:ext cx="292608" cy="292608"/>
          </a:xfrm>
          <a:prstGeom prst="ellipse">
            <a:avLst/>
          </a:prstGeom>
          <a:solidFill>
            <a:srgbClr val="10394A"/>
          </a:solidFill>
          <a:ln/>
        </p:spPr>
      </p:sp>
      <p:sp>
        <p:nvSpPr>
          <p:cNvPr id="16" name="Text 13"/>
          <p:cNvSpPr txBox="1"/>
          <p:nvPr/>
        </p:nvSpPr>
        <p:spPr>
          <a:xfrm>
            <a:off x="7040880" y="31455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txBox="1"/>
          <p:nvPr/>
        </p:nvSpPr>
        <p:spPr>
          <a:xfrm>
            <a:off x="7452360" y="3017520"/>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200 kW</a:t>
            </a:r>
            <a:endParaRPr lang="en-US" sz="1600" dirty="0"/>
          </a:p>
        </p:txBody>
      </p:sp>
      <p:sp>
        <p:nvSpPr>
          <p:cNvPr id="18" name="Text 15"/>
          <p:cNvSpPr txBox="1"/>
          <p:nvPr/>
        </p:nvSpPr>
        <p:spPr>
          <a:xfrm>
            <a:off x="9281160" y="3017520"/>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Electrolizador PEM, ≈50 kWh/kg</a:t>
            </a:r>
            <a:endParaRPr lang="en-US" sz="1150" dirty="0"/>
          </a:p>
        </p:txBody>
      </p:sp>
      <p:sp>
        <p:nvSpPr>
          <p:cNvPr id="19" name="Shape 16"/>
          <p:cNvSpPr/>
          <p:nvPr/>
        </p:nvSpPr>
        <p:spPr>
          <a:xfrm>
            <a:off x="7040880" y="3639312"/>
            <a:ext cx="4663440" cy="0"/>
          </a:xfrm>
          <a:prstGeom prst="line">
            <a:avLst/>
          </a:prstGeom>
          <a:noFill/>
          <a:ln w="9525">
            <a:solidFill>
              <a:srgbClr val="DDE3E6"/>
            </a:solidFill>
            <a:prstDash val="solid"/>
          </a:ln>
        </p:spPr>
      </p:sp>
      <p:sp>
        <p:nvSpPr>
          <p:cNvPr id="20" name="Shape 17"/>
          <p:cNvSpPr/>
          <p:nvPr/>
        </p:nvSpPr>
        <p:spPr>
          <a:xfrm>
            <a:off x="7040880" y="3858768"/>
            <a:ext cx="292608" cy="292608"/>
          </a:xfrm>
          <a:prstGeom prst="ellipse">
            <a:avLst/>
          </a:prstGeom>
          <a:solidFill>
            <a:srgbClr val="10394A"/>
          </a:solidFill>
          <a:ln/>
        </p:spPr>
      </p:sp>
      <p:sp>
        <p:nvSpPr>
          <p:cNvPr id="21" name="Text 18"/>
          <p:cNvSpPr txBox="1"/>
          <p:nvPr/>
        </p:nvSpPr>
        <p:spPr>
          <a:xfrm>
            <a:off x="7040880" y="385876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7452360" y="3730752"/>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40 / 600 bar</a:t>
            </a:r>
            <a:endParaRPr lang="en-US" sz="1600" dirty="0"/>
          </a:p>
        </p:txBody>
      </p:sp>
      <p:sp>
        <p:nvSpPr>
          <p:cNvPr id="23" name="Text 20"/>
          <p:cNvSpPr txBox="1"/>
          <p:nvPr/>
        </p:nvSpPr>
        <p:spPr>
          <a:xfrm>
            <a:off x="9281160" y="3730752"/>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Dos tanques de H₂ + compresor de 15 kW</a:t>
            </a:r>
            <a:endParaRPr lang="en-US" sz="1150" dirty="0"/>
          </a:p>
        </p:txBody>
      </p:sp>
      <p:sp>
        <p:nvSpPr>
          <p:cNvPr id="24" name="Shape 21"/>
          <p:cNvSpPr/>
          <p:nvPr/>
        </p:nvSpPr>
        <p:spPr>
          <a:xfrm>
            <a:off x="7040880" y="4352544"/>
            <a:ext cx="4663440" cy="0"/>
          </a:xfrm>
          <a:prstGeom prst="line">
            <a:avLst/>
          </a:prstGeom>
          <a:noFill/>
          <a:ln w="9525">
            <a:solidFill>
              <a:srgbClr val="DDE3E6"/>
            </a:solidFill>
            <a:prstDash val="solid"/>
          </a:ln>
        </p:spPr>
      </p:sp>
      <p:sp>
        <p:nvSpPr>
          <p:cNvPr id="25" name="Shape 22"/>
          <p:cNvSpPr/>
          <p:nvPr/>
        </p:nvSpPr>
        <p:spPr>
          <a:xfrm>
            <a:off x="7040880" y="4572000"/>
            <a:ext cx="292608" cy="292608"/>
          </a:xfrm>
          <a:prstGeom prst="ellipse">
            <a:avLst/>
          </a:prstGeom>
          <a:solidFill>
            <a:srgbClr val="10394A"/>
          </a:solidFill>
          <a:ln/>
        </p:spPr>
      </p:sp>
      <p:sp>
        <p:nvSpPr>
          <p:cNvPr id="26" name="Text 23"/>
          <p:cNvSpPr txBox="1"/>
          <p:nvPr/>
        </p:nvSpPr>
        <p:spPr>
          <a:xfrm>
            <a:off x="7040880" y="457200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4"/>
          <p:cNvSpPr txBox="1"/>
          <p:nvPr/>
        </p:nvSpPr>
        <p:spPr>
          <a:xfrm>
            <a:off x="7452360" y="4443984"/>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130 kW</a:t>
            </a:r>
            <a:endParaRPr lang="en-US" sz="1600" dirty="0"/>
          </a:p>
        </p:txBody>
      </p:sp>
      <p:sp>
        <p:nvSpPr>
          <p:cNvPr id="28" name="Text 25"/>
          <p:cNvSpPr txBox="1"/>
          <p:nvPr/>
        </p:nvSpPr>
        <p:spPr>
          <a:xfrm>
            <a:off x="9281160" y="4443984"/>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Pila de combustible PEMFC</a:t>
            </a:r>
            <a:endParaRPr lang="en-US" sz="1150" dirty="0"/>
          </a:p>
        </p:txBody>
      </p:sp>
      <p:sp>
        <p:nvSpPr>
          <p:cNvPr id="29" name="Shape 26"/>
          <p:cNvSpPr/>
          <p:nvPr/>
        </p:nvSpPr>
        <p:spPr>
          <a:xfrm>
            <a:off x="7040880" y="5065776"/>
            <a:ext cx="4663440" cy="0"/>
          </a:xfrm>
          <a:prstGeom prst="line">
            <a:avLst/>
          </a:prstGeom>
          <a:noFill/>
          <a:ln w="9525">
            <a:solidFill>
              <a:srgbClr val="DDE3E6"/>
            </a:solidFill>
            <a:prstDash val="solid"/>
          </a:ln>
        </p:spPr>
      </p:sp>
      <p:sp>
        <p:nvSpPr>
          <p:cNvPr id="30" name="Shape 27"/>
          <p:cNvSpPr/>
          <p:nvPr/>
        </p:nvSpPr>
        <p:spPr>
          <a:xfrm>
            <a:off x="7040880" y="5285232"/>
            <a:ext cx="292608" cy="292608"/>
          </a:xfrm>
          <a:prstGeom prst="ellipse">
            <a:avLst/>
          </a:prstGeom>
          <a:solidFill>
            <a:srgbClr val="10394A"/>
          </a:solidFill>
          <a:ln/>
        </p:spPr>
      </p:sp>
      <p:sp>
        <p:nvSpPr>
          <p:cNvPr id="31" name="Text 28"/>
          <p:cNvSpPr txBox="1"/>
          <p:nvPr/>
        </p:nvSpPr>
        <p:spPr>
          <a:xfrm>
            <a:off x="7040880" y="528523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29"/>
          <p:cNvSpPr txBox="1"/>
          <p:nvPr/>
        </p:nvSpPr>
        <p:spPr>
          <a:xfrm>
            <a:off x="7452360" y="515721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 × 50 kW</a:t>
            </a:r>
            <a:endParaRPr lang="en-US" sz="1600" dirty="0"/>
          </a:p>
        </p:txBody>
      </p:sp>
      <p:sp>
        <p:nvSpPr>
          <p:cNvPr id="33" name="Text 30"/>
          <p:cNvSpPr txBox="1"/>
          <p:nvPr/>
        </p:nvSpPr>
        <p:spPr>
          <a:xfrm>
            <a:off x="9281160" y="515721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Cargadores DC + surtidor de hidrógeno</a:t>
            </a:r>
            <a:endParaRPr lang="en-US" sz="1150" dirty="0"/>
          </a:p>
        </p:txBody>
      </p:sp>
      <p:sp>
        <p:nvSpPr>
          <p:cNvPr id="34" name="Shape 31"/>
          <p:cNvSpPr/>
          <p:nvPr/>
        </p:nvSpPr>
        <p:spPr>
          <a:xfrm>
            <a:off x="7040880" y="5779008"/>
            <a:ext cx="4663440" cy="0"/>
          </a:xfrm>
          <a:prstGeom prst="line">
            <a:avLst/>
          </a:prstGeom>
          <a:noFill/>
          <a:ln w="9525">
            <a:solidFill>
              <a:srgbClr val="DDE3E6"/>
            </a:solidFill>
            <a:prstDash val="solid"/>
          </a:ln>
        </p:spPr>
      </p:sp>
      <p:sp>
        <p:nvSpPr>
          <p:cNvPr id="35" name="Text 32"/>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EMS decide tres cosas, y es lo único que cambia entre versiones</a:t>
            </a:r>
            <a:endParaRPr lang="en-US" sz="2600" dirty="0"/>
          </a:p>
        </p:txBody>
      </p:sp>
      <p:sp>
        <p:nvSpPr>
          <p:cNvPr id="4" name="Shape 2"/>
          <p:cNvSpPr/>
          <p:nvPr/>
        </p:nvSpPr>
        <p:spPr>
          <a:xfrm>
            <a:off x="502920" y="1645920"/>
            <a:ext cx="3520440" cy="2395728"/>
          </a:xfrm>
          <a:prstGeom prst="roundRect">
            <a:avLst>
              <a:gd name="adj" fmla="val 1908"/>
            </a:avLst>
          </a:prstGeom>
          <a:solidFill>
            <a:srgbClr val="F1F5F7"/>
          </a:solidFill>
          <a:ln w="12700">
            <a:solidFill>
              <a:srgbClr val="DDE3E6"/>
            </a:solidFill>
            <a:prstDash val="solid"/>
          </a:ln>
        </p:spPr>
      </p:sp>
      <p:sp>
        <p:nvSpPr>
          <p:cNvPr id="5" name="Text 3"/>
          <p:cNvSpPr txBox="1"/>
          <p:nvPr/>
        </p:nvSpPr>
        <p:spPr>
          <a:xfrm>
            <a:off x="704088" y="1792224"/>
            <a:ext cx="3118104"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ENTRADAS · 11 SEÑALES</a:t>
            </a:r>
            <a:endParaRPr lang="en-US" sz="950" dirty="0"/>
          </a:p>
        </p:txBody>
      </p:sp>
      <p:sp>
        <p:nvSpPr>
          <p:cNvPr id="6" name="Text 4"/>
          <p:cNvSpPr txBox="1"/>
          <p:nvPr/>
        </p:nvSpPr>
        <p:spPr>
          <a:xfrm>
            <a:off x="704088" y="2103120"/>
            <a:ext cx="3118104"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Generación fotovoltaica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los cargadores</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Estado de carga de la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Nivel de los dos tanques de H₂</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Precio de la electricidad</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Demanda de hidrógeno</a:t>
            </a:r>
            <a:endParaRPr lang="en-US" sz="1200" dirty="0"/>
          </a:p>
        </p:txBody>
      </p:sp>
      <p:sp>
        <p:nvSpPr>
          <p:cNvPr id="7" name="Shape 5"/>
          <p:cNvSpPr/>
          <p:nvPr/>
        </p:nvSpPr>
        <p:spPr>
          <a:xfrm>
            <a:off x="8220456" y="1645920"/>
            <a:ext cx="3468319" cy="2395728"/>
          </a:xfrm>
          <a:prstGeom prst="roundRect">
            <a:avLst>
              <a:gd name="adj" fmla="val 1908"/>
            </a:avLst>
          </a:prstGeom>
          <a:solidFill>
            <a:srgbClr val="F1F5F7"/>
          </a:solidFill>
          <a:ln w="12700">
            <a:solidFill>
              <a:srgbClr val="DDE3E6"/>
            </a:solidFill>
            <a:prstDash val="solid"/>
          </a:ln>
        </p:spPr>
      </p:sp>
      <p:sp>
        <p:nvSpPr>
          <p:cNvPr id="8" name="Text 6"/>
          <p:cNvSpPr txBox="1"/>
          <p:nvPr/>
        </p:nvSpPr>
        <p:spPr>
          <a:xfrm>
            <a:off x="8421624" y="1792224"/>
            <a:ext cx="3065983" cy="237744"/>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SALIDAS · 6 CONSIGNAS</a:t>
            </a:r>
            <a:endParaRPr lang="en-US" sz="950" dirty="0"/>
          </a:p>
        </p:txBody>
      </p:sp>
      <p:sp>
        <p:nvSpPr>
          <p:cNvPr id="9" name="Text 7"/>
          <p:cNvSpPr txBox="1"/>
          <p:nvPr/>
        </p:nvSpPr>
        <p:spPr>
          <a:xfrm>
            <a:off x="8421624" y="2103120"/>
            <a:ext cx="3065983" cy="1792224"/>
          </a:xfrm>
          <a:prstGeom prst="rect">
            <a:avLst/>
          </a:prstGeom>
          <a:noFill/>
          <a:ln/>
        </p:spPr>
        <p:txBody>
          <a:bodyPr wrap="square" lIns="0" tIns="0" rIns="0" bIns="0" rtlCol="0" anchor="t"/>
          <a:lstStyle/>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batería</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Consigna de pila de combustible</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Marcha del compresor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del electrolizador</a:t>
            </a:r>
            <a:endParaRPr lang="en-US" sz="1200" dirty="0"/>
          </a:p>
          <a:p>
            <a:pPr marL="139700" indent="-139700">
              <a:lnSpc>
                <a:spcPct val="142000"/>
              </a:lnSpc>
              <a:buSzPct val="100000"/>
              <a:buChar char="·"/>
            </a:pPr>
            <a:r>
              <a:rPr lang="en-US" sz="1200" dirty="0">
                <a:solidFill>
                  <a:srgbClr val="1C1C1C"/>
                </a:solidFill>
                <a:latin typeface="Calibri" pitchFamily="34" charset="0"/>
                <a:ea typeface="Calibri" pitchFamily="34" charset="-122"/>
                <a:cs typeface="Calibri" pitchFamily="34" charset="-120"/>
              </a:rPr>
              <a:t>Conexión de la pila</a:t>
            </a:r>
            <a:endParaRPr lang="en-US" sz="1200" dirty="0"/>
          </a:p>
        </p:txBody>
      </p:sp>
      <p:sp>
        <p:nvSpPr>
          <p:cNvPr id="10" name="Shape 8"/>
          <p:cNvSpPr/>
          <p:nvPr/>
        </p:nvSpPr>
        <p:spPr>
          <a:xfrm>
            <a:off x="4590288" y="2212848"/>
            <a:ext cx="3063240" cy="1261872"/>
          </a:xfrm>
          <a:prstGeom prst="roundRect">
            <a:avLst>
              <a:gd name="adj" fmla="val 4348"/>
            </a:avLst>
          </a:prstGeom>
          <a:solidFill>
            <a:srgbClr val="10394A"/>
          </a:solidFill>
          <a:ln w="12700">
            <a:solidFill>
              <a:srgbClr val="10394A"/>
            </a:solidFill>
            <a:prstDash val="solid"/>
          </a:ln>
        </p:spPr>
      </p:sp>
      <p:sp>
        <p:nvSpPr>
          <p:cNvPr id="11" name="Text 9"/>
          <p:cNvSpPr txBox="1"/>
          <p:nvPr/>
        </p:nvSpPr>
        <p:spPr>
          <a:xfrm>
            <a:off x="4590288" y="2395728"/>
            <a:ext cx="306324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EMS</a:t>
            </a:r>
            <a:endParaRPr lang="en-US" sz="3000" dirty="0"/>
          </a:p>
        </p:txBody>
      </p:sp>
      <p:sp>
        <p:nvSpPr>
          <p:cNvPr id="12" name="Text 10"/>
          <p:cNvSpPr txBox="1"/>
          <p:nvPr/>
        </p:nvSpPr>
        <p:spPr>
          <a:xfrm>
            <a:off x="4590288" y="2962656"/>
            <a:ext cx="3063240" cy="274320"/>
          </a:xfrm>
          <a:prstGeom prst="rect">
            <a:avLst/>
          </a:prstGeom>
          <a:noFill/>
          <a:ln/>
        </p:spPr>
        <p:txBody>
          <a:bodyPr wrap="square" lIns="0" tIns="0" rIns="0" bIns="0" rtlCol="0" anchor="ctr"/>
          <a:lstStyle/>
          <a:p>
            <a:pPr algn="ctr" indent="0" marL="0">
              <a:buNone/>
            </a:pPr>
            <a:r>
              <a:rPr lang="en-US" sz="1150" dirty="0">
                <a:solidFill>
                  <a:srgbClr val="A8C4D0"/>
                </a:solidFill>
                <a:latin typeface="Calibri" pitchFamily="34" charset="0"/>
                <a:ea typeface="Calibri" pitchFamily="34" charset="-122"/>
                <a:cs typeface="Calibri" pitchFamily="34" charset="-120"/>
              </a:rPr>
              <a:t>un único bloque de Simulink</a:t>
            </a:r>
            <a:endParaRPr lang="en-US" sz="1150" dirty="0"/>
          </a:p>
        </p:txBody>
      </p:sp>
      <p:sp>
        <p:nvSpPr>
          <p:cNvPr id="13" name="Shape 11"/>
          <p:cNvSpPr/>
          <p:nvPr/>
        </p:nvSpPr>
        <p:spPr>
          <a:xfrm>
            <a:off x="4096512" y="2843784"/>
            <a:ext cx="438912" cy="0"/>
          </a:xfrm>
          <a:prstGeom prst="line">
            <a:avLst/>
          </a:prstGeom>
          <a:noFill/>
          <a:ln w="15875">
            <a:solidFill>
              <a:srgbClr val="5F6B72"/>
            </a:solidFill>
            <a:prstDash val="solid"/>
            <a:tailEnd type="triangle"/>
          </a:ln>
        </p:spPr>
      </p:sp>
      <p:sp>
        <p:nvSpPr>
          <p:cNvPr id="14" name="Shape 12"/>
          <p:cNvSpPr/>
          <p:nvPr/>
        </p:nvSpPr>
        <p:spPr>
          <a:xfrm>
            <a:off x="7708392" y="2843784"/>
            <a:ext cx="438912" cy="0"/>
          </a:xfrm>
          <a:prstGeom prst="line">
            <a:avLst/>
          </a:prstGeom>
          <a:noFill/>
          <a:ln w="15875">
            <a:solidFill>
              <a:srgbClr val="5F6B72"/>
            </a:solidFill>
            <a:prstDash val="solid"/>
            <a:tailEnd type="triangle"/>
          </a:ln>
        </p:spPr>
      </p:sp>
      <p:sp>
        <p:nvSpPr>
          <p:cNvPr id="15" name="Text 13"/>
          <p:cNvSpPr txBox="1"/>
          <p:nvPr/>
        </p:nvSpPr>
        <p:spPr>
          <a:xfrm>
            <a:off x="502920" y="4206240"/>
            <a:ext cx="11185855" cy="292608"/>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Es lo único que cambia entre versiones: mismo modelo físico, mismos perfiles, misma semilla</a:t>
            </a:r>
            <a:endParaRPr lang="en-US" sz="1150" dirty="0"/>
          </a:p>
        </p:txBody>
      </p:sp>
      <p:sp>
        <p:nvSpPr>
          <p:cNvPr id="16" name="Shape 14"/>
          <p:cNvSpPr/>
          <p:nvPr/>
        </p:nvSpPr>
        <p:spPr>
          <a:xfrm>
            <a:off x="502920" y="4736592"/>
            <a:ext cx="329184" cy="329184"/>
          </a:xfrm>
          <a:prstGeom prst="ellipse">
            <a:avLst/>
          </a:prstGeom>
          <a:solidFill>
            <a:srgbClr val="C8861E"/>
          </a:solidFill>
          <a:ln/>
        </p:spPr>
      </p:sp>
      <p:sp>
        <p:nvSpPr>
          <p:cNvPr id="17" name="Text 15"/>
          <p:cNvSpPr txBox="1"/>
          <p:nvPr/>
        </p:nvSpPr>
        <p:spPr>
          <a:xfrm>
            <a:off x="502920"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Text 16"/>
          <p:cNvSpPr txBox="1"/>
          <p:nvPr/>
        </p:nvSpPr>
        <p:spPr>
          <a:xfrm>
            <a:off x="923544"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Sobra sol</a:t>
            </a:r>
            <a:endParaRPr lang="en-US" sz="1400" dirty="0"/>
          </a:p>
        </p:txBody>
      </p:sp>
      <p:sp>
        <p:nvSpPr>
          <p:cNvPr id="19" name="Text 17"/>
          <p:cNvSpPr txBox="1"/>
          <p:nvPr/>
        </p:nvSpPr>
        <p:spPr>
          <a:xfrm>
            <a:off x="502920"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Cómo repartir el excedente entre batería y electrolizador</a:t>
            </a:r>
            <a:endParaRPr lang="en-US" sz="1150" dirty="0"/>
          </a:p>
        </p:txBody>
      </p:sp>
      <p:sp>
        <p:nvSpPr>
          <p:cNvPr id="20" name="Shape 18"/>
          <p:cNvSpPr/>
          <p:nvPr/>
        </p:nvSpPr>
        <p:spPr>
          <a:xfrm>
            <a:off x="4322978" y="4736592"/>
            <a:ext cx="329184" cy="329184"/>
          </a:xfrm>
          <a:prstGeom prst="ellipse">
            <a:avLst/>
          </a:prstGeom>
          <a:solidFill>
            <a:srgbClr val="C8861E"/>
          </a:solidFill>
          <a:ln/>
        </p:spPr>
      </p:sp>
      <p:sp>
        <p:nvSpPr>
          <p:cNvPr id="21" name="Text 19"/>
          <p:cNvSpPr txBox="1"/>
          <p:nvPr/>
        </p:nvSpPr>
        <p:spPr>
          <a:xfrm>
            <a:off x="4322978"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2" name="Text 20"/>
          <p:cNvSpPr txBox="1"/>
          <p:nvPr/>
        </p:nvSpPr>
        <p:spPr>
          <a:xfrm>
            <a:off x="4743602"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Falta energía</a:t>
            </a:r>
            <a:endParaRPr lang="en-US" sz="1400" dirty="0"/>
          </a:p>
        </p:txBody>
      </p:sp>
      <p:sp>
        <p:nvSpPr>
          <p:cNvPr id="23" name="Text 21"/>
          <p:cNvSpPr txBox="1"/>
          <p:nvPr/>
        </p:nvSpPr>
        <p:spPr>
          <a:xfrm>
            <a:off x="4322978"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En qué orden cubrir el déficit: batería, pila, red</a:t>
            </a:r>
            <a:endParaRPr lang="en-US" sz="1150" dirty="0"/>
          </a:p>
        </p:txBody>
      </p:sp>
      <p:sp>
        <p:nvSpPr>
          <p:cNvPr id="24" name="Shape 22"/>
          <p:cNvSpPr/>
          <p:nvPr/>
        </p:nvSpPr>
        <p:spPr>
          <a:xfrm>
            <a:off x="8143037" y="4736592"/>
            <a:ext cx="329184" cy="329184"/>
          </a:xfrm>
          <a:prstGeom prst="ellipse">
            <a:avLst/>
          </a:prstGeom>
          <a:solidFill>
            <a:srgbClr val="C8861E"/>
          </a:solidFill>
          <a:ln/>
        </p:spPr>
      </p:sp>
      <p:sp>
        <p:nvSpPr>
          <p:cNvPr id="25" name="Text 23"/>
          <p:cNvSpPr txBox="1"/>
          <p:nvPr/>
        </p:nvSpPr>
        <p:spPr>
          <a:xfrm>
            <a:off x="8143037"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3</a:t>
            </a:r>
            <a:endParaRPr lang="en-US" sz="1200" dirty="0"/>
          </a:p>
        </p:txBody>
      </p:sp>
      <p:sp>
        <p:nvSpPr>
          <p:cNvPr id="26" name="Text 24"/>
          <p:cNvSpPr txBox="1"/>
          <p:nvPr/>
        </p:nvSpPr>
        <p:spPr>
          <a:xfrm>
            <a:off x="8563661"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En todo momento</a:t>
            </a:r>
            <a:endParaRPr lang="en-US" sz="1400" dirty="0"/>
          </a:p>
        </p:txBody>
      </p:sp>
      <p:sp>
        <p:nvSpPr>
          <p:cNvPr id="27" name="Text 25"/>
          <p:cNvSpPr txBox="1"/>
          <p:nvPr/>
        </p:nvSpPr>
        <p:spPr>
          <a:xfrm>
            <a:off x="8143037"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Si conviene producir hidrógeno o reponerlo desde fuera</a:t>
            </a:r>
            <a:endParaRPr lang="en-US" sz="1150" dirty="0"/>
          </a:p>
        </p:txBody>
      </p:sp>
      <p:sp>
        <p:nvSpPr>
          <p:cNvPr id="28" name="Shape 26"/>
          <p:cNvSpPr/>
          <p:nvPr/>
        </p:nvSpPr>
        <p:spPr>
          <a:xfrm>
            <a:off x="502920" y="5623560"/>
            <a:ext cx="11185855" cy="566928"/>
          </a:xfrm>
          <a:prstGeom prst="roundRect">
            <a:avLst>
              <a:gd name="adj" fmla="val 9677"/>
            </a:avLst>
          </a:prstGeom>
          <a:solidFill>
            <a:srgbClr val="10394A"/>
          </a:solidFill>
          <a:ln/>
        </p:spPr>
      </p:sp>
      <p:sp>
        <p:nvSpPr>
          <p:cNvPr id="29" name="Text 27"/>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Objetivo del trabajo: medir qué parte de la mejora es de la predicción y qué parte de las reglas que la consumen.</a:t>
            </a:r>
            <a:endParaRPr lang="en-US" sz="1350" dirty="0"/>
          </a:p>
        </p:txBody>
      </p:sp>
      <p:sp>
        <p:nvSpPr>
          <p:cNvPr id="30" name="Text 2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demanda sale de sesiones reales de carga rápida, no de una hipótesis</a:t>
            </a:r>
            <a:endParaRPr lang="en-US" sz="2600" dirty="0"/>
          </a:p>
        </p:txBody>
      </p:sp>
      <p:pic>
        <p:nvPicPr>
          <p:cNvPr id="4" name="Image 0" descr="img/llegadas_por_hora.png">    </p:cNvPr>
          <p:cNvPicPr>
            <a:picLocks noChangeAspect="1"/>
          </p:cNvPicPr>
          <p:nvPr/>
        </p:nvPicPr>
        <p:blipFill>
          <a:blip r:embed="rId1"/>
          <a:stretch>
            <a:fillRect/>
          </a:stretch>
        </p:blipFill>
        <p:spPr>
          <a:xfrm>
            <a:off x="502920" y="1536192"/>
            <a:ext cx="3576218" cy="1788109"/>
          </a:xfrm>
          <a:prstGeom prst="rect">
            <a:avLst/>
          </a:prstGeom>
        </p:spPr>
      </p:pic>
      <p:pic>
        <p:nvPicPr>
          <p:cNvPr id="5" name="Image 1" descr="img/energia_por_sesion.png">    </p:cNvPr>
          <p:cNvPicPr>
            <a:picLocks noChangeAspect="1"/>
          </p:cNvPicPr>
          <p:nvPr/>
        </p:nvPicPr>
        <p:blipFill>
          <a:blip r:embed="rId2"/>
          <a:stretch>
            <a:fillRect/>
          </a:stretch>
        </p:blipFill>
        <p:spPr>
          <a:xfrm>
            <a:off x="4307738" y="1536192"/>
            <a:ext cx="3576218" cy="1788109"/>
          </a:xfrm>
          <a:prstGeom prst="rect">
            <a:avLst/>
          </a:prstGeom>
        </p:spPr>
      </p:pic>
      <p:pic>
        <p:nvPicPr>
          <p:cNvPr id="6" name="Image 2" descr="img/colas_espera_cargadores.png">    </p:cNvPr>
          <p:cNvPicPr>
            <a:picLocks noChangeAspect="1"/>
          </p:cNvPicPr>
          <p:nvPr/>
        </p:nvPicPr>
        <p:blipFill>
          <a:blip r:embed="rId3"/>
          <a:stretch>
            <a:fillRect/>
          </a:stretch>
        </p:blipFill>
        <p:spPr>
          <a:xfrm>
            <a:off x="8112557" y="1536192"/>
            <a:ext cx="3576218" cy="2310787"/>
          </a:xfrm>
          <a:prstGeom prst="rect">
            <a:avLst/>
          </a:prstGeom>
        </p:spPr>
      </p:pic>
      <p:sp>
        <p:nvSpPr>
          <p:cNvPr id="7" name="Text 2"/>
          <p:cNvSpPr txBox="1"/>
          <p:nvPr/>
        </p:nvSpPr>
        <p:spPr>
          <a:xfrm>
            <a:off x="502920"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Llegadas por hora del día</a:t>
            </a:r>
            <a:endParaRPr lang="en-US" sz="1050" dirty="0"/>
          </a:p>
        </p:txBody>
      </p:sp>
      <p:sp>
        <p:nvSpPr>
          <p:cNvPr id="8" name="Text 3"/>
          <p:cNvSpPr txBox="1"/>
          <p:nvPr/>
        </p:nvSpPr>
        <p:spPr>
          <a:xfrm>
            <a:off x="4307738"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Energía por sesión</a:t>
            </a:r>
            <a:endParaRPr lang="en-US" sz="1050" dirty="0"/>
          </a:p>
        </p:txBody>
      </p:sp>
      <p:sp>
        <p:nvSpPr>
          <p:cNvPr id="9" name="Text 4"/>
          <p:cNvSpPr txBox="1"/>
          <p:nvPr/>
        </p:nvSpPr>
        <p:spPr>
          <a:xfrm>
            <a:off x="8112557" y="3956707"/>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Espera frente a nº de cargadores</a:t>
            </a:r>
            <a:endParaRPr lang="en-US" sz="1050" dirty="0"/>
          </a:p>
        </p:txBody>
      </p:sp>
      <p:sp>
        <p:nvSpPr>
          <p:cNvPr id="10" name="Text 5"/>
          <p:cNvSpPr txBox="1"/>
          <p:nvPr/>
        </p:nvSpPr>
        <p:spPr>
          <a:xfrm>
            <a:off x="502920" y="4432195"/>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DESL-EPFL: 1 875 sesiones CCS válidas · media de 32,2 kWh · 8,5 sesiones/día</a:t>
            </a:r>
            <a:endParaRPr lang="en-US" sz="1250" dirty="0"/>
          </a:p>
        </p:txBody>
      </p:sp>
      <p:sp>
        <p:nvSpPr>
          <p:cNvPr id="11" name="Text 6"/>
          <p:cNvSpPr txBox="1"/>
          <p:nvPr/>
        </p:nvSpPr>
        <p:spPr>
          <a:xfrm>
            <a:off x="502920" y="4724803"/>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Caltech ACN-Data como contraste de carga lenta (Level 2 frente a Level 3)</a:t>
            </a:r>
            <a:endParaRPr lang="en-US" sz="1250" dirty="0"/>
          </a:p>
        </p:txBody>
      </p:sp>
      <p:sp>
        <p:nvSpPr>
          <p:cNvPr id="12" name="Text 7"/>
          <p:cNvSpPr txBox="1"/>
          <p:nvPr/>
        </p:nvSpPr>
        <p:spPr>
          <a:xfrm>
            <a:off x="502920" y="5017411"/>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 ahí salen los 50 kW del cargador —el estándar europeo de carga rápida— y que los cargadores sean dos</a:t>
            </a:r>
            <a:endParaRPr lang="en-US" sz="1250" dirty="0"/>
          </a:p>
        </p:txBody>
      </p:sp>
      <p:sp>
        <p:nvSpPr>
          <p:cNvPr id="13" name="Text 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los datos de entrenamiento, de dos fuentes públicas alineadas hora a hora</a:t>
            </a:r>
            <a:endParaRPr lang="en-US" sz="2600" dirty="0"/>
          </a:p>
        </p:txBody>
      </p:sp>
      <p:sp>
        <p:nvSpPr>
          <p:cNvPr id="4" name="Shape 2"/>
          <p:cNvSpPr/>
          <p:nvPr/>
        </p:nvSpPr>
        <p:spPr>
          <a:xfrm>
            <a:off x="502920" y="1627632"/>
            <a:ext cx="5341468" cy="3401568"/>
          </a:xfrm>
          <a:prstGeom prst="roundRect">
            <a:avLst>
              <a:gd name="adj" fmla="val 1344"/>
            </a:avLst>
          </a:prstGeom>
          <a:solidFill>
            <a:srgbClr val="FFFFFF"/>
          </a:solidFill>
          <a:ln w="12700">
            <a:solidFill>
              <a:srgbClr val="DDE3E6"/>
            </a:solidFill>
            <a:prstDash val="solid"/>
          </a:ln>
        </p:spPr>
      </p:sp>
      <p:sp>
        <p:nvSpPr>
          <p:cNvPr id="5" name="Text 3"/>
          <p:cNvSpPr txBox="1"/>
          <p:nvPr/>
        </p:nvSpPr>
        <p:spPr>
          <a:xfrm>
            <a:off x="813816"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SOLAR</a:t>
            </a:r>
            <a:endParaRPr lang="en-US" sz="950" dirty="0"/>
          </a:p>
        </p:txBody>
      </p:sp>
      <p:sp>
        <p:nvSpPr>
          <p:cNvPr id="6" name="Text 4"/>
          <p:cNvSpPr txBox="1"/>
          <p:nvPr/>
        </p:nvSpPr>
        <p:spPr>
          <a:xfrm>
            <a:off x="813816"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NASA POWER</a:t>
            </a:r>
            <a:endParaRPr lang="en-US" sz="2400" dirty="0"/>
          </a:p>
        </p:txBody>
      </p:sp>
      <p:sp>
        <p:nvSpPr>
          <p:cNvPr id="7" name="Text 5"/>
          <p:cNvSpPr txBox="1"/>
          <p:nvPr/>
        </p:nvSpPr>
        <p:spPr>
          <a:xfrm>
            <a:off x="813816"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Reanálisis meteorológico horario en el punto de Sevilla</a:t>
            </a:r>
            <a:endParaRPr lang="en-US" sz="1150" dirty="0"/>
          </a:p>
        </p:txBody>
      </p:sp>
      <p:sp>
        <p:nvSpPr>
          <p:cNvPr id="8" name="Shape 6"/>
          <p:cNvSpPr/>
          <p:nvPr/>
        </p:nvSpPr>
        <p:spPr>
          <a:xfrm>
            <a:off x="813816" y="2926080"/>
            <a:ext cx="4719676" cy="0"/>
          </a:xfrm>
          <a:prstGeom prst="line">
            <a:avLst/>
          </a:prstGeom>
          <a:noFill/>
          <a:ln w="9525">
            <a:solidFill>
              <a:srgbClr val="DDE3E6"/>
            </a:solidFill>
            <a:prstDash val="solid"/>
          </a:ln>
        </p:spPr>
      </p:sp>
      <p:sp>
        <p:nvSpPr>
          <p:cNvPr id="9" name="Text 7"/>
          <p:cNvSpPr txBox="1"/>
          <p:nvPr/>
        </p:nvSpPr>
        <p:spPr>
          <a:xfrm>
            <a:off x="813816"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10" name="Text 8"/>
          <p:cNvSpPr txBox="1"/>
          <p:nvPr/>
        </p:nvSpPr>
        <p:spPr>
          <a:xfrm>
            <a:off x="1911096"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la irradiancia de las próximas 24 h</a:t>
            </a:r>
            <a:endParaRPr lang="en-US" sz="1200" dirty="0"/>
          </a:p>
        </p:txBody>
      </p:sp>
      <p:sp>
        <p:nvSpPr>
          <p:cNvPr id="11" name="Text 9"/>
          <p:cNvSpPr txBox="1"/>
          <p:nvPr/>
        </p:nvSpPr>
        <p:spPr>
          <a:xfrm>
            <a:off x="813816"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12" name="Text 10"/>
          <p:cNvSpPr txBox="1"/>
          <p:nvPr/>
        </p:nvSpPr>
        <p:spPr>
          <a:xfrm>
            <a:off x="1911096"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Casi veinte años de registro horario y las variables que explican la nubosidad</a:t>
            </a:r>
            <a:endParaRPr lang="en-US" sz="1200" dirty="0"/>
          </a:p>
        </p:txBody>
      </p:sp>
      <p:sp>
        <p:nvSpPr>
          <p:cNvPr id="13" name="Text 11"/>
          <p:cNvSpPr txBox="1"/>
          <p:nvPr/>
        </p:nvSpPr>
        <p:spPr>
          <a:xfrm>
            <a:off x="813816"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14" name="Text 12"/>
          <p:cNvSpPr txBox="1"/>
          <p:nvPr/>
        </p:nvSpPr>
        <p:spPr>
          <a:xfrm>
            <a:off x="1911096"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La hora y el día entran en seno y coseno, para que las 23 h y las 0 h sean contiguas y no los extremos de una escala</a:t>
            </a:r>
            <a:endParaRPr lang="en-US" sz="1200" dirty="0"/>
          </a:p>
        </p:txBody>
      </p:sp>
      <p:sp>
        <p:nvSpPr>
          <p:cNvPr id="15" name="Shape 13"/>
          <p:cNvSpPr/>
          <p:nvPr/>
        </p:nvSpPr>
        <p:spPr>
          <a:xfrm>
            <a:off x="6347308" y="1627632"/>
            <a:ext cx="5341468" cy="3401568"/>
          </a:xfrm>
          <a:prstGeom prst="roundRect">
            <a:avLst>
              <a:gd name="adj" fmla="val 1344"/>
            </a:avLst>
          </a:prstGeom>
          <a:solidFill>
            <a:srgbClr val="FFFFFF"/>
          </a:solidFill>
          <a:ln w="12700">
            <a:solidFill>
              <a:srgbClr val="DDE3E6"/>
            </a:solidFill>
            <a:prstDash val="solid"/>
          </a:ln>
        </p:spPr>
      </p:sp>
      <p:sp>
        <p:nvSpPr>
          <p:cNvPr id="16" name="Text 14"/>
          <p:cNvSpPr txBox="1"/>
          <p:nvPr/>
        </p:nvSpPr>
        <p:spPr>
          <a:xfrm>
            <a:off x="6658204" y="1828800"/>
            <a:ext cx="4719676" cy="219456"/>
          </a:xfrm>
          <a:prstGeom prst="rect">
            <a:avLst/>
          </a:prstGeom>
          <a:noFill/>
          <a:ln/>
        </p:spPr>
        <p:txBody>
          <a:bodyPr wrap="square" lIns="0" tIns="0" rIns="0" bIns="0" rtlCol="0" anchor="ctr"/>
          <a:lstStyle/>
          <a:p>
            <a:pPr indent="0" marL="0">
              <a:buNone/>
            </a:pPr>
            <a:r>
              <a:rPr lang="en-US" sz="950" b="1" spc="120" kern="0" dirty="0">
                <a:solidFill>
                  <a:srgbClr val="C8861E"/>
                </a:solidFill>
                <a:latin typeface="Calibri" pitchFamily="34" charset="0"/>
                <a:ea typeface="Calibri" pitchFamily="34" charset="-122"/>
                <a:cs typeface="Calibri" pitchFamily="34" charset="-120"/>
              </a:rPr>
              <a:t>MODELO DE PRECIO</a:t>
            </a:r>
            <a:endParaRPr lang="en-US" sz="950" dirty="0"/>
          </a:p>
        </p:txBody>
      </p:sp>
      <p:sp>
        <p:nvSpPr>
          <p:cNvPr id="17" name="Text 15"/>
          <p:cNvSpPr txBox="1"/>
          <p:nvPr/>
        </p:nvSpPr>
        <p:spPr>
          <a:xfrm>
            <a:off x="6658204" y="2084832"/>
            <a:ext cx="4719676" cy="420624"/>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ENTSO-E</a:t>
            </a:r>
            <a:endParaRPr lang="en-US" sz="2400" dirty="0"/>
          </a:p>
        </p:txBody>
      </p:sp>
      <p:sp>
        <p:nvSpPr>
          <p:cNvPr id="18" name="Text 16"/>
          <p:cNvSpPr txBox="1"/>
          <p:nvPr/>
        </p:nvSpPr>
        <p:spPr>
          <a:xfrm>
            <a:off x="6658204" y="2542032"/>
            <a:ext cx="4719676" cy="27432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Casaciones del mercado diario español, hora a hora</a:t>
            </a:r>
            <a:endParaRPr lang="en-US" sz="1150" dirty="0"/>
          </a:p>
        </p:txBody>
      </p:sp>
      <p:sp>
        <p:nvSpPr>
          <p:cNvPr id="19" name="Shape 17"/>
          <p:cNvSpPr/>
          <p:nvPr/>
        </p:nvSpPr>
        <p:spPr>
          <a:xfrm>
            <a:off x="6658204" y="2926080"/>
            <a:ext cx="4719676" cy="0"/>
          </a:xfrm>
          <a:prstGeom prst="line">
            <a:avLst/>
          </a:prstGeom>
          <a:noFill/>
          <a:ln w="9525">
            <a:solidFill>
              <a:srgbClr val="DDE3E6"/>
            </a:solidFill>
            <a:prstDash val="solid"/>
          </a:ln>
        </p:spPr>
      </p:sp>
      <p:sp>
        <p:nvSpPr>
          <p:cNvPr id="20" name="Text 18"/>
          <p:cNvSpPr txBox="1"/>
          <p:nvPr/>
        </p:nvSpPr>
        <p:spPr>
          <a:xfrm>
            <a:off x="6658204" y="3072384"/>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Para qué</a:t>
            </a:r>
            <a:endParaRPr lang="en-US" sz="1100" dirty="0"/>
          </a:p>
        </p:txBody>
      </p:sp>
      <p:sp>
        <p:nvSpPr>
          <p:cNvPr id="21" name="Text 19"/>
          <p:cNvSpPr txBox="1"/>
          <p:nvPr/>
        </p:nvSpPr>
        <p:spPr>
          <a:xfrm>
            <a:off x="7755484" y="3072384"/>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Entrenar la red que predice el precio de las próximas 24 h</a:t>
            </a:r>
            <a:endParaRPr lang="en-US" sz="1200" dirty="0"/>
          </a:p>
        </p:txBody>
      </p:sp>
      <p:sp>
        <p:nvSpPr>
          <p:cNvPr id="22" name="Text 20"/>
          <p:cNvSpPr txBox="1"/>
          <p:nvPr/>
        </p:nvSpPr>
        <p:spPr>
          <a:xfrm>
            <a:off x="6658204" y="3749040"/>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Qué aporta</a:t>
            </a:r>
            <a:endParaRPr lang="en-US" sz="1100" dirty="0"/>
          </a:p>
        </p:txBody>
      </p:sp>
      <p:sp>
        <p:nvSpPr>
          <p:cNvPr id="23" name="Text 21"/>
          <p:cNvSpPr txBox="1"/>
          <p:nvPr/>
        </p:nvSpPr>
        <p:spPr>
          <a:xfrm>
            <a:off x="7755484" y="3749040"/>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El histórico y el contexto que explica su deriva, como la capacidad fotovoltaica instalada en España</a:t>
            </a:r>
            <a:endParaRPr lang="en-US" sz="1200" dirty="0"/>
          </a:p>
        </p:txBody>
      </p:sp>
      <p:sp>
        <p:nvSpPr>
          <p:cNvPr id="24" name="Text 22"/>
          <p:cNvSpPr txBox="1"/>
          <p:nvPr/>
        </p:nvSpPr>
        <p:spPr>
          <a:xfrm>
            <a:off x="6658204" y="4425696"/>
            <a:ext cx="1051560" cy="256032"/>
          </a:xfrm>
          <a:prstGeom prst="rect">
            <a:avLst/>
          </a:prstGeom>
          <a:noFill/>
          <a:ln/>
        </p:spPr>
        <p:txBody>
          <a:bodyPr wrap="square" lIns="0" tIns="0" rIns="0" bIns="0" rtlCol="0" anchor="t"/>
          <a:lstStyle/>
          <a:p>
            <a:pPr indent="0" marL="0">
              <a:buNone/>
            </a:pPr>
            <a:r>
              <a:rPr lang="en-US" sz="1100" b="1" dirty="0">
                <a:solidFill>
                  <a:srgbClr val="10394A"/>
                </a:solidFill>
                <a:latin typeface="Calibri" pitchFamily="34" charset="0"/>
                <a:ea typeface="Calibri" pitchFamily="34" charset="-122"/>
                <a:cs typeface="Calibri" pitchFamily="34" charset="-120"/>
              </a:rPr>
              <a:t>Un detalle</a:t>
            </a:r>
            <a:endParaRPr lang="en-US" sz="1100" dirty="0"/>
          </a:p>
        </p:txBody>
      </p:sp>
      <p:sp>
        <p:nvSpPr>
          <p:cNvPr id="25" name="Text 23"/>
          <p:cNvSpPr txBox="1"/>
          <p:nvPr/>
        </p:nvSpPr>
        <p:spPr>
          <a:xfrm>
            <a:off x="7755484" y="4425696"/>
            <a:ext cx="3622396" cy="603504"/>
          </a:xfrm>
          <a:prstGeom prst="rect">
            <a:avLst/>
          </a:prstGeom>
          <a:noFill/>
          <a:ln/>
        </p:spPr>
        <p:txBody>
          <a:bodyPr wrap="square" lIns="0" tIns="0" rIns="0" bIns="0" rtlCol="0" anchor="t"/>
          <a:lstStyle/>
          <a:p>
            <a:pPr indent="0" marL="0">
              <a:lnSpc>
                <a:spcPct val="112000"/>
              </a:lnSpc>
              <a:buNone/>
            </a:pPr>
            <a:r>
              <a:rPr lang="en-US" sz="1200" dirty="0">
                <a:solidFill>
                  <a:srgbClr val="1C1C1C"/>
                </a:solidFill>
                <a:latin typeface="Calibri" pitchFamily="34" charset="0"/>
                <a:ea typeface="Calibri" pitchFamily="34" charset="-122"/>
                <a:cs typeface="Calibri" pitchFamily="34" charset="-120"/>
              </a:rPr>
              <a:t>Entran el precio de hace 24 h y el de hace una semana: los dos ciclos del mercado</a:t>
            </a:r>
            <a:endParaRPr lang="en-US" sz="1200" dirty="0"/>
          </a:p>
        </p:txBody>
      </p:sp>
      <p:sp>
        <p:nvSpPr>
          <p:cNvPr id="26" name="Shape 24"/>
          <p:cNvSpPr/>
          <p:nvPr/>
        </p:nvSpPr>
        <p:spPr>
          <a:xfrm>
            <a:off x="502920" y="5349240"/>
            <a:ext cx="11185855" cy="566928"/>
          </a:xfrm>
          <a:prstGeom prst="roundRect">
            <a:avLst>
              <a:gd name="adj" fmla="val 9677"/>
            </a:avLst>
          </a:prstGeom>
          <a:solidFill>
            <a:srgbClr val="10394A"/>
          </a:solidFill>
          <a:ln/>
        </p:spPr>
      </p:sp>
      <p:sp>
        <p:nvSpPr>
          <p:cNvPr id="27" name="Text 25"/>
          <p:cNvSpPr txBox="1"/>
          <p:nvPr/>
        </p:nvSpPr>
        <p:spPr>
          <a:xfrm>
            <a:off x="777240" y="536752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reparto entre entrenamiento y prueba es temporal, nunca aleatorio: mezclar horas le regalaría al modelo información del futuro.</a:t>
            </a:r>
            <a:endParaRPr lang="en-US" sz="1350" dirty="0"/>
          </a:p>
        </p:txBody>
      </p:sp>
      <p:sp>
        <p:nvSpPr>
          <p:cNvPr id="28" name="Text 2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Dos redes con la misma arquitectura y parada temprana por validación</a:t>
            </a:r>
            <a:endParaRPr lang="en-US" sz="2600" dirty="0"/>
          </a:p>
        </p:txBody>
      </p:sp>
      <p:pic>
        <p:nvPicPr>
          <p:cNvPr id="4" name="Image 0" descr="img/TrainingSol_rmse.png">    </p:cNvPr>
          <p:cNvPicPr>
            <a:picLocks noChangeAspect="1"/>
          </p:cNvPicPr>
          <p:nvPr/>
        </p:nvPicPr>
        <p:blipFill>
          <a:blip r:embed="rId1"/>
          <a:stretch>
            <a:fillRect/>
          </a:stretch>
        </p:blipFill>
        <p:spPr>
          <a:xfrm>
            <a:off x="502920" y="1536192"/>
            <a:ext cx="5364328" cy="2309040"/>
          </a:xfrm>
          <a:prstGeom prst="rect">
            <a:avLst/>
          </a:prstGeom>
        </p:spPr>
      </p:pic>
      <p:pic>
        <p:nvPicPr>
          <p:cNvPr id="5" name="Image 1" descr="img/TrainingPrecio_rmse.png">    </p:cNvPr>
          <p:cNvPicPr>
            <a:picLocks noChangeAspect="1"/>
          </p:cNvPicPr>
          <p:nvPr/>
        </p:nvPicPr>
        <p:blipFill>
          <a:blip r:embed="rId2"/>
          <a:stretch>
            <a:fillRect/>
          </a:stretch>
        </p:blipFill>
        <p:spPr>
          <a:xfrm>
            <a:off x="6324448" y="1536192"/>
            <a:ext cx="5364328" cy="2309040"/>
          </a:xfrm>
          <a:prstGeom prst="rect">
            <a:avLst/>
          </a:prstGeom>
        </p:spPr>
      </p:pic>
      <p:sp>
        <p:nvSpPr>
          <p:cNvPr id="6" name="Text 2"/>
          <p:cNvSpPr txBox="1"/>
          <p:nvPr/>
        </p:nvSpPr>
        <p:spPr>
          <a:xfrm>
            <a:off x="502920"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solar · RMSE de validación 0,278 — parada en la época 21 de 300</a:t>
            </a:r>
            <a:endParaRPr lang="en-US" sz="1050" dirty="0"/>
          </a:p>
        </p:txBody>
      </p:sp>
      <p:sp>
        <p:nvSpPr>
          <p:cNvPr id="7" name="Text 3"/>
          <p:cNvSpPr txBox="1"/>
          <p:nvPr/>
        </p:nvSpPr>
        <p:spPr>
          <a:xfrm>
            <a:off x="6324448"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de precio · RMSE de validación 0,833 — parada en la época 29 de 200</a:t>
            </a:r>
            <a:endParaRPr lang="en-US" sz="1050" dirty="0"/>
          </a:p>
        </p:txBody>
      </p:sp>
      <p:sp>
        <p:nvSpPr>
          <p:cNvPr id="8" name="Text 4"/>
          <p:cNvSpPr txBox="1"/>
          <p:nvPr/>
        </p:nvSpPr>
        <p:spPr>
          <a:xfrm>
            <a:off x="502920" y="46177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Dos capas LSTM apiladas (128 y 64 unidades) con dropout, capa densa y salida de 24 valores</a:t>
            </a:r>
            <a:endParaRPr lang="en-US" sz="1250" dirty="0"/>
          </a:p>
        </p:txBody>
      </p:sp>
      <p:sp>
        <p:nvSpPr>
          <p:cNvPr id="9" name="Text 5"/>
          <p:cNvSpPr txBox="1"/>
          <p:nvPr/>
        </p:nvSpPr>
        <p:spPr>
          <a:xfrm>
            <a:off x="502920" y="49103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Adam con descenso de tasa de aprendizaje · parada temprana por pérdida de validación</a:t>
            </a:r>
            <a:endParaRPr lang="en-US" sz="1250" dirty="0"/>
          </a:p>
        </p:txBody>
      </p:sp>
      <p:sp>
        <p:nvSpPr>
          <p:cNvPr id="10" name="Text 6"/>
          <p:cNvSpPr txBox="1"/>
          <p:nvPr/>
        </p:nvSpPr>
        <p:spPr>
          <a:xfrm>
            <a:off x="502920" y="52029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El modelo solar acota la salida a valores no negativos; el de precio no puede, porque el precio admite negativos</a:t>
            </a:r>
            <a:endParaRPr lang="en-US" sz="1250" dirty="0"/>
          </a:p>
        </p:txBody>
      </p:sp>
      <p:sp>
        <p:nvSpPr>
          <p:cNvPr id="11" name="Text 7"/>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problema: ninguna de las dos redes bate sola a su línea base</a:t>
            </a:r>
            <a:endParaRPr lang="en-US" sz="2600" dirty="0"/>
          </a:p>
        </p:txBody>
      </p:sp>
      <p:pic>
        <p:nvPicPr>
          <p:cNvPr id="4" name="Image 0" descr="img/lstm_solar_dos_dias.png">    </p:cNvPr>
          <p:cNvPicPr>
            <a:picLocks noChangeAspect="1"/>
          </p:cNvPicPr>
          <p:nvPr/>
        </p:nvPicPr>
        <p:blipFill>
          <a:blip r:embed="rId1"/>
          <a:stretch>
            <a:fillRect/>
          </a:stretch>
        </p:blipFill>
        <p:spPr>
          <a:xfrm>
            <a:off x="502920" y="1536192"/>
            <a:ext cx="5364328" cy="2428100"/>
          </a:xfrm>
          <a:prstGeom prst="rect">
            <a:avLst/>
          </a:prstGeom>
        </p:spPr>
      </p:pic>
      <p:pic>
        <p:nvPicPr>
          <p:cNvPr id="5" name="Image 1" descr="img/lstm_precio_MAEPorHorizon.png">    </p:cNvPr>
          <p:cNvPicPr>
            <a:picLocks noChangeAspect="1"/>
          </p:cNvPicPr>
          <p:nvPr/>
        </p:nvPicPr>
        <p:blipFill>
          <a:blip r:embed="rId2"/>
          <a:stretch>
            <a:fillRect/>
          </a:stretch>
        </p:blipFill>
        <p:spPr>
          <a:xfrm>
            <a:off x="6324448" y="1536192"/>
            <a:ext cx="5364328" cy="2156568"/>
          </a:xfrm>
          <a:prstGeom prst="rect">
            <a:avLst/>
          </a:prstGeom>
        </p:spPr>
      </p:pic>
      <p:sp>
        <p:nvSpPr>
          <p:cNvPr id="6" name="Text 2"/>
          <p:cNvSpPr txBox="1"/>
          <p:nvPr/>
        </p:nvSpPr>
        <p:spPr>
          <a:xfrm>
            <a:off x="502920" y="405573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Red solar frente al valor real: arriba el día soleado, abajo el nublado</a:t>
            </a:r>
            <a:endParaRPr lang="en-US" sz="1050" dirty="0"/>
          </a:p>
        </p:txBody>
      </p:sp>
      <p:sp>
        <p:nvSpPr>
          <p:cNvPr id="7" name="Text 3"/>
          <p:cNvSpPr txBox="1"/>
          <p:nvPr/>
        </p:nvSpPr>
        <p:spPr>
          <a:xfrm>
            <a:off x="6324448" y="405573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Error del modelo de precio por horizonte, frente a las dos persistencias</a:t>
            </a:r>
            <a:endParaRPr lang="en-US" sz="1050" dirty="0"/>
          </a:p>
        </p:txBody>
      </p:sp>
      <p:sp>
        <p:nvSpPr>
          <p:cNvPr id="8" name="Text 4"/>
          <p:cNvSpPr txBox="1"/>
          <p:nvPr/>
        </p:nvSpPr>
        <p:spPr>
          <a:xfrm>
            <a:off x="502920" y="451293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− 8,8 %</a:t>
            </a:r>
            <a:endParaRPr lang="en-US" sz="3000" dirty="0"/>
          </a:p>
        </p:txBody>
      </p:sp>
      <p:sp>
        <p:nvSpPr>
          <p:cNvPr id="9" name="Text 5"/>
          <p:cNvSpPr txBox="1"/>
          <p:nvPr/>
        </p:nvSpPr>
        <p:spPr>
          <a:xfrm>
            <a:off x="502920" y="506157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solar frente a la persistencia de cielo claro, en el agregado de 24 h</a:t>
            </a:r>
            <a:endParaRPr lang="en-US" sz="1200" dirty="0"/>
          </a:p>
        </p:txBody>
      </p:sp>
      <p:sp>
        <p:nvSpPr>
          <p:cNvPr id="10" name="Text 6"/>
          <p:cNvSpPr txBox="1"/>
          <p:nvPr/>
        </p:nvSpPr>
        <p:spPr>
          <a:xfrm>
            <a:off x="6324448" y="4512932"/>
            <a:ext cx="536432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− 7,1 %</a:t>
            </a:r>
            <a:endParaRPr lang="en-US" sz="3000" dirty="0"/>
          </a:p>
        </p:txBody>
      </p:sp>
      <p:sp>
        <p:nvSpPr>
          <p:cNvPr id="11" name="Text 7"/>
          <p:cNvSpPr txBox="1"/>
          <p:nvPr/>
        </p:nvSpPr>
        <p:spPr>
          <a:xfrm>
            <a:off x="6324448" y="5061572"/>
            <a:ext cx="536432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de precio frente a la persistencia de 24 horas</a:t>
            </a:r>
            <a:endParaRPr lang="en-US" sz="1200" dirty="0"/>
          </a:p>
        </p:txBody>
      </p:sp>
      <p:sp>
        <p:nvSpPr>
          <p:cNvPr id="12" name="Shape 8"/>
          <p:cNvSpPr/>
          <p:nvPr/>
        </p:nvSpPr>
        <p:spPr>
          <a:xfrm>
            <a:off x="502920" y="5623560"/>
            <a:ext cx="11185855" cy="566928"/>
          </a:xfrm>
          <a:prstGeom prst="roundRect">
            <a:avLst>
              <a:gd name="adj" fmla="val 9677"/>
            </a:avLst>
          </a:prstGeom>
          <a:solidFill>
            <a:srgbClr val="10394A"/>
          </a:solidFill>
          <a:ln/>
        </p:spPr>
      </p:sp>
      <p:sp>
        <p:nvSpPr>
          <p:cNvPr id="13"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Las líneas base no son rivales fáciles: en estas dos series el día de hoy se parece muchísimo al de ayer. La red solo puede ganarles donde algo cambia.</a:t>
            </a:r>
            <a:endParaRPr lang="en-US" sz="1350" dirty="0"/>
          </a:p>
        </p:txBody>
      </p:sp>
      <p:sp>
        <p:nvSpPr>
          <p:cNvPr id="14"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solución: proyección física y ponderación con el naive</a:t>
            </a:r>
            <a:endParaRPr lang="en-US" sz="2600" dirty="0"/>
          </a:p>
        </p:txBody>
      </p:sp>
      <p:sp>
        <p:nvSpPr>
          <p:cNvPr id="4" name="Shape 2"/>
          <p:cNvSpPr/>
          <p:nvPr/>
        </p:nvSpPr>
        <p:spPr>
          <a:xfrm>
            <a:off x="502920" y="1536192"/>
            <a:ext cx="384048" cy="384048"/>
          </a:xfrm>
          <a:prstGeom prst="ellipse">
            <a:avLst/>
          </a:prstGeom>
          <a:solidFill>
            <a:srgbClr val="C8861E"/>
          </a:solidFill>
          <a:ln/>
        </p:spPr>
      </p:sp>
      <p:sp>
        <p:nvSpPr>
          <p:cNvPr id="5" name="Text 3"/>
          <p:cNvSpPr txBox="1"/>
          <p:nvPr/>
        </p:nvSpPr>
        <p:spPr>
          <a:xfrm>
            <a:off x="502920"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02920"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Proyección sobre la envolvente</a:t>
            </a:r>
            <a:endParaRPr lang="en-US" sz="1700" dirty="0"/>
          </a:p>
        </p:txBody>
      </p:sp>
      <p:sp>
        <p:nvSpPr>
          <p:cNvPr id="7" name="Text 5"/>
          <p:cNvSpPr txBox="1"/>
          <p:nvPr/>
        </p:nvSpPr>
        <p:spPr>
          <a:xfrm>
            <a:off x="502920"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La predicción se acota a la curva de cielo claro: el error medio diurno baja de 59,4 a 56,0 Wh/m²</a:t>
            </a:r>
            <a:endParaRPr lang="en-US" sz="1300" dirty="0"/>
          </a:p>
        </p:txBody>
      </p:sp>
      <p:sp>
        <p:nvSpPr>
          <p:cNvPr id="8" name="Shape 6"/>
          <p:cNvSpPr/>
          <p:nvPr/>
        </p:nvSpPr>
        <p:spPr>
          <a:xfrm>
            <a:off x="4338218" y="1536192"/>
            <a:ext cx="384048" cy="384048"/>
          </a:xfrm>
          <a:prstGeom prst="ellipse">
            <a:avLst/>
          </a:prstGeom>
          <a:solidFill>
            <a:srgbClr val="C8861E"/>
          </a:solidFill>
          <a:ln/>
        </p:spPr>
      </p:sp>
      <p:sp>
        <p:nvSpPr>
          <p:cNvPr id="9" name="Text 7"/>
          <p:cNvSpPr txBox="1"/>
          <p:nvPr/>
        </p:nvSpPr>
        <p:spPr>
          <a:xfrm>
            <a:off x="4338218"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4338218"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Ponderación con la línea base</a:t>
            </a:r>
            <a:endParaRPr lang="en-US" sz="1700" dirty="0"/>
          </a:p>
        </p:txBody>
      </p:sp>
      <p:sp>
        <p:nvSpPr>
          <p:cNvPr id="11" name="Text 9"/>
          <p:cNvSpPr txBox="1"/>
          <p:nvPr/>
        </p:nvSpPr>
        <p:spPr>
          <a:xfrm>
            <a:off x="4338218"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Combinación convexa red + naive, con pesos por horizonte ajustados en validación, nunca en test</a:t>
            </a:r>
            <a:endParaRPr lang="en-US" sz="1300" dirty="0"/>
          </a:p>
        </p:txBody>
      </p:sp>
      <p:sp>
        <p:nvSpPr>
          <p:cNvPr id="12" name="Shape 10"/>
          <p:cNvSpPr/>
          <p:nvPr/>
        </p:nvSpPr>
        <p:spPr>
          <a:xfrm>
            <a:off x="8173517" y="1536192"/>
            <a:ext cx="384048" cy="384048"/>
          </a:xfrm>
          <a:prstGeom prst="ellipse">
            <a:avLst/>
          </a:prstGeom>
          <a:solidFill>
            <a:srgbClr val="C8861E"/>
          </a:solidFill>
          <a:ln/>
        </p:spPr>
      </p:sp>
      <p:sp>
        <p:nvSpPr>
          <p:cNvPr id="13" name="Text 11"/>
          <p:cNvSpPr txBox="1"/>
          <p:nvPr/>
        </p:nvSpPr>
        <p:spPr>
          <a:xfrm>
            <a:off x="8173517"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8173517"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Corrección del lazo cerrado</a:t>
            </a:r>
            <a:endParaRPr lang="en-US" sz="1700" dirty="0"/>
          </a:p>
        </p:txBody>
      </p:sp>
      <p:sp>
        <p:nvSpPr>
          <p:cNvPr id="15" name="Text 13"/>
          <p:cNvSpPr txBox="1"/>
          <p:nvPr/>
        </p:nvSpPr>
        <p:spPr>
          <a:xfrm>
            <a:off x="8173517"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El buffer se realimenta con el precio real ya transcurrido, que sigue siendo causal</a:t>
            </a:r>
            <a:endParaRPr lang="en-US" sz="1300" dirty="0"/>
          </a:p>
        </p:txBody>
      </p:sp>
      <p:sp>
        <p:nvSpPr>
          <p:cNvPr id="16" name="Shape 14"/>
          <p:cNvSpPr/>
          <p:nvPr/>
        </p:nvSpPr>
        <p:spPr>
          <a:xfrm>
            <a:off x="502920" y="4114800"/>
            <a:ext cx="11185855" cy="0"/>
          </a:xfrm>
          <a:prstGeom prst="line">
            <a:avLst/>
          </a:prstGeom>
          <a:noFill/>
          <a:ln w="9525">
            <a:solidFill>
              <a:srgbClr val="DDE3E6"/>
            </a:solidFill>
            <a:prstDash val="solid"/>
          </a:ln>
        </p:spPr>
      </p:sp>
      <p:sp>
        <p:nvSpPr>
          <p:cNvPr id="17" name="Text 15"/>
          <p:cNvSpPr txBox="1"/>
          <p:nvPr/>
        </p:nvSpPr>
        <p:spPr>
          <a:xfrm>
            <a:off x="196596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+ 5,8 %</a:t>
            </a:r>
            <a:endParaRPr lang="en-US" sz="4000" dirty="0"/>
          </a:p>
        </p:txBody>
      </p:sp>
      <p:sp>
        <p:nvSpPr>
          <p:cNvPr id="18" name="Text 16"/>
          <p:cNvSpPr txBox="1"/>
          <p:nvPr/>
        </p:nvSpPr>
        <p:spPr>
          <a:xfrm>
            <a:off x="196596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cielo claro</a:t>
            </a:r>
            <a:endParaRPr lang="en-US" sz="1250" dirty="0"/>
          </a:p>
        </p:txBody>
      </p:sp>
      <p:sp>
        <p:nvSpPr>
          <p:cNvPr id="19" name="Text 17"/>
          <p:cNvSpPr txBox="1"/>
          <p:nvPr/>
        </p:nvSpPr>
        <p:spPr>
          <a:xfrm>
            <a:off x="617220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+ 6,6 %</a:t>
            </a:r>
            <a:endParaRPr lang="en-US" sz="4000" dirty="0"/>
          </a:p>
        </p:txBody>
      </p:sp>
      <p:sp>
        <p:nvSpPr>
          <p:cNvPr id="20" name="Text 18"/>
          <p:cNvSpPr txBox="1"/>
          <p:nvPr/>
        </p:nvSpPr>
        <p:spPr>
          <a:xfrm>
            <a:off x="617220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mejor que la persistencia de 24 h</a:t>
            </a:r>
            <a:endParaRPr lang="en-US" sz="1250" dirty="0"/>
          </a:p>
        </p:txBody>
      </p:sp>
      <p:sp>
        <p:nvSpPr>
          <p:cNvPr id="21" name="Shape 19"/>
          <p:cNvSpPr/>
          <p:nvPr/>
        </p:nvSpPr>
        <p:spPr>
          <a:xfrm>
            <a:off x="502920" y="5623560"/>
            <a:ext cx="11185855" cy="566928"/>
          </a:xfrm>
          <a:prstGeom prst="roundRect">
            <a:avLst>
              <a:gd name="adj" fmla="val 9677"/>
            </a:avLst>
          </a:prstGeom>
          <a:solidFill>
            <a:srgbClr val="10394A"/>
          </a:solidFill>
          <a:ln/>
        </p:spPr>
      </p:sp>
      <p:sp>
        <p:nvSpPr>
          <p:cNvPr id="22" name="Text 20"/>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 que consume el EMS no es la salida cruda de la red, sino esta señal combinada.</a:t>
            </a:r>
            <a:endParaRPr lang="en-US" sz="1350" dirty="0"/>
          </a:p>
        </p:txBody>
      </p:sp>
      <p:sp>
        <p:nvSpPr>
          <p:cNvPr id="23" name="Text 21"/>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escenarios que cruzan recurso solar y régimen de precio</a:t>
            </a:r>
            <a:endParaRPr lang="en-US" sz="2600" dirty="0"/>
          </a:p>
        </p:txBody>
      </p:sp>
      <p:pic>
        <p:nvPicPr>
          <p:cNvPr id="4" name="Image 0" descr="img/fig_met_escenarios.png">    </p:cNvPr>
          <p:cNvPicPr>
            <a:picLocks noChangeAspect="1"/>
          </p:cNvPicPr>
          <p:nvPr/>
        </p:nvPicPr>
        <p:blipFill>
          <a:blip r:embed="rId1"/>
          <a:stretch>
            <a:fillRect/>
          </a:stretch>
        </p:blipFill>
        <p:spPr>
          <a:xfrm>
            <a:off x="2281693" y="1536192"/>
            <a:ext cx="7628310" cy="3291840"/>
          </a:xfrm>
          <a:prstGeom prst="rect">
            <a:avLst/>
          </a:prstGeom>
        </p:spPr>
      </p:pic>
      <p:sp>
        <p:nvSpPr>
          <p:cNvPr id="5" name="Text 2"/>
          <p:cNvSpPr txBox="1"/>
          <p:nvPr/>
        </p:nvSpPr>
        <p:spPr>
          <a:xfrm>
            <a:off x="502920" y="50749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E1 laborable soleado, precio plano · E2 nublado, índice de claridad 0,36 con punta de 194 €/MWh</a:t>
            </a:r>
            <a:endParaRPr lang="en-US" sz="1250" dirty="0"/>
          </a:p>
        </p:txBody>
      </p:sp>
      <p:sp>
        <p:nvSpPr>
          <p:cNvPr id="6" name="Text 3"/>
          <p:cNvSpPr txBox="1"/>
          <p:nvPr/>
        </p:nvSpPr>
        <p:spPr>
          <a:xfrm>
            <a:off x="502920" y="53675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E3 fin de semana soleado, precio casi nulo a mediodía · E4 mayor diferencial de 2025: de 24 a 252 €/MWh</a:t>
            </a:r>
            <a:endParaRPr lang="en-US" sz="1250" dirty="0"/>
          </a:p>
        </p:txBody>
      </p:sp>
      <p:sp>
        <p:nvSpPr>
          <p:cNvPr id="7" name="Text 4"/>
          <p:cNvSpPr txBox="1"/>
          <p:nvPr/>
        </p:nvSpPr>
        <p:spPr>
          <a:xfrm>
            <a:off x="502920" y="56601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Cada escenario se repite con varias semillas del generador estocástico de demanda</a:t>
            </a:r>
            <a:endParaRPr lang="en-US" sz="1250" dirty="0"/>
          </a:p>
        </p:txBody>
      </p:sp>
      <p:sp>
        <p:nvSpPr>
          <p:cNvPr id="8"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piezas sostienen todas las cifras que vienen a continuación</a:t>
            </a:r>
            <a:endParaRPr lang="en-US" sz="2600" dirty="0"/>
          </a:p>
        </p:txBody>
      </p:sp>
      <p:sp>
        <p:nvSpPr>
          <p:cNvPr id="4" name="Shape 2"/>
          <p:cNvSpPr/>
          <p:nvPr/>
        </p:nvSpPr>
        <p:spPr>
          <a:xfrm>
            <a:off x="502920" y="2651760"/>
            <a:ext cx="1325880" cy="548640"/>
          </a:xfrm>
          <a:prstGeom prst="roundRect">
            <a:avLst>
              <a:gd name="adj" fmla="val 10000"/>
            </a:avLst>
          </a:prstGeom>
          <a:solidFill>
            <a:srgbClr val="FFFFFF"/>
          </a:solidFill>
          <a:ln w="12700">
            <a:solidFill>
              <a:srgbClr val="DDE3E6"/>
            </a:solidFill>
            <a:prstDash val="solid"/>
          </a:ln>
        </p:spPr>
      </p:sp>
      <p:sp>
        <p:nvSpPr>
          <p:cNvPr id="5" name="Text 3"/>
          <p:cNvSpPr txBox="1"/>
          <p:nvPr/>
        </p:nvSpPr>
        <p:spPr>
          <a:xfrm>
            <a:off x="502920" y="2651760"/>
            <a:ext cx="132588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Semilla n</a:t>
            </a:r>
            <a:endParaRPr lang="en-US" sz="1250" dirty="0"/>
          </a:p>
        </p:txBody>
      </p:sp>
      <p:sp>
        <p:nvSpPr>
          <p:cNvPr id="6" name="Shape 4"/>
          <p:cNvSpPr/>
          <p:nvPr/>
        </p:nvSpPr>
        <p:spPr>
          <a:xfrm>
            <a:off x="1892808" y="2926080"/>
            <a:ext cx="365760" cy="0"/>
          </a:xfrm>
          <a:prstGeom prst="line">
            <a:avLst/>
          </a:prstGeom>
          <a:noFill/>
          <a:ln w="12700">
            <a:solidFill>
              <a:srgbClr val="5F6B72"/>
            </a:solidFill>
            <a:prstDash val="solid"/>
            <a:tailEnd type="triangle"/>
          </a:ln>
        </p:spPr>
      </p:sp>
      <p:sp>
        <p:nvSpPr>
          <p:cNvPr id="7" name="Shape 5"/>
          <p:cNvSpPr/>
          <p:nvPr/>
        </p:nvSpPr>
        <p:spPr>
          <a:xfrm>
            <a:off x="2322576" y="2468880"/>
            <a:ext cx="2514600" cy="914400"/>
          </a:xfrm>
          <a:prstGeom prst="roundRect">
            <a:avLst>
              <a:gd name="adj" fmla="val 6000"/>
            </a:avLst>
          </a:prstGeom>
          <a:solidFill>
            <a:srgbClr val="FFFFFF"/>
          </a:solidFill>
          <a:ln w="12700">
            <a:solidFill>
              <a:srgbClr val="DDE3E6"/>
            </a:solidFill>
            <a:prstDash val="solid"/>
          </a:ln>
        </p:spPr>
      </p:sp>
      <p:sp>
        <p:nvSpPr>
          <p:cNvPr id="8" name="Text 6"/>
          <p:cNvSpPr txBox="1"/>
          <p:nvPr/>
        </p:nvSpPr>
        <p:spPr>
          <a:xfrm>
            <a:off x="2322576" y="2523744"/>
            <a:ext cx="25146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Un perfil de demanda</a:t>
            </a:r>
            <a:endParaRPr lang="en-US" sz="1250" dirty="0"/>
          </a:p>
        </p:txBody>
      </p:sp>
      <p:sp>
        <p:nvSpPr>
          <p:cNvPr id="9" name="Text 7"/>
          <p:cNvSpPr txBox="1"/>
          <p:nvPr/>
        </p:nvSpPr>
        <p:spPr>
          <a:xfrm>
            <a:off x="2377440" y="2944368"/>
            <a:ext cx="24048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los mismos vehículos, a las mismas horas, con las mismas energías</a:t>
            </a:r>
            <a:endParaRPr lang="en-US" sz="950" dirty="0"/>
          </a:p>
        </p:txBody>
      </p:sp>
      <p:sp>
        <p:nvSpPr>
          <p:cNvPr id="10" name="Shape 8"/>
          <p:cNvSpPr/>
          <p:nvPr/>
        </p:nvSpPr>
        <p:spPr>
          <a:xfrm>
            <a:off x="4901184" y="2926080"/>
            <a:ext cx="310896" cy="0"/>
          </a:xfrm>
          <a:prstGeom prst="line">
            <a:avLst/>
          </a:prstGeom>
          <a:noFill/>
          <a:ln w="12700">
            <a:solidFill>
              <a:srgbClr val="5F6B72"/>
            </a:solidFill>
            <a:prstDash val="solid"/>
          </a:ln>
        </p:spPr>
      </p:sp>
      <p:sp>
        <p:nvSpPr>
          <p:cNvPr id="11" name="Shape 9"/>
          <p:cNvSpPr/>
          <p:nvPr/>
        </p:nvSpPr>
        <p:spPr>
          <a:xfrm>
            <a:off x="5212080" y="2194560"/>
            <a:ext cx="0" cy="1463040"/>
          </a:xfrm>
          <a:prstGeom prst="line">
            <a:avLst/>
          </a:prstGeom>
          <a:noFill/>
          <a:ln w="12700">
            <a:solidFill>
              <a:srgbClr val="5F6B72"/>
            </a:solidFill>
            <a:prstDash val="solid"/>
          </a:ln>
        </p:spPr>
      </p:sp>
      <p:sp>
        <p:nvSpPr>
          <p:cNvPr id="12" name="Shape 10"/>
          <p:cNvSpPr/>
          <p:nvPr/>
        </p:nvSpPr>
        <p:spPr>
          <a:xfrm>
            <a:off x="5212080" y="2194560"/>
            <a:ext cx="128016" cy="0"/>
          </a:xfrm>
          <a:prstGeom prst="line">
            <a:avLst/>
          </a:prstGeom>
          <a:noFill/>
          <a:ln w="12700">
            <a:solidFill>
              <a:srgbClr val="5F6B72"/>
            </a:solidFill>
            <a:prstDash val="solid"/>
            <a:tailEnd type="triangle"/>
          </a:ln>
        </p:spPr>
      </p:sp>
      <p:sp>
        <p:nvSpPr>
          <p:cNvPr id="13" name="Shape 11"/>
          <p:cNvSpPr/>
          <p:nvPr/>
        </p:nvSpPr>
        <p:spPr>
          <a:xfrm>
            <a:off x="5340096" y="1920240"/>
            <a:ext cx="1874520" cy="548640"/>
          </a:xfrm>
          <a:prstGeom prst="roundRect">
            <a:avLst>
              <a:gd name="adj" fmla="val 10000"/>
            </a:avLst>
          </a:prstGeom>
          <a:solidFill>
            <a:srgbClr val="FFFFFF"/>
          </a:solidFill>
          <a:ln w="12700">
            <a:solidFill>
              <a:srgbClr val="DDE3E6"/>
            </a:solidFill>
            <a:prstDash val="solid"/>
          </a:ln>
        </p:spPr>
      </p:sp>
      <p:sp>
        <p:nvSpPr>
          <p:cNvPr id="14" name="Text 12"/>
          <p:cNvSpPr txBox="1"/>
          <p:nvPr/>
        </p:nvSpPr>
        <p:spPr>
          <a:xfrm>
            <a:off x="5340096" y="192024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A</a:t>
            </a:r>
            <a:endParaRPr lang="en-US" sz="1250" dirty="0"/>
          </a:p>
        </p:txBody>
      </p:sp>
      <p:sp>
        <p:nvSpPr>
          <p:cNvPr id="15" name="Shape 13"/>
          <p:cNvSpPr/>
          <p:nvPr/>
        </p:nvSpPr>
        <p:spPr>
          <a:xfrm>
            <a:off x="5212080" y="2926080"/>
            <a:ext cx="128016" cy="0"/>
          </a:xfrm>
          <a:prstGeom prst="line">
            <a:avLst/>
          </a:prstGeom>
          <a:noFill/>
          <a:ln w="12700">
            <a:solidFill>
              <a:srgbClr val="5F6B72"/>
            </a:solidFill>
            <a:prstDash val="solid"/>
            <a:tailEnd type="triangle"/>
          </a:ln>
        </p:spPr>
      </p:sp>
      <p:sp>
        <p:nvSpPr>
          <p:cNvPr id="16" name="Shape 14"/>
          <p:cNvSpPr/>
          <p:nvPr/>
        </p:nvSpPr>
        <p:spPr>
          <a:xfrm>
            <a:off x="5340096" y="2651760"/>
            <a:ext cx="1874520" cy="548640"/>
          </a:xfrm>
          <a:prstGeom prst="roundRect">
            <a:avLst>
              <a:gd name="adj" fmla="val 10000"/>
            </a:avLst>
          </a:prstGeom>
          <a:solidFill>
            <a:srgbClr val="FFFFFF"/>
          </a:solidFill>
          <a:ln w="12700">
            <a:solidFill>
              <a:srgbClr val="DDE3E6"/>
            </a:solidFill>
            <a:prstDash val="solid"/>
          </a:ln>
        </p:spPr>
      </p:sp>
      <p:sp>
        <p:nvSpPr>
          <p:cNvPr id="17" name="Text 15"/>
          <p:cNvSpPr txBox="1"/>
          <p:nvPr/>
        </p:nvSpPr>
        <p:spPr>
          <a:xfrm>
            <a:off x="5340096" y="2651760"/>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B</a:t>
            </a:r>
            <a:endParaRPr lang="en-US" sz="1250" dirty="0"/>
          </a:p>
        </p:txBody>
      </p:sp>
      <p:sp>
        <p:nvSpPr>
          <p:cNvPr id="18" name="Shape 16"/>
          <p:cNvSpPr/>
          <p:nvPr/>
        </p:nvSpPr>
        <p:spPr>
          <a:xfrm>
            <a:off x="5212080" y="3657600"/>
            <a:ext cx="128016" cy="0"/>
          </a:xfrm>
          <a:prstGeom prst="line">
            <a:avLst/>
          </a:prstGeom>
          <a:noFill/>
          <a:ln w="12700">
            <a:solidFill>
              <a:srgbClr val="5F6B72"/>
            </a:solidFill>
            <a:prstDash val="solid"/>
            <a:tailEnd type="triangle"/>
          </a:ln>
        </p:spPr>
      </p:sp>
      <p:sp>
        <p:nvSpPr>
          <p:cNvPr id="19" name="Shape 17"/>
          <p:cNvSpPr/>
          <p:nvPr/>
        </p:nvSpPr>
        <p:spPr>
          <a:xfrm>
            <a:off x="5340096" y="3383280"/>
            <a:ext cx="1874520" cy="548640"/>
          </a:xfrm>
          <a:prstGeom prst="roundRect">
            <a:avLst>
              <a:gd name="adj" fmla="val 10000"/>
            </a:avLst>
          </a:prstGeom>
          <a:solidFill>
            <a:srgbClr val="10394A"/>
          </a:solidFill>
          <a:ln w="12700">
            <a:solidFill>
              <a:srgbClr val="10394A"/>
            </a:solidFill>
            <a:prstDash val="solid"/>
          </a:ln>
        </p:spPr>
      </p:sp>
      <p:sp>
        <p:nvSpPr>
          <p:cNvPr id="20" name="Text 18"/>
          <p:cNvSpPr txBox="1"/>
          <p:nvPr/>
        </p:nvSpPr>
        <p:spPr>
          <a:xfrm>
            <a:off x="5340096" y="3383280"/>
            <a:ext cx="18745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Versión C</a:t>
            </a:r>
            <a:endParaRPr lang="en-US" sz="1250" dirty="0"/>
          </a:p>
        </p:txBody>
      </p:sp>
      <p:sp>
        <p:nvSpPr>
          <p:cNvPr id="21" name="Shape 19"/>
          <p:cNvSpPr/>
          <p:nvPr/>
        </p:nvSpPr>
        <p:spPr>
          <a:xfrm>
            <a:off x="7278624" y="2194560"/>
            <a:ext cx="374904" cy="0"/>
          </a:xfrm>
          <a:prstGeom prst="line">
            <a:avLst/>
          </a:prstGeom>
          <a:noFill/>
          <a:ln w="12700">
            <a:solidFill>
              <a:srgbClr val="5F6B72"/>
            </a:solidFill>
            <a:prstDash val="solid"/>
            <a:tailEnd type="triangle"/>
          </a:ln>
        </p:spPr>
      </p:sp>
      <p:sp>
        <p:nvSpPr>
          <p:cNvPr id="22" name="Shape 20"/>
          <p:cNvSpPr/>
          <p:nvPr/>
        </p:nvSpPr>
        <p:spPr>
          <a:xfrm>
            <a:off x="7278624" y="2926080"/>
            <a:ext cx="374904" cy="0"/>
          </a:xfrm>
          <a:prstGeom prst="line">
            <a:avLst/>
          </a:prstGeom>
          <a:noFill/>
          <a:ln w="12700">
            <a:solidFill>
              <a:srgbClr val="5F6B72"/>
            </a:solidFill>
            <a:prstDash val="solid"/>
            <a:tailEnd type="triangle"/>
          </a:ln>
        </p:spPr>
      </p:sp>
      <p:sp>
        <p:nvSpPr>
          <p:cNvPr id="23" name="Shape 21"/>
          <p:cNvSpPr/>
          <p:nvPr/>
        </p:nvSpPr>
        <p:spPr>
          <a:xfrm>
            <a:off x="7278624" y="3657600"/>
            <a:ext cx="374904" cy="0"/>
          </a:xfrm>
          <a:prstGeom prst="line">
            <a:avLst/>
          </a:prstGeom>
          <a:noFill/>
          <a:ln w="12700">
            <a:solidFill>
              <a:srgbClr val="5F6B72"/>
            </a:solidFill>
            <a:prstDash val="solid"/>
            <a:tailEnd type="triangle"/>
          </a:ln>
        </p:spPr>
      </p:sp>
      <p:sp>
        <p:nvSpPr>
          <p:cNvPr id="24" name="Shape 22"/>
          <p:cNvSpPr/>
          <p:nvPr/>
        </p:nvSpPr>
        <p:spPr>
          <a:xfrm>
            <a:off x="7653528" y="2194560"/>
            <a:ext cx="0" cy="1463040"/>
          </a:xfrm>
          <a:prstGeom prst="line">
            <a:avLst/>
          </a:prstGeom>
          <a:noFill/>
          <a:ln w="12700">
            <a:solidFill>
              <a:srgbClr val="5F6B72"/>
            </a:solidFill>
            <a:prstDash val="solid"/>
          </a:ln>
        </p:spPr>
      </p:sp>
      <p:sp>
        <p:nvSpPr>
          <p:cNvPr id="25" name="Shape 23"/>
          <p:cNvSpPr/>
          <p:nvPr/>
        </p:nvSpPr>
        <p:spPr>
          <a:xfrm>
            <a:off x="7653528" y="2926080"/>
            <a:ext cx="128016" cy="0"/>
          </a:xfrm>
          <a:prstGeom prst="line">
            <a:avLst/>
          </a:prstGeom>
          <a:noFill/>
          <a:ln w="12700">
            <a:solidFill>
              <a:srgbClr val="5F6B72"/>
            </a:solidFill>
            <a:prstDash val="solid"/>
            <a:tailEnd type="triangle"/>
          </a:ln>
        </p:spPr>
      </p:sp>
      <p:sp>
        <p:nvSpPr>
          <p:cNvPr id="26" name="Shape 24"/>
          <p:cNvSpPr/>
          <p:nvPr/>
        </p:nvSpPr>
        <p:spPr>
          <a:xfrm>
            <a:off x="7781544" y="2468880"/>
            <a:ext cx="2057400" cy="914400"/>
          </a:xfrm>
          <a:prstGeom prst="roundRect">
            <a:avLst>
              <a:gd name="adj" fmla="val 6000"/>
            </a:avLst>
          </a:prstGeom>
          <a:solidFill>
            <a:srgbClr val="FFFFFF"/>
          </a:solidFill>
          <a:ln w="12700">
            <a:solidFill>
              <a:srgbClr val="DDE3E6"/>
            </a:solidFill>
            <a:prstDash val="solid"/>
          </a:ln>
        </p:spPr>
      </p:sp>
      <p:sp>
        <p:nvSpPr>
          <p:cNvPr id="27" name="Text 25"/>
          <p:cNvSpPr txBox="1"/>
          <p:nvPr/>
        </p:nvSpPr>
        <p:spPr>
          <a:xfrm>
            <a:off x="7781544" y="2523744"/>
            <a:ext cx="20574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Diferencia entre dos versiones</a:t>
            </a:r>
            <a:endParaRPr lang="en-US" sz="1250" dirty="0"/>
          </a:p>
        </p:txBody>
      </p:sp>
      <p:sp>
        <p:nvSpPr>
          <p:cNvPr id="28" name="Text 26"/>
          <p:cNvSpPr txBox="1"/>
          <p:nvPr/>
        </p:nvSpPr>
        <p:spPr>
          <a:xfrm>
            <a:off x="7836408" y="2944368"/>
            <a:ext cx="19476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sobre la misma semana, en euros</a:t>
            </a:r>
            <a:endParaRPr lang="en-US" sz="950" dirty="0"/>
          </a:p>
        </p:txBody>
      </p:sp>
      <p:sp>
        <p:nvSpPr>
          <p:cNvPr id="29" name="Text 27"/>
          <p:cNvSpPr txBox="1"/>
          <p:nvPr/>
        </p:nvSpPr>
        <p:spPr>
          <a:xfrm>
            <a:off x="10113264" y="2450592"/>
            <a:ext cx="1575511" cy="566928"/>
          </a:xfrm>
          <a:prstGeom prst="rect">
            <a:avLst/>
          </a:prstGeom>
          <a:noFill/>
          <a:ln/>
        </p:spPr>
        <p:txBody>
          <a:bodyPr wrap="square" lIns="0" tIns="0" rIns="0" bIns="0" rtlCol="0" anchor="ctr"/>
          <a:lstStyle/>
          <a:p>
            <a:pPr algn="l" indent="0" marL="0">
              <a:buNone/>
            </a:pPr>
            <a:r>
              <a:rPr lang="en-US" sz="3000" b="1" dirty="0">
                <a:solidFill>
                  <a:srgbClr val="C8861E"/>
                </a:solidFill>
                <a:latin typeface="Cambria" pitchFamily="34" charset="0"/>
                <a:ea typeface="Cambria" pitchFamily="34" charset="-122"/>
                <a:cs typeface="Cambria" pitchFamily="34" charset="-120"/>
              </a:rPr>
              <a:t>× 20</a:t>
            </a:r>
            <a:endParaRPr lang="en-US" sz="3000" dirty="0"/>
          </a:p>
        </p:txBody>
      </p:sp>
      <p:sp>
        <p:nvSpPr>
          <p:cNvPr id="30" name="Text 28"/>
          <p:cNvSpPr txBox="1"/>
          <p:nvPr/>
        </p:nvSpPr>
        <p:spPr>
          <a:xfrm>
            <a:off x="10149840" y="2999232"/>
            <a:ext cx="1575511" cy="310896"/>
          </a:xfrm>
          <a:prstGeom prst="rect">
            <a:avLst/>
          </a:prstGeom>
          <a:noFill/>
          <a:ln/>
        </p:spPr>
        <p:txBody>
          <a:bodyPr wrap="square" lIns="0" tIns="0" rIns="0" bIns="0" rtlCol="0" anchor="ctr"/>
          <a:lstStyle/>
          <a:p>
            <a:pPr algn="l" indent="0" marL="0">
              <a:buNone/>
            </a:pPr>
            <a:r>
              <a:rPr lang="en-US" sz="1000" dirty="0">
                <a:solidFill>
                  <a:srgbClr val="5F6B72"/>
                </a:solidFill>
                <a:latin typeface="Calibri" pitchFamily="34" charset="0"/>
                <a:ea typeface="Calibri" pitchFamily="34" charset="-122"/>
                <a:cs typeface="Calibri" pitchFamily="34" charset="-120"/>
              </a:rPr>
              <a:t>4 escenarios × 5 semillas</a:t>
            </a:r>
            <a:endParaRPr lang="en-US" sz="1000" dirty="0"/>
          </a:p>
        </p:txBody>
      </p:sp>
      <p:sp>
        <p:nvSpPr>
          <p:cNvPr id="31" name="Text 29"/>
          <p:cNvSpPr txBox="1"/>
          <p:nvPr/>
        </p:nvSpPr>
        <p:spPr>
          <a:xfrm>
            <a:off x="502920" y="4096512"/>
            <a:ext cx="11185855" cy="310896"/>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La misma semilla corre en todas las versiones, así que el azar de la demanda se cancela en la resta: el contraste se hace sobre las 20 diferencias, no sobre dos promedios.</a:t>
            </a:r>
            <a:endParaRPr lang="en-US" sz="1150" dirty="0"/>
          </a:p>
        </p:txBody>
      </p:sp>
      <p:sp>
        <p:nvSpPr>
          <p:cNvPr id="32" name="Shape 30"/>
          <p:cNvSpPr/>
          <p:nvPr/>
        </p:nvSpPr>
        <p:spPr>
          <a:xfrm>
            <a:off x="502920" y="4590288"/>
            <a:ext cx="11185855" cy="0"/>
          </a:xfrm>
          <a:prstGeom prst="line">
            <a:avLst/>
          </a:prstGeom>
          <a:noFill/>
          <a:ln w="9525">
            <a:solidFill>
              <a:srgbClr val="DDE3E6"/>
            </a:solidFill>
            <a:prstDash val="solid"/>
          </a:ln>
        </p:spPr>
      </p:sp>
      <p:sp>
        <p:nvSpPr>
          <p:cNvPr id="33" name="Text 31"/>
          <p:cNvSpPr txBox="1"/>
          <p:nvPr/>
        </p:nvSpPr>
        <p:spPr>
          <a:xfrm>
            <a:off x="502920"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Comparar en pareja</a:t>
            </a:r>
            <a:endParaRPr lang="en-US" sz="1500" dirty="0"/>
          </a:p>
        </p:txBody>
      </p:sp>
      <p:sp>
        <p:nvSpPr>
          <p:cNvPr id="34" name="Text 32"/>
          <p:cNvSpPr txBox="1"/>
          <p:nvPr/>
        </p:nvSpPr>
        <p:spPr>
          <a:xfrm>
            <a:off x="502920"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Cada versión se mide contra otra sobre la misma semana, no contra un promedio</a:t>
            </a:r>
            <a:endParaRPr lang="en-US" sz="1200" dirty="0"/>
          </a:p>
        </p:txBody>
      </p:sp>
      <p:sp>
        <p:nvSpPr>
          <p:cNvPr id="35" name="Text 33"/>
          <p:cNvSpPr txBox="1"/>
          <p:nvPr/>
        </p:nvSpPr>
        <p:spPr>
          <a:xfrm>
            <a:off x="3377108"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Test de Wilcoxon</a:t>
            </a:r>
            <a:endParaRPr lang="en-US" sz="1500" dirty="0"/>
          </a:p>
        </p:txBody>
      </p:sp>
      <p:sp>
        <p:nvSpPr>
          <p:cNvPr id="36" name="Text 34"/>
          <p:cNvSpPr txBox="1"/>
          <p:nvPr/>
        </p:nvSpPr>
        <p:spPr>
          <a:xfrm>
            <a:off x="3377108"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Mira si las diferencias caen siempre del mismo lado, en vez de promediarlas</a:t>
            </a:r>
            <a:endParaRPr lang="en-US" sz="1200" dirty="0"/>
          </a:p>
        </p:txBody>
      </p:sp>
      <p:sp>
        <p:nvSpPr>
          <p:cNvPr id="37" name="Text 35"/>
          <p:cNvSpPr txBox="1"/>
          <p:nvPr/>
        </p:nvSpPr>
        <p:spPr>
          <a:xfrm>
            <a:off x="6251296"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Umbral de relevancia</a:t>
            </a:r>
            <a:endParaRPr lang="en-US" sz="1500" dirty="0"/>
          </a:p>
        </p:txBody>
      </p:sp>
      <p:sp>
        <p:nvSpPr>
          <p:cNvPr id="38" name="Text 36"/>
          <p:cNvSpPr txBox="1"/>
          <p:nvPr/>
        </p:nvSpPr>
        <p:spPr>
          <a:xfrm>
            <a:off x="6251296"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Por debajo de 9,33 €/semana lo doy por empate. Fijado antes de simular</a:t>
            </a:r>
            <a:endParaRPr lang="en-US" sz="1200" dirty="0"/>
          </a:p>
        </p:txBody>
      </p:sp>
      <p:sp>
        <p:nvSpPr>
          <p:cNvPr id="39" name="Text 37"/>
          <p:cNvSpPr txBox="1"/>
          <p:nvPr/>
        </p:nvSpPr>
        <p:spPr>
          <a:xfrm>
            <a:off x="9125483"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Oráculo</a:t>
            </a:r>
            <a:endParaRPr lang="en-US" sz="1500" dirty="0"/>
          </a:p>
        </p:txBody>
      </p:sp>
      <p:sp>
        <p:nvSpPr>
          <p:cNvPr id="40" name="Text 38"/>
          <p:cNvSpPr txBox="1"/>
          <p:nvPr/>
        </p:nvSpPr>
        <p:spPr>
          <a:xfrm>
            <a:off x="9125483"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misma tanda con previsión perfecta: marca el techo de lo alcanzable</a:t>
            </a:r>
            <a:endParaRPr lang="en-US" sz="1200" dirty="0"/>
          </a:p>
        </p:txBody>
      </p:sp>
      <p:sp>
        <p:nvSpPr>
          <p:cNvPr id="41" name="Text 3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A: la referencia ya es una heurística madura</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A · heurística de referencia, adaptada del TFM previo del grupo</a:t>
            </a:r>
            <a:endParaRPr lang="en-US" sz="1050" dirty="0"/>
          </a:p>
        </p:txBody>
      </p:sp>
      <p:sp>
        <p:nvSpPr>
          <p:cNvPr id="5" name="Text 3"/>
          <p:cNvSpPr txBox="1"/>
          <p:nvPr/>
        </p:nvSpPr>
        <p:spPr>
          <a:xfrm>
            <a:off x="502920" y="20391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Reparto dinámico por estado de carga</a:t>
            </a:r>
            <a:endParaRPr lang="en-US" sz="1600" dirty="0"/>
          </a:p>
        </p:txBody>
      </p:sp>
      <p:sp>
        <p:nvSpPr>
          <p:cNvPr id="6" name="Text 4"/>
          <p:cNvSpPr txBox="1"/>
          <p:nvPr/>
        </p:nvSpPr>
        <p:spPr>
          <a:xfrm>
            <a:off x="5166360" y="20391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80/20, 60/40 y 30/70 entre batería y electrolizador según el SOC</a:t>
            </a:r>
            <a:endParaRPr lang="en-US" sz="1350" dirty="0"/>
          </a:p>
        </p:txBody>
      </p:sp>
      <p:sp>
        <p:nvSpPr>
          <p:cNvPr id="7" name="Shape 5"/>
          <p:cNvSpPr/>
          <p:nvPr/>
        </p:nvSpPr>
        <p:spPr>
          <a:xfrm>
            <a:off x="502920" y="2752344"/>
            <a:ext cx="11185855" cy="0"/>
          </a:xfrm>
          <a:prstGeom prst="line">
            <a:avLst/>
          </a:prstGeom>
          <a:noFill/>
          <a:ln w="9525">
            <a:solidFill>
              <a:srgbClr val="DDE3E6"/>
            </a:solidFill>
            <a:prstDash val="solid"/>
          </a:ln>
        </p:spPr>
      </p:sp>
      <p:sp>
        <p:nvSpPr>
          <p:cNvPr id="8" name="Text 6"/>
          <p:cNvSpPr txBox="1"/>
          <p:nvPr/>
        </p:nvSpPr>
        <p:spPr>
          <a:xfrm>
            <a:off x="502920" y="29535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Tiempo mínimo de funcionamiento</a:t>
            </a:r>
            <a:endParaRPr lang="en-US" sz="1600" dirty="0"/>
          </a:p>
        </p:txBody>
      </p:sp>
      <p:sp>
        <p:nvSpPr>
          <p:cNvPr id="9" name="Text 7"/>
          <p:cNvSpPr txBox="1"/>
          <p:nvPr/>
        </p:nvSpPr>
        <p:spPr>
          <a:xfrm>
            <a:off x="5166360" y="29535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2 h con histéresis y anti-rebote en electrolizador y pila</a:t>
            </a:r>
            <a:endParaRPr lang="en-US" sz="1350" dirty="0"/>
          </a:p>
        </p:txBody>
      </p:sp>
      <p:sp>
        <p:nvSpPr>
          <p:cNvPr id="10" name="Shape 8"/>
          <p:cNvSpPr/>
          <p:nvPr/>
        </p:nvSpPr>
        <p:spPr>
          <a:xfrm>
            <a:off x="502920" y="3666744"/>
            <a:ext cx="11185855" cy="0"/>
          </a:xfrm>
          <a:prstGeom prst="line">
            <a:avLst/>
          </a:prstGeom>
          <a:noFill/>
          <a:ln w="9525">
            <a:solidFill>
              <a:srgbClr val="DDE3E6"/>
            </a:solidFill>
            <a:prstDash val="solid"/>
          </a:ln>
        </p:spPr>
      </p:sp>
      <p:sp>
        <p:nvSpPr>
          <p:cNvPr id="11" name="Text 9"/>
          <p:cNvSpPr txBox="1"/>
          <p:nvPr/>
        </p:nvSpPr>
        <p:spPr>
          <a:xfrm>
            <a:off x="502920" y="38679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Gestión de las dos presiones</a:t>
            </a:r>
            <a:endParaRPr lang="en-US" sz="1600" dirty="0"/>
          </a:p>
        </p:txBody>
      </p:sp>
      <p:sp>
        <p:nvSpPr>
          <p:cNvPr id="12" name="Text 10"/>
          <p:cNvSpPr txBox="1"/>
          <p:nvPr/>
        </p:nvSpPr>
        <p:spPr>
          <a:xfrm>
            <a:off x="5166360" y="38679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Tanque pulmón, compresor y tanque surtidor con sus umbrales</a:t>
            </a:r>
            <a:endParaRPr lang="en-US" sz="1350" dirty="0"/>
          </a:p>
        </p:txBody>
      </p:sp>
      <p:sp>
        <p:nvSpPr>
          <p:cNvPr id="13" name="Shape 11"/>
          <p:cNvSpPr/>
          <p:nvPr/>
        </p:nvSpPr>
        <p:spPr>
          <a:xfrm>
            <a:off x="502920" y="4581144"/>
            <a:ext cx="11185855" cy="0"/>
          </a:xfrm>
          <a:prstGeom prst="line">
            <a:avLst/>
          </a:prstGeom>
          <a:noFill/>
          <a:ln w="9525">
            <a:solidFill>
              <a:srgbClr val="DDE3E6"/>
            </a:solidFill>
            <a:prstDash val="solid"/>
          </a:ln>
        </p:spPr>
      </p:sp>
      <p:sp>
        <p:nvSpPr>
          <p:cNvPr id="14" name="Text 12"/>
          <p:cNvSpPr txBox="1"/>
          <p:nvPr/>
        </p:nvSpPr>
        <p:spPr>
          <a:xfrm>
            <a:off x="502920" y="47823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Decisión económica de producir</a:t>
            </a:r>
            <a:endParaRPr lang="en-US" sz="1600" dirty="0"/>
          </a:p>
        </p:txBody>
      </p:sp>
      <p:sp>
        <p:nvSpPr>
          <p:cNvPr id="15" name="Text 13"/>
          <p:cNvSpPr txBox="1"/>
          <p:nvPr/>
        </p:nvSpPr>
        <p:spPr>
          <a:xfrm>
            <a:off x="5166360" y="47823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Compara el coste del kilogramo producido con su precio de reposición</a:t>
            </a:r>
            <a:endParaRPr lang="en-US" sz="1350" dirty="0"/>
          </a:p>
        </p:txBody>
      </p:sp>
      <p:sp>
        <p:nvSpPr>
          <p:cNvPr id="16" name="Shape 14"/>
          <p:cNvSpPr/>
          <p:nvPr/>
        </p:nvSpPr>
        <p:spPr>
          <a:xfrm>
            <a:off x="502920" y="5532120"/>
            <a:ext cx="11185855" cy="566928"/>
          </a:xfrm>
          <a:prstGeom prst="roundRect">
            <a:avLst>
              <a:gd name="adj" fmla="val 9677"/>
            </a:avLst>
          </a:prstGeom>
          <a:solidFill>
            <a:srgbClr val="10394A"/>
          </a:solidFill>
          <a:ln/>
        </p:spPr>
      </p:sp>
      <p:sp>
        <p:nvSpPr>
          <p:cNvPr id="17" name="Text 15"/>
          <p:cNvSpPr txBox="1"/>
          <p:nvPr/>
        </p:nvSpPr>
        <p:spPr>
          <a:xfrm>
            <a:off x="777240" y="555040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No es una regla ingenua construida para perder: es el punto de partida contra el que hay que medirse.</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B: la previsión mejora sistemáticamente el servicio de hidrógeno</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B · las dos previsiones inyectadas en las reglas de A</a:t>
            </a:r>
            <a:endParaRPr lang="en-US" sz="1050" dirty="0"/>
          </a:p>
        </p:txBody>
      </p:sp>
      <p:sp>
        <p:nvSpPr>
          <p:cNvPr id="5" name="Text 3"/>
          <p:cNvSpPr txBox="1"/>
          <p:nvPr/>
        </p:nvSpPr>
        <p:spPr>
          <a:xfrm>
            <a:off x="502920" y="1947672"/>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solar desplaza el reparto cuando anticipa una caída del excedente</a:t>
            </a:r>
            <a:endParaRPr lang="en-US" sz="1350" dirty="0"/>
          </a:p>
        </p:txBody>
      </p:sp>
      <p:sp>
        <p:nvSpPr>
          <p:cNvPr id="6" name="Text 4"/>
          <p:cNvSpPr txBox="1"/>
          <p:nvPr/>
        </p:nvSpPr>
        <p:spPr>
          <a:xfrm>
            <a:off x="502920" y="2276856"/>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de precio gobierna un arbitraje de batería dimensionado por margen económico</a:t>
            </a:r>
            <a:endParaRPr lang="en-US" sz="1350" dirty="0"/>
          </a:p>
        </p:txBody>
      </p:sp>
      <p:sp>
        <p:nvSpPr>
          <p:cNvPr id="7" name="Text 5"/>
          <p:cNvSpPr txBox="1"/>
          <p:nvPr/>
        </p:nvSpPr>
        <p:spPr>
          <a:xfrm>
            <a:off x="502920"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39 / 40</a:t>
            </a:r>
            <a:endParaRPr lang="en-US" sz="3800" dirty="0"/>
          </a:p>
        </p:txBody>
      </p:sp>
      <p:sp>
        <p:nvSpPr>
          <p:cNvPr id="8" name="Text 6"/>
          <p:cNvSpPr txBox="1"/>
          <p:nvPr/>
        </p:nvSpPr>
        <p:spPr>
          <a:xfrm>
            <a:off x="502920"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pares con el tanque de alta más lleno que la heurística</a:t>
            </a:r>
            <a:endParaRPr lang="en-US" sz="1200" dirty="0"/>
          </a:p>
        </p:txBody>
      </p:sp>
      <p:sp>
        <p:nvSpPr>
          <p:cNvPr id="9" name="Text 7"/>
          <p:cNvSpPr txBox="1"/>
          <p:nvPr/>
        </p:nvSpPr>
        <p:spPr>
          <a:xfrm>
            <a:off x="4322978"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10</a:t>
            </a:r>
            <a:endParaRPr lang="en-US" sz="3800" dirty="0"/>
          </a:p>
        </p:txBody>
      </p:sp>
      <p:sp>
        <p:nvSpPr>
          <p:cNvPr id="10" name="Text 8"/>
          <p:cNvSpPr txBox="1"/>
          <p:nvPr/>
        </p:nvSpPr>
        <p:spPr>
          <a:xfrm>
            <a:off x="4322978"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escala la mejora al pasar de la previsión real a la perfecta</a:t>
            </a:r>
            <a:endParaRPr lang="en-US" sz="1200" dirty="0"/>
          </a:p>
        </p:txBody>
      </p:sp>
      <p:sp>
        <p:nvSpPr>
          <p:cNvPr id="11" name="Text 9"/>
          <p:cNvSpPr txBox="1"/>
          <p:nvPr/>
        </p:nvSpPr>
        <p:spPr>
          <a:xfrm>
            <a:off x="8143037"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− 18,9 pts</a:t>
            </a:r>
            <a:endParaRPr lang="en-US" sz="3800" dirty="0"/>
          </a:p>
        </p:txBody>
      </p:sp>
      <p:sp>
        <p:nvSpPr>
          <p:cNvPr id="12" name="Text 10"/>
          <p:cNvSpPr txBox="1"/>
          <p:nvPr/>
        </p:nvSpPr>
        <p:spPr>
          <a:xfrm>
            <a:off x="8143037"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tiempo en nivel crítico con oráculo, en el día nublado</a:t>
            </a:r>
            <a:endParaRPr lang="en-US" sz="1200" dirty="0"/>
          </a:p>
        </p:txBody>
      </p:sp>
      <p:sp>
        <p:nvSpPr>
          <p:cNvPr id="13" name="Text 11"/>
          <p:cNvSpPr txBox="1"/>
          <p:nvPr/>
        </p:nvSpPr>
        <p:spPr>
          <a:xfrm>
            <a:off x="502920" y="4434840"/>
            <a:ext cx="11185855" cy="411480"/>
          </a:xfrm>
          <a:prstGeom prst="rect">
            <a:avLst/>
          </a:prstGeom>
          <a:noFill/>
          <a:ln/>
        </p:spPr>
        <p:txBody>
          <a:bodyPr wrap="square" lIns="0" tIns="0" rIns="0" bIns="0" rtlCol="0" anchor="ctr"/>
          <a:lstStyle/>
          <a:p>
            <a:pPr indent="0" marL="0">
              <a:buNone/>
            </a:pPr>
            <a:r>
              <a:rPr lang="en-US" sz="1200" i="1" dirty="0">
                <a:solidFill>
                  <a:srgbClr val="5F6B72"/>
                </a:solidFill>
                <a:latin typeface="Calibri" pitchFamily="34" charset="0"/>
                <a:ea typeface="Calibri" pitchFamily="34" charset="-122"/>
                <a:cs typeface="Calibri" pitchFamily="34" charset="-120"/>
              </a:rPr>
              <a:t>En coste empata con la heurística: −0,13 €/día sobre un recibo diario de ≈45 €, no significativo, y tampoco gana con previsión perfecta.</a:t>
            </a:r>
            <a:endParaRPr lang="en-US" sz="1200" dirty="0"/>
          </a:p>
        </p:txBody>
      </p:sp>
      <p:sp>
        <p:nvSpPr>
          <p:cNvPr id="14" name="Shape 12"/>
          <p:cNvSpPr/>
          <p:nvPr/>
        </p:nvSpPr>
        <p:spPr>
          <a:xfrm>
            <a:off x="502920" y="5029200"/>
            <a:ext cx="11185855" cy="841248"/>
          </a:xfrm>
          <a:prstGeom prst="roundRect">
            <a:avLst>
              <a:gd name="adj" fmla="val 6522"/>
            </a:avLst>
          </a:prstGeom>
          <a:solidFill>
            <a:srgbClr val="10394A"/>
          </a:solidFill>
          <a:ln/>
        </p:spPr>
      </p:sp>
      <p:sp>
        <p:nvSpPr>
          <p:cNvPr id="15" name="Text 13"/>
          <p:cNvSpPr txBox="1"/>
          <p:nvPr/>
        </p:nvSpPr>
        <p:spPr>
          <a:xfrm>
            <a:off x="777240" y="5047488"/>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De ese empate sale la regla de diseño que se aplica después: la acción disparada por una previsión debe estar condicionada, y su magnitud salir del margen económico disponible, no de una constante.</a:t>
            </a:r>
            <a:endParaRPr lang="en-US" sz="135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batería estaba al 85 % mientras el electrolizador compraba red</a:t>
            </a:r>
            <a:endParaRPr lang="en-US" sz="2600" dirty="0"/>
          </a:p>
        </p:txBody>
      </p:sp>
      <p:pic>
        <p:nvPicPr>
          <p:cNvPr id="4" name="Image 0" descr="img/fig_res_destino_import.png">    </p:cNvPr>
          <p:cNvPicPr>
            <a:picLocks noChangeAspect="1"/>
          </p:cNvPicPr>
          <p:nvPr/>
        </p:nvPicPr>
        <p:blipFill>
          <a:blip r:embed="rId1"/>
          <a:stretch>
            <a:fillRect/>
          </a:stretch>
        </p:blipFill>
        <p:spPr>
          <a:xfrm>
            <a:off x="502920" y="1755291"/>
            <a:ext cx="6035040" cy="3448003"/>
          </a:xfrm>
          <a:prstGeom prst="rect">
            <a:avLst/>
          </a:prstGeom>
        </p:spPr>
      </p:pic>
      <p:sp>
        <p:nvSpPr>
          <p:cNvPr id="5" name="Text 2"/>
          <p:cNvSpPr txBox="1"/>
          <p:nvPr/>
        </p:nvSpPr>
        <p:spPr>
          <a:xfrm>
            <a:off x="6858000" y="16276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76 %</a:t>
            </a:r>
            <a:endParaRPr lang="en-US" sz="3200" dirty="0"/>
          </a:p>
        </p:txBody>
      </p:sp>
      <p:sp>
        <p:nvSpPr>
          <p:cNvPr id="6" name="Text 3"/>
          <p:cNvSpPr txBox="1"/>
          <p:nvPr/>
        </p:nvSpPr>
        <p:spPr>
          <a:xfrm>
            <a:off x="6858000" y="21762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la importación semanal va al electrolizador: 1 006 de 1 321 kWh</a:t>
            </a:r>
            <a:endParaRPr lang="en-US" sz="1200" dirty="0"/>
          </a:p>
        </p:txBody>
      </p:sp>
      <p:sp>
        <p:nvSpPr>
          <p:cNvPr id="7" name="Text 4"/>
          <p:cNvSpPr txBox="1"/>
          <p:nvPr/>
        </p:nvSpPr>
        <p:spPr>
          <a:xfrm>
            <a:off x="6858000" y="29992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121,5 €/MWh</a:t>
            </a:r>
            <a:endParaRPr lang="en-US" sz="3200" dirty="0"/>
          </a:p>
        </p:txBody>
      </p:sp>
      <p:sp>
        <p:nvSpPr>
          <p:cNvPr id="8" name="Text 5"/>
          <p:cNvSpPr txBox="1"/>
          <p:nvPr/>
        </p:nvSpPr>
        <p:spPr>
          <a:xfrm>
            <a:off x="6858000" y="35478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precio ponderado al que compra esa energía</a:t>
            </a:r>
            <a:endParaRPr lang="en-US" sz="1200" dirty="0"/>
          </a:p>
        </p:txBody>
      </p:sp>
      <p:sp>
        <p:nvSpPr>
          <p:cNvPr id="9" name="Text 6"/>
          <p:cNvSpPr txBox="1"/>
          <p:nvPr/>
        </p:nvSpPr>
        <p:spPr>
          <a:xfrm>
            <a:off x="6858000" y="43708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85 %</a:t>
            </a:r>
            <a:endParaRPr lang="en-US" sz="3200" dirty="0"/>
          </a:p>
        </p:txBody>
      </p:sp>
      <p:sp>
        <p:nvSpPr>
          <p:cNvPr id="10" name="Text 7"/>
          <p:cNvSpPr txBox="1"/>
          <p:nvPr/>
        </p:nvSpPr>
        <p:spPr>
          <a:xfrm>
            <a:off x="6858000" y="49194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estado de carga medio de la batería en esos mismos instantes; nunca baja del 69 %</a:t>
            </a:r>
            <a:endParaRPr lang="en-US" sz="1200" dirty="0"/>
          </a:p>
        </p:txBody>
      </p:sp>
      <p:sp>
        <p:nvSpPr>
          <p:cNvPr id="11" name="Shape 8"/>
          <p:cNvSpPr/>
          <p:nvPr/>
        </p:nvSpPr>
        <p:spPr>
          <a:xfrm>
            <a:off x="502920" y="5623560"/>
            <a:ext cx="11185855" cy="566928"/>
          </a:xfrm>
          <a:prstGeom prst="roundRect">
            <a:avLst>
              <a:gd name="adj" fmla="val 9677"/>
            </a:avLst>
          </a:prstGeom>
          <a:solidFill>
            <a:srgbClr val="10394A"/>
          </a:solidFill>
          <a:ln/>
        </p:spPr>
      </p:sp>
      <p:sp>
        <p:nvSpPr>
          <p:cNvPr id="12"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En esa misma semana la estación exporta 14 012 kWh a 39,3 €/MWh: vende diez veces más energía de la que compra, y la compra tres veces más cara.</a:t>
            </a:r>
            <a:endParaRPr lang="en-US" sz="1350" dirty="0"/>
          </a:p>
        </p:txBody>
      </p:sp>
      <p:sp>
        <p:nvSpPr>
          <p:cNvPr id="13"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separar de dónde sale la energía de cuándo conviene producir</a:t>
            </a:r>
            <a:endParaRPr lang="en-US" sz="2600" dirty="0"/>
          </a:p>
        </p:txBody>
      </p:sp>
      <p:sp>
        <p:nvSpPr>
          <p:cNvPr id="4" name="Text 2"/>
          <p:cNvSpPr txBox="1"/>
          <p:nvPr/>
        </p:nvSpPr>
        <p:spPr>
          <a:xfrm>
            <a:off x="502920" y="1517904"/>
            <a:ext cx="11185855" cy="256032"/>
          </a:xfrm>
          <a:prstGeom prst="rect">
            <a:avLst/>
          </a:prstGeom>
          <a:noFill/>
          <a:ln/>
        </p:spPr>
        <p:txBody>
          <a:bodyPr wrap="square" lIns="0" tIns="0" rIns="0" bIns="0" rtlCol="0" anchor="ctr"/>
          <a:lstStyle/>
          <a:p>
            <a:pPr indent="0" marL="0">
              <a:buNone/>
            </a:pPr>
            <a:r>
              <a:rPr lang="en-US" sz="1050" b="1" spc="130" kern="0" dirty="0">
                <a:solidFill>
                  <a:srgbClr val="C8861E"/>
                </a:solidFill>
                <a:latin typeface="Calibri" pitchFamily="34" charset="0"/>
                <a:ea typeface="Calibri" pitchFamily="34" charset="-122"/>
                <a:cs typeface="Calibri" pitchFamily="34" charset="-120"/>
              </a:rPr>
              <a:t>La lógica común, en cuatro pasos · la Versión C sustituye dos de ellos</a:t>
            </a:r>
            <a:endParaRPr lang="en-US" sz="1050" dirty="0"/>
          </a:p>
        </p:txBody>
      </p:sp>
      <p:sp>
        <p:nvSpPr>
          <p:cNvPr id="5" name="Shape 3"/>
          <p:cNvSpPr/>
          <p:nvPr/>
        </p:nvSpPr>
        <p:spPr>
          <a:xfrm>
            <a:off x="502920" y="1901952"/>
            <a:ext cx="2631872" cy="1188720"/>
          </a:xfrm>
          <a:prstGeom prst="roundRect">
            <a:avLst>
              <a:gd name="adj" fmla="val 3846"/>
            </a:avLst>
          </a:prstGeom>
          <a:solidFill>
            <a:srgbClr val="F1F5F7"/>
          </a:solidFill>
          <a:ln w="12700">
            <a:solidFill>
              <a:srgbClr val="DDE3E6"/>
            </a:solidFill>
            <a:prstDash val="solid"/>
          </a:ln>
        </p:spPr>
      </p:sp>
      <p:sp>
        <p:nvSpPr>
          <p:cNvPr id="6" name="Text 4"/>
          <p:cNvSpPr txBox="1"/>
          <p:nvPr/>
        </p:nvSpPr>
        <p:spPr>
          <a:xfrm>
            <a:off x="667512"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1 · Balance</a:t>
            </a:r>
            <a:endParaRPr lang="en-US" sz="1300" dirty="0"/>
          </a:p>
        </p:txBody>
      </p:sp>
      <p:sp>
        <p:nvSpPr>
          <p:cNvPr id="7" name="Text 5"/>
          <p:cNvSpPr txBox="1"/>
          <p:nvPr/>
        </p:nvSpPr>
        <p:spPr>
          <a:xfrm>
            <a:off x="667512"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Excedente = fotovoltaica − carga</a:t>
            </a:r>
            <a:endParaRPr lang="en-US" sz="1100" dirty="0"/>
          </a:p>
        </p:txBody>
      </p:sp>
      <p:sp>
        <p:nvSpPr>
          <p:cNvPr id="8" name="Shape 6"/>
          <p:cNvSpPr/>
          <p:nvPr/>
        </p:nvSpPr>
        <p:spPr>
          <a:xfrm>
            <a:off x="3162224" y="2496312"/>
            <a:ext cx="164592" cy="0"/>
          </a:xfrm>
          <a:prstGeom prst="line">
            <a:avLst/>
          </a:prstGeom>
          <a:noFill/>
          <a:ln w="12700">
            <a:solidFill>
              <a:srgbClr val="5F6B72"/>
            </a:solidFill>
            <a:prstDash val="solid"/>
            <a:tailEnd type="triangle"/>
          </a:ln>
        </p:spPr>
      </p:sp>
      <p:sp>
        <p:nvSpPr>
          <p:cNvPr id="9" name="Shape 7"/>
          <p:cNvSpPr/>
          <p:nvPr/>
        </p:nvSpPr>
        <p:spPr>
          <a:xfrm>
            <a:off x="3354248" y="1901952"/>
            <a:ext cx="2631872" cy="1188720"/>
          </a:xfrm>
          <a:prstGeom prst="roundRect">
            <a:avLst>
              <a:gd name="adj" fmla="val 3846"/>
            </a:avLst>
          </a:prstGeom>
          <a:solidFill>
            <a:srgbClr val="F1F5F7"/>
          </a:solidFill>
          <a:ln w="12700">
            <a:solidFill>
              <a:srgbClr val="DDE3E6"/>
            </a:solidFill>
            <a:prstDash val="solid"/>
          </a:ln>
        </p:spPr>
      </p:sp>
      <p:sp>
        <p:nvSpPr>
          <p:cNvPr id="10" name="Text 8"/>
          <p:cNvSpPr txBox="1"/>
          <p:nvPr/>
        </p:nvSpPr>
        <p:spPr>
          <a:xfrm>
            <a:off x="3518840"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2 · Sobra energía</a:t>
            </a:r>
            <a:endParaRPr lang="en-US" sz="1300" dirty="0"/>
          </a:p>
        </p:txBody>
      </p:sp>
      <p:sp>
        <p:nvSpPr>
          <p:cNvPr id="11" name="Text 9"/>
          <p:cNvSpPr txBox="1"/>
          <p:nvPr/>
        </p:nvSpPr>
        <p:spPr>
          <a:xfrm>
            <a:off x="3518840"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Repartir entre batería y electrolizador según el estado de carga</a:t>
            </a:r>
            <a:endParaRPr lang="en-US" sz="1100" dirty="0"/>
          </a:p>
        </p:txBody>
      </p:sp>
      <p:sp>
        <p:nvSpPr>
          <p:cNvPr id="12" name="Shape 10"/>
          <p:cNvSpPr/>
          <p:nvPr/>
        </p:nvSpPr>
        <p:spPr>
          <a:xfrm>
            <a:off x="6013552" y="2496312"/>
            <a:ext cx="164592" cy="0"/>
          </a:xfrm>
          <a:prstGeom prst="line">
            <a:avLst/>
          </a:prstGeom>
          <a:noFill/>
          <a:ln w="12700">
            <a:solidFill>
              <a:srgbClr val="5F6B72"/>
            </a:solidFill>
            <a:prstDash val="solid"/>
            <a:tailEnd type="triangle"/>
          </a:ln>
        </p:spPr>
      </p:sp>
      <p:sp>
        <p:nvSpPr>
          <p:cNvPr id="13" name="Shape 11"/>
          <p:cNvSpPr/>
          <p:nvPr/>
        </p:nvSpPr>
        <p:spPr>
          <a:xfrm>
            <a:off x="6205576" y="1901952"/>
            <a:ext cx="2631872" cy="1188720"/>
          </a:xfrm>
          <a:prstGeom prst="roundRect">
            <a:avLst>
              <a:gd name="adj" fmla="val 3846"/>
            </a:avLst>
          </a:prstGeom>
          <a:solidFill>
            <a:srgbClr val="FFFFFF"/>
          </a:solidFill>
          <a:ln w="19050">
            <a:solidFill>
              <a:srgbClr val="C8861E"/>
            </a:solidFill>
            <a:prstDash val="solid"/>
          </a:ln>
        </p:spPr>
      </p:sp>
      <p:sp>
        <p:nvSpPr>
          <p:cNvPr id="14" name="Text 12"/>
          <p:cNvSpPr txBox="1"/>
          <p:nvPr/>
        </p:nvSpPr>
        <p:spPr>
          <a:xfrm>
            <a:off x="6370168"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3 · Falta energía</a:t>
            </a:r>
            <a:endParaRPr lang="en-US" sz="1300" dirty="0"/>
          </a:p>
        </p:txBody>
      </p:sp>
      <p:sp>
        <p:nvSpPr>
          <p:cNvPr id="15" name="Text 13"/>
          <p:cNvSpPr txBox="1"/>
          <p:nvPr/>
        </p:nvSpPr>
        <p:spPr>
          <a:xfrm>
            <a:off x="6370168"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Cubrir el déficit por orden: batería, pila, red</a:t>
            </a:r>
            <a:endParaRPr lang="en-US" sz="1100" dirty="0"/>
          </a:p>
        </p:txBody>
      </p:sp>
      <p:sp>
        <p:nvSpPr>
          <p:cNvPr id="16" name="Shape 14"/>
          <p:cNvSpPr/>
          <p:nvPr/>
        </p:nvSpPr>
        <p:spPr>
          <a:xfrm>
            <a:off x="8453399" y="1755648"/>
            <a:ext cx="310896" cy="310896"/>
          </a:xfrm>
          <a:prstGeom prst="ellipse">
            <a:avLst/>
          </a:prstGeom>
          <a:solidFill>
            <a:srgbClr val="C8861E"/>
          </a:solidFill>
          <a:ln/>
        </p:spPr>
      </p:sp>
      <p:sp>
        <p:nvSpPr>
          <p:cNvPr id="17" name="Text 15"/>
          <p:cNvSpPr txBox="1"/>
          <p:nvPr/>
        </p:nvSpPr>
        <p:spPr>
          <a:xfrm>
            <a:off x="8453399"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18" name="Shape 16"/>
          <p:cNvSpPr/>
          <p:nvPr/>
        </p:nvSpPr>
        <p:spPr>
          <a:xfrm>
            <a:off x="8864879" y="2496312"/>
            <a:ext cx="164592" cy="0"/>
          </a:xfrm>
          <a:prstGeom prst="line">
            <a:avLst/>
          </a:prstGeom>
          <a:noFill/>
          <a:ln w="12700">
            <a:solidFill>
              <a:srgbClr val="5F6B72"/>
            </a:solidFill>
            <a:prstDash val="solid"/>
            <a:tailEnd type="triangle"/>
          </a:ln>
        </p:spPr>
      </p:sp>
      <p:sp>
        <p:nvSpPr>
          <p:cNvPr id="19" name="Shape 17"/>
          <p:cNvSpPr/>
          <p:nvPr/>
        </p:nvSpPr>
        <p:spPr>
          <a:xfrm>
            <a:off x="9056903" y="1901952"/>
            <a:ext cx="2631872" cy="1188720"/>
          </a:xfrm>
          <a:prstGeom prst="roundRect">
            <a:avLst>
              <a:gd name="adj" fmla="val 3846"/>
            </a:avLst>
          </a:prstGeom>
          <a:solidFill>
            <a:srgbClr val="FFFFFF"/>
          </a:solidFill>
          <a:ln w="19050">
            <a:solidFill>
              <a:srgbClr val="C8861E"/>
            </a:solidFill>
            <a:prstDash val="solid"/>
          </a:ln>
        </p:spPr>
      </p:sp>
      <p:sp>
        <p:nvSpPr>
          <p:cNvPr id="20" name="Text 18"/>
          <p:cNvSpPr txBox="1"/>
          <p:nvPr/>
        </p:nvSpPr>
        <p:spPr>
          <a:xfrm>
            <a:off x="9221495" y="2029968"/>
            <a:ext cx="2302688" cy="292608"/>
          </a:xfrm>
          <a:prstGeom prst="rect">
            <a:avLst/>
          </a:prstGeom>
          <a:noFill/>
          <a:ln/>
        </p:spPr>
        <p:txBody>
          <a:bodyPr wrap="square" lIns="0" tIns="0" rIns="0" bIns="0" rtlCol="0" anchor="ctr"/>
          <a:lstStyle/>
          <a:p>
            <a:pPr indent="0" marL="0">
              <a:buNone/>
            </a:pPr>
            <a:r>
              <a:rPr lang="en-US" sz="1300" b="1" dirty="0">
                <a:solidFill>
                  <a:srgbClr val="10394A"/>
                </a:solidFill>
                <a:latin typeface="Calibri" pitchFamily="34" charset="0"/>
                <a:ea typeface="Calibri" pitchFamily="34" charset="-122"/>
                <a:cs typeface="Calibri" pitchFamily="34" charset="-120"/>
              </a:rPr>
              <a:t>4 · ¿Producir H₂?</a:t>
            </a:r>
            <a:endParaRPr lang="en-US" sz="1300" dirty="0"/>
          </a:p>
        </p:txBody>
      </p:sp>
      <p:sp>
        <p:nvSpPr>
          <p:cNvPr id="21" name="Text 19"/>
          <p:cNvSpPr txBox="1"/>
          <p:nvPr/>
        </p:nvSpPr>
        <p:spPr>
          <a:xfrm>
            <a:off x="9221495" y="2359152"/>
            <a:ext cx="2302688" cy="621792"/>
          </a:xfrm>
          <a:prstGeom prst="rect">
            <a:avLst/>
          </a:prstGeom>
          <a:noFill/>
          <a:ln/>
        </p:spPr>
        <p:txBody>
          <a:bodyPr wrap="square" lIns="0" tIns="0" rIns="0" bIns="0" rtlCol="0" anchor="t"/>
          <a:lstStyle/>
          <a:p>
            <a:pPr indent="0" marL="0">
              <a:lnSpc>
                <a:spcPct val="112000"/>
              </a:lnSpc>
              <a:buNone/>
            </a:pPr>
            <a:r>
              <a:rPr lang="en-US" sz="1100" dirty="0">
                <a:solidFill>
                  <a:srgbClr val="5F6B72"/>
                </a:solidFill>
                <a:latin typeface="Calibri" pitchFamily="34" charset="0"/>
                <a:ea typeface="Calibri" pitchFamily="34" charset="-122"/>
                <a:cs typeface="Calibri" pitchFamily="34" charset="-120"/>
              </a:rPr>
              <a:t>Comparar el coste de producirlo con su precio de reposición</a:t>
            </a:r>
            <a:endParaRPr lang="en-US" sz="1100" dirty="0"/>
          </a:p>
        </p:txBody>
      </p:sp>
      <p:sp>
        <p:nvSpPr>
          <p:cNvPr id="22" name="Shape 20"/>
          <p:cNvSpPr/>
          <p:nvPr/>
        </p:nvSpPr>
        <p:spPr>
          <a:xfrm>
            <a:off x="11304727" y="1755648"/>
            <a:ext cx="310896" cy="310896"/>
          </a:xfrm>
          <a:prstGeom prst="ellipse">
            <a:avLst/>
          </a:prstGeom>
          <a:solidFill>
            <a:srgbClr val="C8861E"/>
          </a:solidFill>
          <a:ln/>
        </p:spPr>
      </p:sp>
      <p:sp>
        <p:nvSpPr>
          <p:cNvPr id="23" name="Text 21"/>
          <p:cNvSpPr txBox="1"/>
          <p:nvPr/>
        </p:nvSpPr>
        <p:spPr>
          <a:xfrm>
            <a:off x="11304727" y="1755648"/>
            <a:ext cx="310896" cy="310896"/>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24" name="Shape 22"/>
          <p:cNvSpPr/>
          <p:nvPr/>
        </p:nvSpPr>
        <p:spPr>
          <a:xfrm>
            <a:off x="502920" y="3474720"/>
            <a:ext cx="5364328" cy="1755648"/>
          </a:xfrm>
          <a:prstGeom prst="roundRect">
            <a:avLst>
              <a:gd name="adj" fmla="val 2604"/>
            </a:avLst>
          </a:prstGeom>
          <a:solidFill>
            <a:srgbClr val="FFFFFF"/>
          </a:solidFill>
          <a:ln w="12700">
            <a:solidFill>
              <a:srgbClr val="DDE3E6"/>
            </a:solidFill>
            <a:prstDash val="solid"/>
          </a:ln>
        </p:spPr>
      </p:sp>
      <p:sp>
        <p:nvSpPr>
          <p:cNvPr id="25" name="Shape 23"/>
          <p:cNvSpPr/>
          <p:nvPr/>
        </p:nvSpPr>
        <p:spPr>
          <a:xfrm>
            <a:off x="758952" y="3712464"/>
            <a:ext cx="347472" cy="347472"/>
          </a:xfrm>
          <a:prstGeom prst="ellipse">
            <a:avLst/>
          </a:prstGeom>
          <a:solidFill>
            <a:srgbClr val="C8861E"/>
          </a:solidFill>
          <a:ln/>
        </p:spPr>
      </p:sp>
      <p:sp>
        <p:nvSpPr>
          <p:cNvPr id="26" name="Text 24"/>
          <p:cNvSpPr txBox="1"/>
          <p:nvPr/>
        </p:nvSpPr>
        <p:spPr>
          <a:xfrm>
            <a:off x="758952"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1</a:t>
            </a:r>
            <a:endParaRPr lang="en-US" sz="1300" dirty="0"/>
          </a:p>
        </p:txBody>
      </p:sp>
      <p:sp>
        <p:nvSpPr>
          <p:cNvPr id="27" name="Text 25"/>
          <p:cNvSpPr txBox="1"/>
          <p:nvPr/>
        </p:nvSpPr>
        <p:spPr>
          <a:xfrm>
            <a:off x="1216152"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La batería alimenta al electrolizador</a:t>
            </a:r>
            <a:endParaRPr lang="en-US" sz="1550" dirty="0"/>
          </a:p>
        </p:txBody>
      </p:sp>
      <p:sp>
        <p:nvSpPr>
          <p:cNvPr id="28" name="Text 26"/>
          <p:cNvSpPr txBox="1"/>
          <p:nvPr/>
        </p:nvSpPr>
        <p:spPr>
          <a:xfrm>
            <a:off x="1216152"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3</a:t>
            </a:r>
            <a:endParaRPr lang="en-US" sz="1000" dirty="0"/>
          </a:p>
        </p:txBody>
      </p:sp>
      <p:sp>
        <p:nvSpPr>
          <p:cNvPr id="29" name="Text 27"/>
          <p:cNvSpPr txBox="1"/>
          <p:nvPr/>
        </p:nvSpPr>
        <p:spPr>
          <a:xfrm>
            <a:off x="795528"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carga que crea la decisión de producir hidrógeno se ofrece a la batería antes que a la red, mientras el estado de carga esté por encima del 60 %. Diez líneas, y sin usar ninguna previsión.</a:t>
            </a:r>
            <a:endParaRPr lang="en-US" sz="1200" dirty="0"/>
          </a:p>
        </p:txBody>
      </p:sp>
      <p:sp>
        <p:nvSpPr>
          <p:cNvPr id="30" name="Shape 28"/>
          <p:cNvSpPr/>
          <p:nvPr/>
        </p:nvSpPr>
        <p:spPr>
          <a:xfrm>
            <a:off x="6324448" y="3474720"/>
            <a:ext cx="5364328" cy="1755648"/>
          </a:xfrm>
          <a:prstGeom prst="roundRect">
            <a:avLst>
              <a:gd name="adj" fmla="val 2604"/>
            </a:avLst>
          </a:prstGeom>
          <a:solidFill>
            <a:srgbClr val="FFFFFF"/>
          </a:solidFill>
          <a:ln w="12700">
            <a:solidFill>
              <a:srgbClr val="DDE3E6"/>
            </a:solidFill>
            <a:prstDash val="solid"/>
          </a:ln>
        </p:spPr>
      </p:sp>
      <p:sp>
        <p:nvSpPr>
          <p:cNvPr id="31" name="Shape 29"/>
          <p:cNvSpPr/>
          <p:nvPr/>
        </p:nvSpPr>
        <p:spPr>
          <a:xfrm>
            <a:off x="6580480" y="3712464"/>
            <a:ext cx="347472" cy="347472"/>
          </a:xfrm>
          <a:prstGeom prst="ellipse">
            <a:avLst/>
          </a:prstGeom>
          <a:solidFill>
            <a:srgbClr val="C8861E"/>
          </a:solidFill>
          <a:ln/>
        </p:spPr>
      </p:sp>
      <p:sp>
        <p:nvSpPr>
          <p:cNvPr id="32" name="Text 30"/>
          <p:cNvSpPr txBox="1"/>
          <p:nvPr/>
        </p:nvSpPr>
        <p:spPr>
          <a:xfrm>
            <a:off x="6580480" y="3712464"/>
            <a:ext cx="347472" cy="347472"/>
          </a:xfrm>
          <a:prstGeom prst="rect">
            <a:avLst/>
          </a:prstGeom>
          <a:noFill/>
          <a:ln/>
        </p:spPr>
        <p:txBody>
          <a:bodyPr wrap="square" lIns="0" tIns="0" rIns="0" bIns="0" rtlCol="0" anchor="ctr"/>
          <a:lstStyle/>
          <a:p>
            <a:pPr algn="ctr" indent="0" marL="0">
              <a:buNone/>
            </a:pPr>
            <a:r>
              <a:rPr lang="en-US" sz="1300" b="1" dirty="0">
                <a:solidFill>
                  <a:srgbClr val="10394A"/>
                </a:solidFill>
                <a:latin typeface="Calibri" pitchFamily="34" charset="0"/>
                <a:ea typeface="Calibri" pitchFamily="34" charset="-122"/>
                <a:cs typeface="Calibri" pitchFamily="34" charset="-120"/>
              </a:rPr>
              <a:t>2</a:t>
            </a:r>
            <a:endParaRPr lang="en-US" sz="1300" dirty="0"/>
          </a:p>
        </p:txBody>
      </p:sp>
      <p:sp>
        <p:nvSpPr>
          <p:cNvPr id="33" name="Text 31"/>
          <p:cNvSpPr txBox="1"/>
          <p:nvPr/>
        </p:nvSpPr>
        <p:spPr>
          <a:xfrm>
            <a:off x="7037680" y="3675888"/>
            <a:ext cx="4395064" cy="292608"/>
          </a:xfrm>
          <a:prstGeom prst="rect">
            <a:avLst/>
          </a:prstGeom>
          <a:noFill/>
          <a:ln/>
        </p:spPr>
        <p:txBody>
          <a:bodyPr wrap="square" lIns="0" tIns="0" rIns="0" bIns="0" rtlCol="0" anchor="ctr"/>
          <a:lstStyle/>
          <a:p>
            <a:pPr indent="0" marL="0">
              <a:buNone/>
            </a:pPr>
            <a:r>
              <a:rPr lang="en-US" sz="1550" b="1" dirty="0">
                <a:solidFill>
                  <a:srgbClr val="10394A"/>
                </a:solidFill>
                <a:latin typeface="Cambria" pitchFamily="34" charset="0"/>
                <a:ea typeface="Cambria" pitchFamily="34" charset="-122"/>
                <a:cs typeface="Cambria" pitchFamily="34" charset="-120"/>
              </a:rPr>
              <a:t>Planificador de orden de mérito a 24 h</a:t>
            </a:r>
            <a:endParaRPr lang="en-US" sz="1550" dirty="0"/>
          </a:p>
        </p:txBody>
      </p:sp>
      <p:sp>
        <p:nvSpPr>
          <p:cNvPr id="34" name="Text 32"/>
          <p:cNvSpPr txBox="1"/>
          <p:nvPr/>
        </p:nvSpPr>
        <p:spPr>
          <a:xfrm>
            <a:off x="7037680" y="3986784"/>
            <a:ext cx="4395064" cy="237744"/>
          </a:xfrm>
          <a:prstGeom prst="rect">
            <a:avLst/>
          </a:prstGeom>
          <a:noFill/>
          <a:ln/>
        </p:spPr>
        <p:txBody>
          <a:bodyPr wrap="square" lIns="0" tIns="0" rIns="0" bIns="0" rtlCol="0" anchor="ctr"/>
          <a:lstStyle/>
          <a:p>
            <a:pPr indent="0" marL="0">
              <a:buNone/>
            </a:pPr>
            <a:r>
              <a:rPr lang="en-US" sz="1000" b="1" spc="80" kern="0" dirty="0">
                <a:solidFill>
                  <a:srgbClr val="C8861E"/>
                </a:solidFill>
                <a:latin typeface="Calibri" pitchFamily="34" charset="0"/>
                <a:ea typeface="Calibri" pitchFamily="34" charset="-122"/>
                <a:cs typeface="Calibri" pitchFamily="34" charset="-120"/>
              </a:rPr>
              <a:t>sustituye al paso 4</a:t>
            </a:r>
            <a:endParaRPr lang="en-US" sz="1000" dirty="0"/>
          </a:p>
        </p:txBody>
      </p:sp>
      <p:sp>
        <p:nvSpPr>
          <p:cNvPr id="35" name="Text 33"/>
          <p:cNvSpPr txBox="1"/>
          <p:nvPr/>
        </p:nvSpPr>
        <p:spPr>
          <a:xfrm>
            <a:off x="6617056" y="4315968"/>
            <a:ext cx="4779112" cy="841248"/>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Estima cuánto hidrógeno falta y cuánto excedente gratis viene; de ahí salen las horas de electrolizador que hay que comprar, y se producen en las más baratas del horizonte.</a:t>
            </a:r>
            <a:endParaRPr lang="en-US" sz="1200" dirty="0"/>
          </a:p>
        </p:txBody>
      </p:sp>
      <p:sp>
        <p:nvSpPr>
          <p:cNvPr id="36" name="Shape 34"/>
          <p:cNvSpPr/>
          <p:nvPr/>
        </p:nvSpPr>
        <p:spPr>
          <a:xfrm>
            <a:off x="502920" y="5468112"/>
            <a:ext cx="11185855" cy="566928"/>
          </a:xfrm>
          <a:prstGeom prst="roundRect">
            <a:avLst>
              <a:gd name="adj" fmla="val 9677"/>
            </a:avLst>
          </a:prstGeom>
          <a:solidFill>
            <a:srgbClr val="10394A"/>
          </a:solidFill>
          <a:ln/>
        </p:spPr>
      </p:sp>
      <p:sp>
        <p:nvSpPr>
          <p:cNvPr id="37" name="Text 35"/>
          <p:cNvSpPr txBox="1"/>
          <p:nvPr/>
        </p:nvSpPr>
        <p:spPr>
          <a:xfrm>
            <a:off x="777240" y="5486400"/>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planificador solo usa el ORDEN de los precios: cualquier previsión que conserve ese orden toma exactamente las mismas decisiones.</a:t>
            </a:r>
            <a:endParaRPr lang="en-US" sz="1350" dirty="0"/>
          </a:p>
        </p:txBody>
      </p:sp>
      <p:sp>
        <p:nvSpPr>
          <p:cNvPr id="38" name="Text 3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−13,9 % de coste semanal, en los veinte pares evaluados</a:t>
            </a:r>
            <a:endParaRPr lang="en-US" sz="2600" dirty="0"/>
          </a:p>
        </p:txBody>
      </p:sp>
      <p:sp>
        <p:nvSpPr>
          <p:cNvPr id="4" name="Text 2"/>
          <p:cNvSpPr txBox="1"/>
          <p:nvPr/>
        </p:nvSpPr>
        <p:spPr>
          <a:xfrm>
            <a:off x="502920" y="1499616"/>
            <a:ext cx="5852160" cy="274320"/>
          </a:xfrm>
          <a:prstGeom prst="rect">
            <a:avLst/>
          </a:prstGeom>
          <a:noFill/>
          <a:ln/>
        </p:spPr>
        <p:txBody>
          <a:bodyPr wrap="square" lIns="0" tIns="0" rIns="0" bIns="0" rtlCol="0" anchor="ctr"/>
          <a:lstStyle/>
          <a:p>
            <a:pPr indent="0" marL="0">
              <a:buNone/>
            </a:pPr>
            <a:r>
              <a:rPr lang="en-US" sz="1150" b="1" spc="60" kern="0" dirty="0">
                <a:solidFill>
                  <a:srgbClr val="10394A"/>
                </a:solidFill>
                <a:latin typeface="Calibri" pitchFamily="34" charset="0"/>
                <a:ea typeface="Calibri" pitchFamily="34" charset="-122"/>
                <a:cs typeface="Calibri" pitchFamily="34" charset="-120"/>
              </a:rPr>
              <a:t>Diferencia de coste frente a la Versión A</a:t>
            </a:r>
            <a:endParaRPr lang="en-US" sz="1150" dirty="0"/>
          </a:p>
        </p:txBody>
      </p:sp>
      <p:sp>
        <p:nvSpPr>
          <p:cNvPr id="5" name="Shape 3"/>
          <p:cNvSpPr/>
          <p:nvPr/>
        </p:nvSpPr>
        <p:spPr>
          <a:xfrm>
            <a:off x="5126250" y="2011680"/>
            <a:ext cx="764339" cy="2816352"/>
          </a:xfrm>
          <a:prstGeom prst="rect">
            <a:avLst/>
          </a:prstGeom>
          <a:solidFill>
            <a:srgbClr val="F1F5F7"/>
          </a:solidFill>
          <a:ln w="12700">
            <a:solidFill>
              <a:srgbClr val="F1F5F7"/>
            </a:solidFill>
            <a:prstDash val="solid"/>
          </a:ln>
        </p:spPr>
      </p:sp>
      <p:sp>
        <p:nvSpPr>
          <p:cNvPr id="6" name="Shape 4"/>
          <p:cNvSpPr/>
          <p:nvPr/>
        </p:nvSpPr>
        <p:spPr>
          <a:xfrm>
            <a:off x="5508420" y="2011680"/>
            <a:ext cx="0" cy="2816352"/>
          </a:xfrm>
          <a:prstGeom prst="line">
            <a:avLst/>
          </a:prstGeom>
          <a:noFill/>
          <a:ln w="12700">
            <a:solidFill>
              <a:srgbClr val="B9C3C9"/>
            </a:solidFill>
            <a:prstDash val="solid"/>
          </a:ln>
        </p:spPr>
      </p:sp>
      <p:sp>
        <p:nvSpPr>
          <p:cNvPr id="7" name="Text 5"/>
          <p:cNvSpPr txBox="1"/>
          <p:nvPr/>
        </p:nvSpPr>
        <p:spPr>
          <a:xfrm>
            <a:off x="502920" y="2103120"/>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E1 · laborable soleado</a:t>
            </a:r>
            <a:endParaRPr lang="en-US" sz="1150" dirty="0"/>
          </a:p>
        </p:txBody>
      </p:sp>
      <p:sp>
        <p:nvSpPr>
          <p:cNvPr id="8" name="Shape 6"/>
          <p:cNvSpPr/>
          <p:nvPr/>
        </p:nvSpPr>
        <p:spPr>
          <a:xfrm>
            <a:off x="5508420" y="2185416"/>
            <a:ext cx="53250" cy="201168"/>
          </a:xfrm>
          <a:prstGeom prst="rect">
            <a:avLst/>
          </a:prstGeom>
          <a:solidFill>
            <a:srgbClr val="C9D6DD"/>
          </a:solidFill>
          <a:ln w="12700">
            <a:solidFill>
              <a:srgbClr val="C9D6DD"/>
            </a:solidFill>
            <a:prstDash val="solid"/>
          </a:ln>
        </p:spPr>
      </p:sp>
      <p:sp>
        <p:nvSpPr>
          <p:cNvPr id="9" name="Text 7"/>
          <p:cNvSpPr txBox="1"/>
          <p:nvPr/>
        </p:nvSpPr>
        <p:spPr>
          <a:xfrm>
            <a:off x="5616534" y="2148840"/>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+ 1,3 €</a:t>
            </a:r>
            <a:endParaRPr lang="en-US" sz="1000" dirty="0"/>
          </a:p>
        </p:txBody>
      </p:sp>
      <p:sp>
        <p:nvSpPr>
          <p:cNvPr id="10" name="Shape 8"/>
          <p:cNvSpPr/>
          <p:nvPr/>
        </p:nvSpPr>
        <p:spPr>
          <a:xfrm>
            <a:off x="3501312" y="2459736"/>
            <a:ext cx="2007108" cy="201168"/>
          </a:xfrm>
          <a:prstGeom prst="rect">
            <a:avLst/>
          </a:prstGeom>
          <a:solidFill>
            <a:srgbClr val="10394A"/>
          </a:solidFill>
          <a:ln w="12700">
            <a:solidFill>
              <a:srgbClr val="10394A"/>
            </a:solidFill>
            <a:prstDash val="solid"/>
          </a:ln>
        </p:spPr>
      </p:sp>
      <p:sp>
        <p:nvSpPr>
          <p:cNvPr id="11" name="Text 9"/>
          <p:cNvSpPr txBox="1"/>
          <p:nvPr/>
        </p:nvSpPr>
        <p:spPr>
          <a:xfrm>
            <a:off x="2568624" y="2423160"/>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− 49,0 €</a:t>
            </a:r>
            <a:endParaRPr lang="en-US" sz="1000" dirty="0"/>
          </a:p>
        </p:txBody>
      </p:sp>
      <p:sp>
        <p:nvSpPr>
          <p:cNvPr id="12" name="Text 10"/>
          <p:cNvSpPr txBox="1"/>
          <p:nvPr/>
        </p:nvSpPr>
        <p:spPr>
          <a:xfrm>
            <a:off x="502920" y="2779776"/>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E2 · laborable nublado</a:t>
            </a:r>
            <a:endParaRPr lang="en-US" sz="1150" dirty="0"/>
          </a:p>
        </p:txBody>
      </p:sp>
      <p:sp>
        <p:nvSpPr>
          <p:cNvPr id="13" name="Shape 11"/>
          <p:cNvSpPr/>
          <p:nvPr/>
        </p:nvSpPr>
        <p:spPr>
          <a:xfrm>
            <a:off x="5508420" y="2862072"/>
            <a:ext cx="32769" cy="201168"/>
          </a:xfrm>
          <a:prstGeom prst="rect">
            <a:avLst/>
          </a:prstGeom>
          <a:solidFill>
            <a:srgbClr val="C9D6DD"/>
          </a:solidFill>
          <a:ln w="12700">
            <a:solidFill>
              <a:srgbClr val="C9D6DD"/>
            </a:solidFill>
            <a:prstDash val="solid"/>
          </a:ln>
        </p:spPr>
      </p:sp>
      <p:sp>
        <p:nvSpPr>
          <p:cNvPr id="14" name="Text 12"/>
          <p:cNvSpPr txBox="1"/>
          <p:nvPr/>
        </p:nvSpPr>
        <p:spPr>
          <a:xfrm>
            <a:off x="5596053" y="2825496"/>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+ 0,8 €</a:t>
            </a:r>
            <a:endParaRPr lang="en-US" sz="1000" dirty="0"/>
          </a:p>
        </p:txBody>
      </p:sp>
      <p:sp>
        <p:nvSpPr>
          <p:cNvPr id="15" name="Shape 13"/>
          <p:cNvSpPr/>
          <p:nvPr/>
        </p:nvSpPr>
        <p:spPr>
          <a:xfrm>
            <a:off x="3149044" y="3136392"/>
            <a:ext cx="2359376" cy="201168"/>
          </a:xfrm>
          <a:prstGeom prst="rect">
            <a:avLst/>
          </a:prstGeom>
          <a:solidFill>
            <a:srgbClr val="10394A"/>
          </a:solidFill>
          <a:ln w="12700">
            <a:solidFill>
              <a:srgbClr val="10394A"/>
            </a:solidFill>
            <a:prstDash val="solid"/>
          </a:ln>
        </p:spPr>
      </p:sp>
      <p:sp>
        <p:nvSpPr>
          <p:cNvPr id="16" name="Text 14"/>
          <p:cNvSpPr txBox="1"/>
          <p:nvPr/>
        </p:nvSpPr>
        <p:spPr>
          <a:xfrm>
            <a:off x="2216356" y="3099816"/>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− 57,6 €</a:t>
            </a:r>
            <a:endParaRPr lang="en-US" sz="1000" dirty="0"/>
          </a:p>
        </p:txBody>
      </p:sp>
      <p:sp>
        <p:nvSpPr>
          <p:cNvPr id="17" name="Text 15"/>
          <p:cNvSpPr txBox="1"/>
          <p:nvPr/>
        </p:nvSpPr>
        <p:spPr>
          <a:xfrm>
            <a:off x="502920" y="3456432"/>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E3 · finde soleado</a:t>
            </a:r>
            <a:endParaRPr lang="en-US" sz="1150" dirty="0"/>
          </a:p>
        </p:txBody>
      </p:sp>
      <p:sp>
        <p:nvSpPr>
          <p:cNvPr id="18" name="Shape 16"/>
          <p:cNvSpPr/>
          <p:nvPr/>
        </p:nvSpPr>
        <p:spPr>
          <a:xfrm>
            <a:off x="5508420" y="3538728"/>
            <a:ext cx="24577" cy="201168"/>
          </a:xfrm>
          <a:prstGeom prst="rect">
            <a:avLst/>
          </a:prstGeom>
          <a:solidFill>
            <a:srgbClr val="C9D6DD"/>
          </a:solidFill>
          <a:ln w="12700">
            <a:solidFill>
              <a:srgbClr val="C9D6DD"/>
            </a:solidFill>
            <a:prstDash val="solid"/>
          </a:ln>
        </p:spPr>
      </p:sp>
      <p:sp>
        <p:nvSpPr>
          <p:cNvPr id="19" name="Text 17"/>
          <p:cNvSpPr txBox="1"/>
          <p:nvPr/>
        </p:nvSpPr>
        <p:spPr>
          <a:xfrm>
            <a:off x="5587861" y="3502152"/>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+ 0,6 €</a:t>
            </a:r>
            <a:endParaRPr lang="en-US" sz="1000" dirty="0"/>
          </a:p>
        </p:txBody>
      </p:sp>
      <p:sp>
        <p:nvSpPr>
          <p:cNvPr id="20" name="Shape 18"/>
          <p:cNvSpPr/>
          <p:nvPr/>
        </p:nvSpPr>
        <p:spPr>
          <a:xfrm>
            <a:off x="4001041" y="3813048"/>
            <a:ext cx="1507379" cy="201168"/>
          </a:xfrm>
          <a:prstGeom prst="rect">
            <a:avLst/>
          </a:prstGeom>
          <a:solidFill>
            <a:srgbClr val="10394A"/>
          </a:solidFill>
          <a:ln w="12700">
            <a:solidFill>
              <a:srgbClr val="10394A"/>
            </a:solidFill>
            <a:prstDash val="solid"/>
          </a:ln>
        </p:spPr>
      </p:sp>
      <p:sp>
        <p:nvSpPr>
          <p:cNvPr id="21" name="Text 19"/>
          <p:cNvSpPr txBox="1"/>
          <p:nvPr/>
        </p:nvSpPr>
        <p:spPr>
          <a:xfrm>
            <a:off x="3068353" y="3776472"/>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− 36,8 €</a:t>
            </a:r>
            <a:endParaRPr lang="en-US" sz="1000" dirty="0"/>
          </a:p>
        </p:txBody>
      </p:sp>
      <p:sp>
        <p:nvSpPr>
          <p:cNvPr id="22" name="Text 20"/>
          <p:cNvSpPr txBox="1"/>
          <p:nvPr/>
        </p:nvSpPr>
        <p:spPr>
          <a:xfrm>
            <a:off x="502920" y="4133088"/>
            <a:ext cx="1755648" cy="603504"/>
          </a:xfrm>
          <a:prstGeom prst="rect">
            <a:avLst/>
          </a:prstGeom>
          <a:noFill/>
          <a:ln/>
        </p:spPr>
        <p:txBody>
          <a:bodyPr wrap="square" lIns="0" tIns="0" rIns="0" bIns="0" rtlCol="0" anchor="ctr"/>
          <a:lstStyle/>
          <a:p>
            <a:pPr indent="0" marL="0">
              <a:buNone/>
            </a:pPr>
            <a:r>
              <a:rPr lang="en-US" sz="1150" dirty="0">
                <a:solidFill>
                  <a:srgbClr val="1C1C1C"/>
                </a:solidFill>
                <a:latin typeface="Calibri" pitchFamily="34" charset="0"/>
                <a:ea typeface="Calibri" pitchFamily="34" charset="-122"/>
                <a:cs typeface="Calibri" pitchFamily="34" charset="-120"/>
              </a:rPr>
              <a:t>E4 · volatilidad</a:t>
            </a:r>
            <a:endParaRPr lang="en-US" sz="1150" dirty="0"/>
          </a:p>
        </p:txBody>
      </p:sp>
      <p:sp>
        <p:nvSpPr>
          <p:cNvPr id="23" name="Shape 21"/>
          <p:cNvSpPr/>
          <p:nvPr/>
        </p:nvSpPr>
        <p:spPr>
          <a:xfrm>
            <a:off x="5508420" y="4215384"/>
            <a:ext cx="57346" cy="201168"/>
          </a:xfrm>
          <a:prstGeom prst="rect">
            <a:avLst/>
          </a:prstGeom>
          <a:solidFill>
            <a:srgbClr val="C9D6DD"/>
          </a:solidFill>
          <a:ln w="12700">
            <a:solidFill>
              <a:srgbClr val="C9D6DD"/>
            </a:solidFill>
            <a:prstDash val="solid"/>
          </a:ln>
        </p:spPr>
      </p:sp>
      <p:sp>
        <p:nvSpPr>
          <p:cNvPr id="24" name="Text 22"/>
          <p:cNvSpPr txBox="1"/>
          <p:nvPr/>
        </p:nvSpPr>
        <p:spPr>
          <a:xfrm>
            <a:off x="5620630" y="4178808"/>
            <a:ext cx="877824" cy="274320"/>
          </a:xfrm>
          <a:prstGeom prst="rect">
            <a:avLst/>
          </a:prstGeom>
          <a:noFill/>
          <a:ln/>
        </p:spPr>
        <p:txBody>
          <a:bodyPr wrap="square" lIns="0" tIns="0" rIns="0" bIns="0" rtlCol="0" anchor="ctr"/>
          <a:lstStyle/>
          <a:p>
            <a:pPr indent="0" marL="0">
              <a:buNone/>
            </a:pPr>
            <a:r>
              <a:rPr lang="en-US" sz="1000" dirty="0">
                <a:solidFill>
                  <a:srgbClr val="5F6B72"/>
                </a:solidFill>
                <a:latin typeface="Calibri" pitchFamily="34" charset="0"/>
                <a:ea typeface="Calibri" pitchFamily="34" charset="-122"/>
                <a:cs typeface="Calibri" pitchFamily="34" charset="-120"/>
              </a:rPr>
              <a:t>+ 1,4 €</a:t>
            </a:r>
            <a:endParaRPr lang="en-US" sz="1000" dirty="0"/>
          </a:p>
        </p:txBody>
      </p:sp>
      <p:sp>
        <p:nvSpPr>
          <p:cNvPr id="25" name="Shape 23"/>
          <p:cNvSpPr/>
          <p:nvPr/>
        </p:nvSpPr>
        <p:spPr>
          <a:xfrm>
            <a:off x="2796776" y="4489704"/>
            <a:ext cx="2711644" cy="201168"/>
          </a:xfrm>
          <a:prstGeom prst="rect">
            <a:avLst/>
          </a:prstGeom>
          <a:solidFill>
            <a:srgbClr val="10394A"/>
          </a:solidFill>
          <a:ln w="12700">
            <a:solidFill>
              <a:srgbClr val="10394A"/>
            </a:solidFill>
            <a:prstDash val="solid"/>
          </a:ln>
        </p:spPr>
      </p:sp>
      <p:sp>
        <p:nvSpPr>
          <p:cNvPr id="26" name="Text 24"/>
          <p:cNvSpPr txBox="1"/>
          <p:nvPr/>
        </p:nvSpPr>
        <p:spPr>
          <a:xfrm>
            <a:off x="1864088" y="4453128"/>
            <a:ext cx="877824" cy="274320"/>
          </a:xfrm>
          <a:prstGeom prst="rect">
            <a:avLst/>
          </a:prstGeom>
          <a:noFill/>
          <a:ln/>
        </p:spPr>
        <p:txBody>
          <a:bodyPr wrap="square" lIns="0" tIns="0" rIns="0" bIns="0" rtlCol="0" anchor="ctr"/>
          <a:lstStyle/>
          <a:p>
            <a:pPr algn="r" indent="0" marL="0">
              <a:buNone/>
            </a:pPr>
            <a:r>
              <a:rPr lang="en-US" sz="1000" b="1" dirty="0">
                <a:solidFill>
                  <a:srgbClr val="10394A"/>
                </a:solidFill>
                <a:latin typeface="Calibri" pitchFamily="34" charset="0"/>
                <a:ea typeface="Calibri" pitchFamily="34" charset="-122"/>
                <a:cs typeface="Calibri" pitchFamily="34" charset="-120"/>
              </a:rPr>
              <a:t>− 66,2 €</a:t>
            </a:r>
            <a:endParaRPr lang="en-US" sz="1000" dirty="0"/>
          </a:p>
        </p:txBody>
      </p:sp>
      <p:sp>
        <p:nvSpPr>
          <p:cNvPr id="27" name="Text 25"/>
          <p:cNvSpPr txBox="1"/>
          <p:nvPr/>
        </p:nvSpPr>
        <p:spPr>
          <a:xfrm>
            <a:off x="4303290" y="4864608"/>
            <a:ext cx="2468880" cy="237744"/>
          </a:xfrm>
          <a:prstGeom prst="rect">
            <a:avLst/>
          </a:prstGeom>
          <a:noFill/>
          <a:ln/>
        </p:spPr>
        <p:txBody>
          <a:bodyPr wrap="square" lIns="0" tIns="0" rIns="0" bIns="0" rtlCol="0" anchor="ctr"/>
          <a:lstStyle/>
          <a:p>
            <a:pPr algn="ctr" indent="0" marL="0">
              <a:buNone/>
            </a:pPr>
            <a:r>
              <a:rPr lang="en-US" sz="950" i="1" dirty="0">
                <a:solidFill>
                  <a:srgbClr val="5F6B72"/>
                </a:solidFill>
                <a:latin typeface="Calibri" pitchFamily="34" charset="0"/>
                <a:ea typeface="Calibri" pitchFamily="34" charset="-122"/>
                <a:cs typeface="Calibri" pitchFamily="34" charset="-120"/>
              </a:rPr>
              <a:t>± 9,33 € · umbral de relevancia</a:t>
            </a:r>
            <a:endParaRPr lang="en-US" sz="950" dirty="0"/>
          </a:p>
        </p:txBody>
      </p:sp>
      <p:sp>
        <p:nvSpPr>
          <p:cNvPr id="28" name="Text 26"/>
          <p:cNvSpPr txBox="1"/>
          <p:nvPr/>
        </p:nvSpPr>
        <p:spPr>
          <a:xfrm>
            <a:off x="502920" y="5138928"/>
            <a:ext cx="5852160" cy="237744"/>
          </a:xfrm>
          <a:prstGeom prst="rect">
            <a:avLst/>
          </a:prstGeom>
          <a:noFill/>
          <a:ln/>
        </p:spPr>
        <p:txBody>
          <a:bodyPr wrap="square" lIns="0" tIns="0" rIns="0" bIns="0" rtlCol="0" anchor="ctr"/>
          <a:lstStyle/>
          <a:p>
            <a:pPr indent="0" marL="0">
              <a:buNone/>
            </a:pPr>
            <a:r>
              <a:rPr lang="en-US" sz="1000" i="1" dirty="0">
                <a:solidFill>
                  <a:srgbClr val="5F6B72"/>
                </a:solidFill>
                <a:latin typeface="Calibri" pitchFamily="34" charset="0"/>
                <a:ea typeface="Calibri" pitchFamily="34" charset="-122"/>
                <a:cs typeface="Calibri" pitchFamily="34" charset="-120"/>
              </a:rPr>
              <a:t>€ por semana · a la izquierda del cero, más barato que A</a:t>
            </a:r>
            <a:endParaRPr lang="en-US" sz="1000" dirty="0"/>
          </a:p>
        </p:txBody>
      </p:sp>
      <p:sp>
        <p:nvSpPr>
          <p:cNvPr id="29" name="Shape 27"/>
          <p:cNvSpPr/>
          <p:nvPr/>
        </p:nvSpPr>
        <p:spPr>
          <a:xfrm>
            <a:off x="3749040" y="1527048"/>
            <a:ext cx="219456" cy="146304"/>
          </a:xfrm>
          <a:prstGeom prst="rect">
            <a:avLst/>
          </a:prstGeom>
          <a:solidFill>
            <a:srgbClr val="C9D6DD"/>
          </a:solidFill>
          <a:ln w="12700">
            <a:solidFill>
              <a:srgbClr val="333333"/>
            </a:solidFill>
            <a:prstDash val="solid"/>
          </a:ln>
        </p:spPr>
      </p:sp>
      <p:sp>
        <p:nvSpPr>
          <p:cNvPr id="30" name="Text 28"/>
          <p:cNvSpPr txBox="1"/>
          <p:nvPr/>
        </p:nvSpPr>
        <p:spPr>
          <a:xfrm>
            <a:off x="4023360" y="1453896"/>
            <a:ext cx="1188720" cy="274320"/>
          </a:xfrm>
          <a:prstGeom prst="rect">
            <a:avLst/>
          </a:prstGeom>
          <a:noFill/>
          <a:ln/>
        </p:spPr>
        <p:txBody>
          <a:bodyPr wrap="square" lIns="0" tIns="0" rIns="0" bIns="0" rtlCol="0" anchor="ctr"/>
          <a:lstStyle/>
          <a:p>
            <a:pPr indent="0" marL="0">
              <a:buNone/>
            </a:pPr>
            <a:r>
              <a:rPr lang="en-US" sz="1050" dirty="0">
                <a:solidFill>
                  <a:srgbClr val="5F6B72"/>
                </a:solidFill>
                <a:latin typeface="Calibri" pitchFamily="34" charset="0"/>
                <a:ea typeface="Calibri" pitchFamily="34" charset="-122"/>
                <a:cs typeface="Calibri" pitchFamily="34" charset="-120"/>
              </a:rPr>
              <a:t>Versión B</a:t>
            </a:r>
            <a:endParaRPr lang="en-US" sz="1050" dirty="0"/>
          </a:p>
        </p:txBody>
      </p:sp>
      <p:sp>
        <p:nvSpPr>
          <p:cNvPr id="31" name="Shape 29"/>
          <p:cNvSpPr/>
          <p:nvPr/>
        </p:nvSpPr>
        <p:spPr>
          <a:xfrm>
            <a:off x="5257800" y="1527048"/>
            <a:ext cx="219456" cy="146304"/>
          </a:xfrm>
          <a:prstGeom prst="rect">
            <a:avLst/>
          </a:prstGeom>
          <a:solidFill>
            <a:srgbClr val="10394A"/>
          </a:solidFill>
          <a:ln w="12700">
            <a:solidFill>
              <a:srgbClr val="333333"/>
            </a:solidFill>
            <a:prstDash val="solid"/>
          </a:ln>
        </p:spPr>
      </p:sp>
      <p:sp>
        <p:nvSpPr>
          <p:cNvPr id="32" name="Text 30"/>
          <p:cNvSpPr txBox="1"/>
          <p:nvPr/>
        </p:nvSpPr>
        <p:spPr>
          <a:xfrm>
            <a:off x="5532120" y="1453896"/>
            <a:ext cx="1188720" cy="274320"/>
          </a:xfrm>
          <a:prstGeom prst="rect">
            <a:avLst/>
          </a:prstGeom>
          <a:noFill/>
          <a:ln/>
        </p:spPr>
        <p:txBody>
          <a:bodyPr wrap="square" lIns="0" tIns="0" rIns="0" bIns="0" rtlCol="0" anchor="ctr"/>
          <a:lstStyle/>
          <a:p>
            <a:pPr indent="0" marL="0">
              <a:buNone/>
            </a:pPr>
            <a:r>
              <a:rPr lang="en-US" sz="1050" dirty="0">
                <a:solidFill>
                  <a:srgbClr val="5F6B72"/>
                </a:solidFill>
                <a:latin typeface="Calibri" pitchFamily="34" charset="0"/>
                <a:ea typeface="Calibri" pitchFamily="34" charset="-122"/>
                <a:cs typeface="Calibri" pitchFamily="34" charset="-120"/>
              </a:rPr>
              <a:t>Versión C</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29400" y="1810512"/>
          <a:ext cx="5056632" cy="914400"/>
        </p:xfrm>
        <a:graphic>
          <a:graphicData uri="http://schemas.openxmlformats.org/drawingml/2006/table">
            <a:tbl>
              <a:tblPr/>
              <a:tblGrid>
                <a:gridCol w="2286000"/>
                <a:gridCol w="1856232"/>
                <a:gridCol w="91440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Métrica (C − A, 7 días, 20 pares)</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Diferencia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Gana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r>
              <a:tr h="502920">
                <a:tc>
                  <a:txBody>
                    <a:bodyPr/>
                    <a:lstStyle/>
                    <a:p>
                      <a:pPr algn="l" indent="0" marL="0">
                        <a:buNone/>
                      </a:pPr>
                      <a:r>
                        <a:rPr lang="en-US" sz="1200" b="1" dirty="0">
                          <a:solidFill>
                            <a:srgbClr val="1C1C1C"/>
                          </a:solidFill>
                          <a:latin typeface="Calibri" pitchFamily="34" charset="0"/>
                          <a:ea typeface="Calibri" pitchFamily="34" charset="-122"/>
                          <a:cs typeface="Calibri" pitchFamily="34" charset="-120"/>
                        </a:rPr>
                        <a:t>Coste total con hidrógeno</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8861E"/>
                          </a:solidFill>
                          <a:latin typeface="Calibri" pitchFamily="34" charset="0"/>
                          <a:ea typeface="Calibri" pitchFamily="34" charset="-122"/>
                          <a:cs typeface="Calibri" pitchFamily="34" charset="-120"/>
                        </a:rPr>
                        <a:t>− 52,3 €  (− 13,9 %)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Energía importada de la red</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− 717 kWh  (− 54 %)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Autosuficiencia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+ 6,7 pts  (87,7 → 94,3 %)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6629400" y="4096512"/>
            <a:ext cx="5056632" cy="548640"/>
          </a:xfrm>
          <a:prstGeom prst="rect">
            <a:avLst/>
          </a:prstGeom>
          <a:noFill/>
          <a:ln/>
        </p:spPr>
        <p:txBody>
          <a:bodyPr wrap="square" lIns="0" tIns="0" rIns="0" bIns="0" rtlCol="0" anchor="ctr"/>
          <a:lstStyle/>
          <a:p>
            <a:pPr indent="0" marL="0">
              <a:lnSpc>
                <a:spcPct val="110000"/>
              </a:lnSpc>
              <a:buNone/>
            </a:pPr>
            <a:r>
              <a:rPr lang="en-US" sz="1150" i="1" dirty="0">
                <a:solidFill>
                  <a:srgbClr val="5F6B72"/>
                </a:solidFill>
                <a:latin typeface="Calibri" pitchFamily="34" charset="0"/>
                <a:ea typeface="Calibri" pitchFamily="34" charset="-122"/>
                <a:cs typeface="Calibri" pitchFamily="34" charset="-120"/>
              </a:rPr>
              <a:t>20 de 20 pares, p por debajo de una diezmilésima · cinco veces el umbral de relevancia fijado antes de simular</a:t>
            </a:r>
            <a:endParaRPr lang="en-US" sz="1150" dirty="0"/>
          </a:p>
        </p:txBody>
      </p:sp>
      <p:sp>
        <p:nvSpPr>
          <p:cNvPr id="35" name="Shape 32"/>
          <p:cNvSpPr/>
          <p:nvPr/>
        </p:nvSpPr>
        <p:spPr>
          <a:xfrm>
            <a:off x="502920" y="5623560"/>
            <a:ext cx="11185855" cy="566928"/>
          </a:xfrm>
          <a:prstGeom prst="roundRect">
            <a:avLst>
              <a:gd name="adj" fmla="val 9677"/>
            </a:avLst>
          </a:prstGeom>
          <a:solidFill>
            <a:srgbClr val="10394A"/>
          </a:solidFill>
          <a:ln/>
        </p:spPr>
      </p:sp>
      <p:sp>
        <p:nvSpPr>
          <p:cNvPr id="36" name="Text 33"/>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precio de la mejora: la batería cicla ×2,2, y en el nublado hay que reponer 3,07 kg de H₂ desde fuera en vez de 0,82. Valorado dentro del coste.</a:t>
            </a:r>
            <a:endParaRPr lang="en-US" sz="1350" dirty="0"/>
          </a:p>
        </p:txBody>
      </p:sp>
      <p:sp>
        <p:nvSpPr>
          <p:cNvPr id="37" name="Text 3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la mejora se puede atribuir pieza a pieza</a:t>
            </a:r>
            <a:endParaRPr lang="en-US" sz="2600" dirty="0"/>
          </a:p>
        </p:txBody>
      </p:sp>
      <p:sp>
        <p:nvSpPr>
          <p:cNvPr id="4" name="Text 2"/>
          <p:cNvSpPr txBox="1"/>
          <p:nvPr/>
        </p:nvSpPr>
        <p:spPr>
          <a:xfrm>
            <a:off x="502920" y="1554480"/>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A → C0</a:t>
            </a:r>
            <a:endParaRPr lang="en-US" sz="1500" dirty="0"/>
          </a:p>
        </p:txBody>
      </p:sp>
      <p:sp>
        <p:nvSpPr>
          <p:cNvPr id="5" name="Text 3"/>
          <p:cNvSpPr txBox="1"/>
          <p:nvPr/>
        </p:nvSpPr>
        <p:spPr>
          <a:xfrm>
            <a:off x="2148840" y="1554480"/>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Alimentar el electrolizador desde la batería</a:t>
            </a:r>
            <a:endParaRPr lang="en-US" sz="1500" dirty="0"/>
          </a:p>
        </p:txBody>
      </p:sp>
      <p:sp>
        <p:nvSpPr>
          <p:cNvPr id="6" name="Text 4"/>
          <p:cNvSpPr txBox="1"/>
          <p:nvPr/>
        </p:nvSpPr>
        <p:spPr>
          <a:xfrm>
            <a:off x="2148840" y="1938528"/>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20/20 pares · el 90 % del ahorro</a:t>
            </a:r>
            <a:endParaRPr lang="en-US" sz="1200" dirty="0"/>
          </a:p>
        </p:txBody>
      </p:sp>
      <p:sp>
        <p:nvSpPr>
          <p:cNvPr id="7" name="Text 5"/>
          <p:cNvSpPr txBox="1"/>
          <p:nvPr/>
        </p:nvSpPr>
        <p:spPr>
          <a:xfrm>
            <a:off x="7498080" y="1554480"/>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− 47,1 €</a:t>
            </a:r>
            <a:endParaRPr lang="en-US" sz="3200" dirty="0"/>
          </a:p>
        </p:txBody>
      </p:sp>
      <p:sp>
        <p:nvSpPr>
          <p:cNvPr id="8" name="Shape 6"/>
          <p:cNvSpPr/>
          <p:nvPr/>
        </p:nvSpPr>
        <p:spPr>
          <a:xfrm>
            <a:off x="502920" y="2468880"/>
            <a:ext cx="11185855" cy="0"/>
          </a:xfrm>
          <a:prstGeom prst="line">
            <a:avLst/>
          </a:prstGeom>
          <a:noFill/>
          <a:ln w="9525">
            <a:solidFill>
              <a:srgbClr val="DDE3E6"/>
            </a:solidFill>
            <a:prstDash val="solid"/>
          </a:ln>
        </p:spPr>
      </p:sp>
      <p:sp>
        <p:nvSpPr>
          <p:cNvPr id="9" name="Text 7"/>
          <p:cNvSpPr txBox="1"/>
          <p:nvPr/>
        </p:nvSpPr>
        <p:spPr>
          <a:xfrm>
            <a:off x="502920" y="2615184"/>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C0 → Cp</a:t>
            </a:r>
            <a:endParaRPr lang="en-US" sz="1500" dirty="0"/>
          </a:p>
        </p:txBody>
      </p:sp>
      <p:sp>
        <p:nvSpPr>
          <p:cNvPr id="10" name="Text 8"/>
          <p:cNvSpPr txBox="1"/>
          <p:nvPr/>
        </p:nvSpPr>
        <p:spPr>
          <a:xfrm>
            <a:off x="2148840" y="2615184"/>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el planificador, que consume la previsión solar</a:t>
            </a:r>
            <a:endParaRPr lang="en-US" sz="1500" dirty="0"/>
          </a:p>
        </p:txBody>
      </p:sp>
      <p:sp>
        <p:nvSpPr>
          <p:cNvPr id="11" name="Text 9"/>
          <p:cNvSpPr txBox="1"/>
          <p:nvPr/>
        </p:nvSpPr>
        <p:spPr>
          <a:xfrm>
            <a:off x="2148840" y="2999232"/>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19/20 pares · la aportación de la red solar va dentro de esta cifra</a:t>
            </a:r>
            <a:endParaRPr lang="en-US" sz="1200" dirty="0"/>
          </a:p>
        </p:txBody>
      </p:sp>
      <p:sp>
        <p:nvSpPr>
          <p:cNvPr id="12" name="Text 10"/>
          <p:cNvSpPr txBox="1"/>
          <p:nvPr/>
        </p:nvSpPr>
        <p:spPr>
          <a:xfrm>
            <a:off x="7498080" y="2615184"/>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− 5,1 €</a:t>
            </a:r>
            <a:endParaRPr lang="en-US" sz="3200" dirty="0"/>
          </a:p>
        </p:txBody>
      </p:sp>
      <p:sp>
        <p:nvSpPr>
          <p:cNvPr id="13" name="Shape 11"/>
          <p:cNvSpPr/>
          <p:nvPr/>
        </p:nvSpPr>
        <p:spPr>
          <a:xfrm>
            <a:off x="502920" y="3529584"/>
            <a:ext cx="11185855" cy="0"/>
          </a:xfrm>
          <a:prstGeom prst="line">
            <a:avLst/>
          </a:prstGeom>
          <a:noFill/>
          <a:ln w="9525">
            <a:solidFill>
              <a:srgbClr val="DDE3E6"/>
            </a:solidFill>
            <a:prstDash val="solid"/>
          </a:ln>
        </p:spPr>
      </p:sp>
      <p:sp>
        <p:nvSpPr>
          <p:cNvPr id="14" name="Text 12"/>
          <p:cNvSpPr txBox="1"/>
          <p:nvPr/>
        </p:nvSpPr>
        <p:spPr>
          <a:xfrm>
            <a:off x="502920" y="3675888"/>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Cp → C</a:t>
            </a:r>
            <a:endParaRPr lang="en-US" sz="1500" dirty="0"/>
          </a:p>
        </p:txBody>
      </p:sp>
      <p:sp>
        <p:nvSpPr>
          <p:cNvPr id="15" name="Text 13"/>
          <p:cNvSpPr txBox="1"/>
          <p:nvPr/>
        </p:nvSpPr>
        <p:spPr>
          <a:xfrm>
            <a:off x="2148840" y="3675888"/>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red neuronal de precio</a:t>
            </a:r>
            <a:endParaRPr lang="en-US" sz="1500" dirty="0"/>
          </a:p>
        </p:txBody>
      </p:sp>
      <p:sp>
        <p:nvSpPr>
          <p:cNvPr id="16" name="Text 14"/>
          <p:cNvSpPr txBox="1"/>
          <p:nvPr/>
        </p:nvSpPr>
        <p:spPr>
          <a:xfrm>
            <a:off x="2148840" y="4059936"/>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idénticas a precisión de máquina en los 40 indicadores</a:t>
            </a:r>
            <a:endParaRPr lang="en-US" sz="1200" dirty="0"/>
          </a:p>
        </p:txBody>
      </p:sp>
      <p:sp>
        <p:nvSpPr>
          <p:cNvPr id="17" name="Text 15"/>
          <p:cNvSpPr txBox="1"/>
          <p:nvPr/>
        </p:nvSpPr>
        <p:spPr>
          <a:xfrm>
            <a:off x="7498080" y="3675888"/>
            <a:ext cx="4206240" cy="777240"/>
          </a:xfrm>
          <a:prstGeom prst="rect">
            <a:avLst/>
          </a:prstGeom>
          <a:noFill/>
          <a:ln/>
        </p:spPr>
        <p:txBody>
          <a:bodyPr wrap="square" lIns="0" tIns="0" rIns="0" bIns="0" rtlCol="0" anchor="ctr"/>
          <a:lstStyle/>
          <a:p>
            <a:pPr algn="r" indent="0" marL="0">
              <a:buNone/>
            </a:pPr>
            <a:r>
              <a:rPr lang="en-US" sz="3200" b="1" dirty="0">
                <a:solidFill>
                  <a:srgbClr val="5F6B72"/>
                </a:solidFill>
                <a:latin typeface="Cambria" pitchFamily="34" charset="0"/>
                <a:ea typeface="Cambria" pitchFamily="34" charset="-122"/>
                <a:cs typeface="Cambria" pitchFamily="34" charset="-120"/>
              </a:rPr>
              <a:t>0,00 €</a:t>
            </a:r>
            <a:endParaRPr lang="en-US" sz="3200" dirty="0"/>
          </a:p>
        </p:txBody>
      </p:sp>
      <p:sp>
        <p:nvSpPr>
          <p:cNvPr id="18" name="Text 16"/>
          <p:cNvSpPr txBox="1"/>
          <p:nvPr/>
        </p:nvSpPr>
        <p:spPr>
          <a:xfrm>
            <a:off x="502920" y="4919472"/>
            <a:ext cx="11185855" cy="292608"/>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C₀ = solo el cambio 1 (batería → electrolizador)   ·   C_p = C₀ + planificador con el precio ya publicado   ·   C = versión completa, con la LSTM de precio en el tramo no publicado</a:t>
            </a:r>
            <a:endParaRPr lang="en-US" sz="1150" dirty="0"/>
          </a:p>
        </p:txBody>
      </p:sp>
      <p:sp>
        <p:nvSpPr>
          <p:cNvPr id="19" name="Shape 17"/>
          <p:cNvSpPr/>
          <p:nvPr/>
        </p:nvSpPr>
        <p:spPr>
          <a:xfrm>
            <a:off x="502920" y="5440680"/>
            <a:ext cx="11185855" cy="566928"/>
          </a:xfrm>
          <a:prstGeom prst="roundRect">
            <a:avLst>
              <a:gd name="adj" fmla="val 9677"/>
            </a:avLst>
          </a:prstGeom>
          <a:solidFill>
            <a:srgbClr val="10394A"/>
          </a:solidFill>
          <a:ln/>
        </p:spPr>
      </p:sp>
      <p:sp>
        <p:nvSpPr>
          <p:cNvPr id="20" name="Text 18"/>
          <p:cNvSpPr txBox="1"/>
          <p:nvPr/>
        </p:nvSpPr>
        <p:spPr>
          <a:xfrm>
            <a:off x="777240" y="545896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mercado diario publica a las 13:00 el precio del día siguiente: el planificador ve entre 11 y 35 horas ya publicadas, y el tramo que sí predice no cambió ninguna decisión.</a:t>
            </a:r>
            <a:endParaRPr lang="en-US" sz="1350" dirty="0"/>
          </a:p>
        </p:txBody>
      </p:sp>
      <p:sp>
        <p:nvSpPr>
          <p:cNvPr id="21" name="Text 1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LIMITACIONES  ·  6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Limitaciones</a:t>
            </a:r>
            <a:endParaRPr lang="en-US" sz="2600" dirty="0"/>
          </a:p>
        </p:txBody>
      </p:sp>
      <p:sp>
        <p:nvSpPr>
          <p:cNvPr id="4" name="Text 2"/>
          <p:cNvSpPr txBox="1"/>
          <p:nvPr/>
        </p:nvSpPr>
        <p:spPr>
          <a:xfrm>
            <a:off x="502920" y="1536192"/>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Modelo físico</a:t>
            </a:r>
            <a:endParaRPr lang="en-US" sz="1700" dirty="0"/>
          </a:p>
        </p:txBody>
      </p:sp>
      <p:sp>
        <p:nvSpPr>
          <p:cNvPr id="5" name="Text 3"/>
          <p:cNvSpPr txBox="1"/>
          <p:nvPr/>
        </p:nvSpPr>
        <p:spPr>
          <a:xfrm>
            <a:off x="2788920" y="15361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Algunos bloques asumen simplificaciones, como la ecuación de gas ideal en los tanques: la autonomía simulada es optimista</a:t>
            </a:r>
            <a:endParaRPr lang="en-US" sz="1300" dirty="0"/>
          </a:p>
        </p:txBody>
      </p:sp>
      <p:sp>
        <p:nvSpPr>
          <p:cNvPr id="6" name="Text 4"/>
          <p:cNvSpPr txBox="1"/>
          <p:nvPr/>
        </p:nvSpPr>
        <p:spPr>
          <a:xfrm>
            <a:off x="2788920" y="19933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pila de combustible no llega a arrancar, porque la batería siempre cubre el déficit antes: el modo isla queda sin ejercitar</a:t>
            </a:r>
            <a:endParaRPr lang="en-US" sz="1300" dirty="0"/>
          </a:p>
        </p:txBody>
      </p:sp>
      <p:sp>
        <p:nvSpPr>
          <p:cNvPr id="7" name="Shape 5"/>
          <p:cNvSpPr/>
          <p:nvPr/>
        </p:nvSpPr>
        <p:spPr>
          <a:xfrm>
            <a:off x="502920" y="2770632"/>
            <a:ext cx="11185855" cy="0"/>
          </a:xfrm>
          <a:prstGeom prst="line">
            <a:avLst/>
          </a:prstGeom>
          <a:noFill/>
          <a:ln w="9525">
            <a:solidFill>
              <a:srgbClr val="DDE3E6"/>
            </a:solidFill>
            <a:prstDash val="solid"/>
          </a:ln>
        </p:spPr>
      </p:sp>
      <p:sp>
        <p:nvSpPr>
          <p:cNvPr id="8" name="Text 6"/>
          <p:cNvSpPr txBox="1"/>
          <p:nvPr/>
        </p:nvSpPr>
        <p:spPr>
          <a:xfrm>
            <a:off x="502920" y="3017520"/>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Datos</a:t>
            </a:r>
            <a:endParaRPr lang="en-US" sz="1700" dirty="0"/>
          </a:p>
        </p:txBody>
      </p:sp>
      <p:sp>
        <p:nvSpPr>
          <p:cNvPr id="9" name="Text 7"/>
          <p:cNvSpPr txBox="1"/>
          <p:nvPr/>
        </p:nvSpPr>
        <p:spPr>
          <a:xfrm>
            <a:off x="2788920" y="30175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irradiancia sale de un reanálisis: sirve para entrenar, no es la señal que tendría la estación en tiempo real</a:t>
            </a:r>
            <a:endParaRPr lang="en-US" sz="1300" dirty="0"/>
          </a:p>
        </p:txBody>
      </p:sp>
      <p:sp>
        <p:nvSpPr>
          <p:cNvPr id="10" name="Text 8"/>
          <p:cNvSpPr txBox="1"/>
          <p:nvPr/>
        </p:nvSpPr>
        <p:spPr>
          <a:xfrm>
            <a:off x="2788920" y="34747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demanda de hidrógeno se construye por analogía con la eléctrica, porque todavía no hay flota de la que medirla</a:t>
            </a:r>
            <a:endParaRPr lang="en-US" sz="1300" dirty="0"/>
          </a:p>
        </p:txBody>
      </p:sp>
      <p:sp>
        <p:nvSpPr>
          <p:cNvPr id="11" name="Shape 9"/>
          <p:cNvSpPr/>
          <p:nvPr/>
        </p:nvSpPr>
        <p:spPr>
          <a:xfrm>
            <a:off x="502920" y="4251960"/>
            <a:ext cx="11185855" cy="0"/>
          </a:xfrm>
          <a:prstGeom prst="line">
            <a:avLst/>
          </a:prstGeom>
          <a:noFill/>
          <a:ln w="9525">
            <a:solidFill>
              <a:srgbClr val="DDE3E6"/>
            </a:solidFill>
            <a:prstDash val="solid"/>
          </a:ln>
        </p:spPr>
      </p:sp>
      <p:sp>
        <p:nvSpPr>
          <p:cNvPr id="12" name="Text 10"/>
          <p:cNvSpPr txBox="1"/>
          <p:nvPr/>
        </p:nvSpPr>
        <p:spPr>
          <a:xfrm>
            <a:off x="502920" y="4498848"/>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Alcance</a:t>
            </a:r>
            <a:endParaRPr lang="en-US" sz="1700" dirty="0"/>
          </a:p>
        </p:txBody>
      </p:sp>
      <p:sp>
        <p:nvSpPr>
          <p:cNvPr id="13" name="Text 11"/>
          <p:cNvSpPr txBox="1"/>
          <p:nvPr/>
        </p:nvSpPr>
        <p:spPr>
          <a:xfrm>
            <a:off x="2788920" y="44988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El coste no incluye peajes ni cargos: las cifras son comparativas, no de facturación</a:t>
            </a:r>
            <a:endParaRPr lang="en-US" sz="1300" dirty="0"/>
          </a:p>
        </p:txBody>
      </p:sp>
      <p:sp>
        <p:nvSpPr>
          <p:cNvPr id="14" name="Text 12"/>
          <p:cNvSpPr txBox="1"/>
          <p:nvPr/>
        </p:nvSpPr>
        <p:spPr>
          <a:xfrm>
            <a:off x="2788920" y="49560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Los umbrales y la reserva del 60 % están ajustados a esta instalación: otra exigiría recalibrarlos</a:t>
            </a:r>
            <a:endParaRPr lang="en-US" sz="1300" dirty="0"/>
          </a:p>
        </p:txBody>
      </p:sp>
      <p:sp>
        <p:nvSpPr>
          <p:cNvPr id="15" name="Text 13"/>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CONCLUSIONES  ·  7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FFFFFF"/>
                </a:solidFill>
                <a:latin typeface="Cambria" pitchFamily="34" charset="0"/>
                <a:ea typeface="Cambria" pitchFamily="34" charset="-122"/>
                <a:cs typeface="Cambria" pitchFamily="34" charset="-120"/>
              </a:rPr>
              <a:t>Conclusiones</a:t>
            </a:r>
            <a:endParaRPr lang="en-US" sz="2600" dirty="0"/>
          </a:p>
        </p:txBody>
      </p:sp>
      <p:sp>
        <p:nvSpPr>
          <p:cNvPr id="4" name="Text 2"/>
          <p:cNvSpPr txBox="1"/>
          <p:nvPr/>
        </p:nvSpPr>
        <p:spPr>
          <a:xfrm>
            <a:off x="502920" y="1627632"/>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960120" y="1627632"/>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Dos modelos de previsión validados, corregidos y desplegados</a:t>
            </a:r>
            <a:endParaRPr lang="en-US" sz="1900" dirty="0"/>
          </a:p>
        </p:txBody>
      </p:sp>
      <p:sp>
        <p:nvSpPr>
          <p:cNvPr id="6" name="Text 4"/>
          <p:cNvSpPr txBox="1"/>
          <p:nvPr/>
        </p:nvSpPr>
        <p:spPr>
          <a:xfrm>
            <a:off x="960120" y="2048256"/>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La señal combinada supera a la línea base en solar y en precio, y es la que consume el EMS</a:t>
            </a:r>
            <a:endParaRPr lang="en-US" sz="1300" dirty="0"/>
          </a:p>
        </p:txBody>
      </p:sp>
      <p:sp>
        <p:nvSpPr>
          <p:cNvPr id="7" name="Text 5"/>
          <p:cNvSpPr txBox="1"/>
          <p:nvPr/>
        </p:nvSpPr>
        <p:spPr>
          <a:xfrm>
            <a:off x="502920" y="2761488"/>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960120" y="2761488"/>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Tres gestores comparados sobre la misma instalación</a:t>
            </a:r>
            <a:endParaRPr lang="en-US" sz="1900" dirty="0"/>
          </a:p>
        </p:txBody>
      </p:sp>
      <p:sp>
        <p:nvSpPr>
          <p:cNvPr id="9" name="Text 7"/>
          <p:cNvSpPr txBox="1"/>
          <p:nvPr/>
        </p:nvSpPr>
        <p:spPr>
          <a:xfrm>
            <a:off x="960120" y="3182112"/>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B mejora el servicio de hidrógeno; C reduce un 13,9 % el coste semanal en los veinte casos</a:t>
            </a:r>
            <a:endParaRPr lang="en-US" sz="1300" dirty="0"/>
          </a:p>
        </p:txBody>
      </p:sp>
      <p:sp>
        <p:nvSpPr>
          <p:cNvPr id="10" name="Text 8"/>
          <p:cNvSpPr txBox="1"/>
          <p:nvPr/>
        </p:nvSpPr>
        <p:spPr>
          <a:xfrm>
            <a:off x="502920" y="3895344"/>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960120" y="3895344"/>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Una cadena de medida que atribuye la mejora</a:t>
            </a:r>
            <a:endParaRPr lang="en-US" sz="1900" dirty="0"/>
          </a:p>
        </p:txBody>
      </p:sp>
      <p:sp>
        <p:nvSpPr>
          <p:cNvPr id="12" name="Text 10"/>
          <p:cNvSpPr txBox="1"/>
          <p:nvPr/>
        </p:nvSpPr>
        <p:spPr>
          <a:xfrm>
            <a:off x="960120" y="4315968"/>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47,1 € del uso de la batería, 5,1 de la programación, 0,00 de la red de precio</a:t>
            </a:r>
            <a:endParaRPr lang="en-US" sz="1300" dirty="0"/>
          </a:p>
        </p:txBody>
      </p:sp>
      <p:sp>
        <p:nvSpPr>
          <p:cNvPr id="13" name="Shape 11"/>
          <p:cNvSpPr/>
          <p:nvPr/>
        </p:nvSpPr>
        <p:spPr>
          <a:xfrm>
            <a:off x="502920" y="5029200"/>
            <a:ext cx="11185855" cy="749808"/>
          </a:xfrm>
          <a:prstGeom prst="roundRect">
            <a:avLst>
              <a:gd name="adj" fmla="val 7317"/>
            </a:avLst>
          </a:prstGeom>
          <a:solidFill>
            <a:srgbClr val="1C4E63"/>
          </a:solidFill>
          <a:ln/>
        </p:spPr>
      </p:sp>
      <p:sp>
        <p:nvSpPr>
          <p:cNvPr id="14" name="Text 12"/>
          <p:cNvSpPr txBox="1"/>
          <p:nvPr/>
        </p:nvSpPr>
        <p:spPr>
          <a:xfrm>
            <a:off x="777240" y="5065776"/>
            <a:ext cx="10637215" cy="676656"/>
          </a:xfrm>
          <a:prstGeom prst="rect">
            <a:avLst/>
          </a:prstGeom>
          <a:noFill/>
          <a:ln/>
        </p:spPr>
        <p:txBody>
          <a:bodyPr wrap="square" lIns="0" tIns="0" rIns="0" bIns="0" rtlCol="0" anchor="ctr"/>
          <a:lstStyle/>
          <a:p>
            <a:pPr indent="0" marL="0">
              <a:lnSpc>
                <a:spcPct val="110000"/>
              </a:lnSpc>
              <a:buNone/>
            </a:pPr>
            <a:r>
              <a:rPr lang="en-US" sz="1250" dirty="0">
                <a:solidFill>
                  <a:srgbClr val="C4D6E0"/>
                </a:solidFill>
                <a:latin typeface="Calibri" pitchFamily="34" charset="0"/>
                <a:ea typeface="Calibri" pitchFamily="34" charset="-122"/>
                <a:cs typeface="Calibri" pitchFamily="34" charset="-120"/>
              </a:rPr>
              <a:t>Líneas futuras: aislar la previsión solar · objetivo de inventario del tanque previo al día nublado · modelo de degradación de la batería · control predictivo a 48 h, donde el mercado ya no está publicado</a:t>
            </a:r>
            <a:endParaRPr lang="en-US" sz="1250" dirty="0"/>
          </a:p>
        </p:txBody>
      </p:sp>
      <p:sp>
        <p:nvSpPr>
          <p:cNvPr id="15" name="Text 13"/>
          <p:cNvSpPr txBox="1"/>
          <p:nvPr/>
        </p:nvSpPr>
        <p:spPr>
          <a:xfrm>
            <a:off x="502920" y="5943600"/>
            <a:ext cx="11185855" cy="384048"/>
          </a:xfrm>
          <a:prstGeom prst="rect">
            <a:avLst/>
          </a:prstGeom>
          <a:noFill/>
          <a:ln/>
        </p:spPr>
        <p:txBody>
          <a:bodyPr wrap="square" lIns="0" tIns="0" rIns="0" bIns="0" rtlCol="0" anchor="ctr"/>
          <a:lstStyle/>
          <a:p>
            <a:pPr algn="ctr" indent="0" marL="0">
              <a:buNone/>
            </a:pPr>
            <a:r>
              <a:rPr lang="en-US" sz="1600" b="1" i="1" dirty="0">
                <a:solidFill>
                  <a:srgbClr val="FFFFFF"/>
                </a:solidFill>
                <a:latin typeface="Cambria" pitchFamily="34" charset="0"/>
                <a:ea typeface="Cambria" pitchFamily="34" charset="-122"/>
                <a:cs typeface="Cambria" pitchFamily="34" charset="-120"/>
              </a:rPr>
              <a:t>Muchas gracias por su atención</a:t>
            </a:r>
            <a:endParaRPr lang="en-US" sz="160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6B87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2743200"/>
            <a:ext cx="1118585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Diapositivas de reserva</a:t>
            </a:r>
            <a:endParaRPr lang="en-US" sz="3400" dirty="0"/>
          </a:p>
        </p:txBody>
      </p:sp>
      <p:sp>
        <p:nvSpPr>
          <p:cNvPr id="3" name="Text 1"/>
          <p:cNvSpPr txBox="1"/>
          <p:nvPr/>
        </p:nvSpPr>
        <p:spPr>
          <a:xfrm>
            <a:off x="1097280" y="3703320"/>
            <a:ext cx="9997135" cy="640080"/>
          </a:xfrm>
          <a:prstGeom prst="rect">
            <a:avLst/>
          </a:prstGeom>
          <a:noFill/>
          <a:ln/>
        </p:spPr>
        <p:txBody>
          <a:bodyPr wrap="square" lIns="0" tIns="0" rIns="0" bIns="0" rtlCol="0" anchor="ctr"/>
          <a:lstStyle/>
          <a:p>
            <a:pPr algn="ctr" indent="0" marL="0">
              <a:lnSpc>
                <a:spcPct val="120000"/>
              </a:lnSpc>
              <a:buNone/>
            </a:pPr>
            <a:r>
              <a:rPr lang="en-US" sz="1300" dirty="0">
                <a:solidFill>
                  <a:srgbClr val="A9C2D0"/>
                </a:solidFill>
                <a:latin typeface="Calibri" pitchFamily="34" charset="0"/>
                <a:ea typeface="Calibri" pitchFamily="34" charset="-122"/>
                <a:cs typeface="Calibri" pitchFamily="34" charset="-120"/>
              </a:rPr>
              <a:t>R1 semana completa con la Versión C   ·   R2 día nublado hora a hora   ·   R3 nivel del tanque en la semana nublada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R1</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Una semana completa con la Versión C</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Escenario laborable soleado, semilla 1</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Potencias en el bus de alterna · precio horario · SOC con la reserva del 60 % · nivel de los dos tanques.</a:t>
            </a:r>
            <a:endParaRPr lang="en-US" sz="1200" dirty="0"/>
          </a:p>
        </p:txBody>
      </p:sp>
      <p:pic>
        <p:nvPicPr>
          <p:cNvPr id="7" name="Image 0" descr="img/fig_res_panorama.png">    </p:cNvPr>
          <p:cNvPicPr>
            <a:picLocks noChangeAspect="1"/>
          </p:cNvPicPr>
          <p:nvPr/>
        </p:nvPicPr>
        <p:blipFill>
          <a:blip r:embed="rId1"/>
          <a:stretch>
            <a:fillRect/>
          </a:stretch>
        </p:blipFill>
        <p:spPr>
          <a:xfrm>
            <a:off x="4712377" y="640080"/>
            <a:ext cx="6973181" cy="5577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R2</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 día del escenario nublado, hora a hora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En C la batería baja hasta la reserva alimentando al electrolizador y la importación desaparece; en A la batería se mantiene llena y el electrolizador consume red.</a:t>
            </a:r>
            <a:endParaRPr lang="en-US" sz="1200" dirty="0"/>
          </a:p>
        </p:txBody>
      </p:sp>
      <p:pic>
        <p:nvPicPr>
          <p:cNvPr id="7" name="Image 0" descr="img/fig_res_dia_nublado.png">    </p:cNvPr>
          <p:cNvPicPr>
            <a:picLocks noChangeAspect="1"/>
          </p:cNvPicPr>
          <p:nvPr/>
        </p:nvPicPr>
        <p:blipFill>
          <a:blip r:embed="rId1"/>
          <a:stretch>
            <a:fillRect/>
          </a:stretch>
        </p:blipFill>
        <p:spPr>
          <a:xfrm>
            <a:off x="4712818" y="640080"/>
            <a:ext cx="6972300" cy="5577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R3</a:t>
            </a:r>
            <a:endParaRPr lang="en-US" sz="1000" dirty="0"/>
          </a:p>
        </p:txBody>
      </p:sp>
      <p:sp>
        <p:nvSpPr>
          <p:cNvPr id="3" name="Text 1"/>
          <p:cNvSpPr txBox="1"/>
          <p:nvPr/>
        </p:nvSpPr>
        <p:spPr>
          <a:xfrm>
            <a:off x="502920" y="585216"/>
            <a:ext cx="11185855" cy="457200"/>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Nivel del tanque de alta en la semana nublada</a:t>
            </a:r>
            <a:endParaRPr lang="en-US" sz="2400" dirty="0"/>
          </a:p>
        </p:txBody>
      </p:sp>
      <p:sp>
        <p:nvSpPr>
          <p:cNvPr id="4" name="Text 2"/>
          <p:cNvSpPr txBox="1"/>
          <p:nvPr/>
        </p:nvSpPr>
        <p:spPr>
          <a:xfrm>
            <a:off x="502920" y="1060704"/>
            <a:ext cx="11185855" cy="292608"/>
          </a:xfrm>
          <a:prstGeom prst="rect">
            <a:avLst/>
          </a:prstGeom>
          <a:noFill/>
          <a:ln/>
        </p:spPr>
        <p:txBody>
          <a:bodyPr wrap="square" lIns="0" tIns="0" rIns="0" bIns="0" rtlCol="0" anchor="ctr"/>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pic>
        <p:nvPicPr>
          <p:cNvPr id="5" name="Image 0" descr="img/fig_res_tanque_nublado.png">    </p:cNvPr>
          <p:cNvPicPr>
            <a:picLocks noChangeAspect="1"/>
          </p:cNvPicPr>
          <p:nvPr/>
        </p:nvPicPr>
        <p:blipFill>
          <a:blip r:embed="rId1"/>
          <a:stretch>
            <a:fillRect/>
          </a:stretch>
        </p:blipFill>
        <p:spPr>
          <a:xfrm>
            <a:off x="952348" y="1463040"/>
            <a:ext cx="10287000" cy="4114800"/>
          </a:xfrm>
          <a:prstGeom prst="rect">
            <a:avLst/>
          </a:prstGeom>
        </p:spPr>
      </p:pic>
      <p:sp>
        <p:nvSpPr>
          <p:cNvPr id="6" name="Text 3"/>
          <p:cNvSpPr txBox="1"/>
          <p:nvPr/>
        </p:nvSpPr>
        <p:spPr>
          <a:xfrm>
            <a:off x="502920" y="5687568"/>
            <a:ext cx="11185855" cy="548640"/>
          </a:xfrm>
          <a:prstGeom prst="rect">
            <a:avLst/>
          </a:prstGeom>
          <a:noFill/>
          <a:ln/>
        </p:spPr>
        <p:txBody>
          <a:bodyPr wrap="square" lIns="0" tIns="0" rIns="0" bIns="0" rtlCol="0" anchor="ctr"/>
          <a:lstStyle/>
          <a:p>
            <a:pPr indent="0" marL="0">
              <a:lnSpc>
                <a:spcPct val="110000"/>
              </a:lnSpc>
              <a:buNone/>
            </a:pP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Defensa TFG - EMS estacion multi-energia</dc:title>
  <dc:subject>PptxGenJS Presentation</dc:subject>
  <dc:creator>Fernando Roman Hidalgo</dc:creator>
  <cp:lastModifiedBy>Fernando Roman Hidalgo</cp:lastModifiedBy>
  <cp:revision>1</cp:revision>
  <dcterms:created xsi:type="dcterms:W3CDTF">2026-09-16T21:58:04Z</dcterms:created>
  <dcterms:modified xsi:type="dcterms:W3CDTF">2026-09-16T21:58:04Z</dcterms:modified>
</cp:coreProperties>
</file>