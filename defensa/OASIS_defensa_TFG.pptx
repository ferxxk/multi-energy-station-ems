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Gracias, presidente.
Soy Fernando Román Hidalgo y presento el Trabajo Fin de Grado «Estrategias de gestión energética para una estación de repostaje multi-energía», dirigido por el catedrático Miguel Ángel Ridao Carlini, del Departamento de Ingeniería de Sistemas y Automática.
La charla tiene tres movimientos: el planteamiento y los datos, los dos modelos de predicción, y los tres gestores de energía que comparo.
— — — — —
NO SE DICE · objetivo 0:29 · No leas el título: ya está en pantalla. Anuncia la estructura y levanta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transporte es una cuarta parte de las emisiones de gases de efecto invernadero de la Unión, y casi tres cuartas partes de esa fracción son transporte por carretera. Es uno de los focos que el Pacto Verde Europeo tiene que cerrar para dos mil cincuenta.
El marco regulatorio ya pone fechas. La Hoja de Ruta del Hidrógeno española fija entre cien y ciento cincuenta hidrogeneras públicas para dos mil treinta, y sitúa los corredores de repostaje verde como línea prioritaria. El PNIEC fija cinco millones y medio de vehículos eléctricos para esa misma fecha, y el reglamento europeo AFIR convierte el despliegue de recarga en objetivos vinculantes.
El problema es esa fragmentación: cada vector arrastra hoy su propia infraestructura y su propia inversión.
Y ya hay precedentes de integrarlas. Repsol inauguró en enero de dos mil veinticinco la estación de Morro Jable, en Fuerteventura: fotovoltaica, baterías, pila de hidrógeno y recarga eléctrica. Es prácticamente la combinación de componentes de OASIS, a menor escala y sin electrolizador propio.
Con esa integración el reto deja de ser de dimensionamiento y pasa a ser de operación: decidir, en cada instante, de dónde sale cada kilovatio.
— — — — —
NO SE DICE · objetivo 1:26 · Las dos referencias que demuestran que has investigado —H2ME y Morro Jable— van habladas, no en pantalla. Morro Jable es tu mejor baza: casi los mismos componentes que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instalación: la microrred OASIS del departamento, modelada en Simulink sobre la librería Simugrid. Quinientos kilovatios pico de fotovoltaica en marquesina, una batería de un megavatio-hora, un electrolizador PEM de doscientos kilovatios, dos tanques de hidrógeno a distinta presión con su compresor, una pila de combustible y dos cargadores rápidos.
El caso base con el que se ha dimensionado es el panorama actual proyectado a dos mil treinta, el de las cifras de la diapositiva anterior, y no un escenario de penetración masiva.
De todas estas cifras, dos están dimensionadas en este trabajo y no heredadas: la potencia del cargador y su número. Las justifico enseguida con los datos de demanda.
— — — — —
NO SE DICE · objetivo 0:51 · No recites la tabla: está en pantalla. Lo que aportas hablando es la distinción entre heredado y dimensionado.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gestor de energía es este único bloque de Simulink, y toma tres decisiones.
Cuando sobra sol, cómo repartir el excedente entre cargar la batería y producir hidrógeno. Cuando falta, en qué orden cubrir el déficit: batería, pila, red. Y en todo momento, si conviene producir hidrógeno o reponerlo desde fuera, comparando el coste del kilogramo producido aquí con su precio de reposición.
Todas las versiones que voy a comparar mantienen exactamente esta firma. Cambia el script del bloque de decisión y nada más: el mismo modelo físico, los mismos perfiles de entrada, la misma semilla de demanda.
Y el objetivo del trabajo no es solo mejorar ese gestor, sino poder atribuir la mejora: cuánto viene de la predicción y cuánto de las reglas que la consumen.
— — — — —
NO SE DICE · objetivo 0:56 · «Solo cambia el bloque de decisión» es tu primer blindaje metodológico.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bloque de datos sirve para dimensionar, y fija dos parámetros de la instalación.
La fuente es DESL-EPFL, sesiones reales de carga rápida: casi mil novecientas válidas, con una energía media de treinta y dos kilovatios-hora. La contrasto con Caltech, que es carga lenta, para comprobar que son familias distintas.
De ahí salen las dos decisiones. Los cincuenta kilovatios del cargador, que es el estándar europeo de carga rápida en continua y que con la energía media cubren una sesión en unos cuarenta minutos, sin exigir transformador de media tensión. Y que los cargadores sean dos, por teoría de colas sobre la hora punta: con dos, la espera se mantiene acotada.
Dimensiono sobre el panorama actual a propósito: es el escenario del que hay datos reales, y escalar hacia arriba siempre es más fácil que hacia abajo, más aún con una arquitectura modular como esta.
Con esas mismas distribuciones se genera el perfil de demanda de cada simulación. Es estocástico, y eso importará en la comparación.
— — — — —
NO SE DICE · objetivo 1:15 · Este bloque es trabajo tuyo de principio a fin. Cuéntalo con calma: es lo que justifica que la instalación sea creíble.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bloque es el de entrenamiento, y son dos fuentes públicas alineadas hora a hora.
Para la irradiancia, NASA POWER, que es un reanálisis meteorológico: de ahí saco, para el punto de Sevilla, casi veinte años de registro horario y las variables que explican la nubosidad. Un detalle que merece la pena: la hora y el día no entran como un número, sino codificados en seno y coseno, para que el modelo sepa que las once y las doce de la noche son contiguas y no los dos extremos de una escala.
Para el precio, las casaciones del mercado diario español a través de ENTSO-E. Además del histórico, entra el contexto que explica su deriva: sobre todo la capacidad fotovoltaica instalada en España, que ha crecido lo suficiente como para cambiar la forma del precio a mediodía.
Y un detalle que importa: el reparto entre entrenamiento y prueba es temporal, nunca aleatorio. Mezclar horas le regalaría al modelo información del futuro.
— — — — —
NO SE DICE · objetivo 1:12 · La frase del split es la que te compra credibilidad con un tribunal que sabe de aprendizaje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redes comparten arquitectura: dos capas LSTM apiladas, de ciento veintiocho y sesenta y cuatro unidades, con dropout, capa densa y salida de veinticuatro valores, que es el horizonte de un día.
Las dos se entrenan con Adam y paran por criterio de validación: la solar en la época veintiuno de trescientas, la de precio en la veintinueve de doscientas. En pantalla, la curva de RMSE: azul entrenamiento, negro validación. No se separan: no hay sobreajuste.
Una diferencia que sí importa: el modelo solar puede imponer que la irradiancia predicha no sea negativa. El de precio no, porque el precio spot admite negativos, y eso obliga después a un tratamiento distinto.
— — — — —
NO SE DICE · objetivo 0:50 · Rápida. Es la diapositiva de «así están hechas», no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aquí está el resultado que determina lo que finalmente se despliega.
Las dos redes se evalúan contra líneas base no triviales: la solar contra la persistencia de cielo claro, la de precio contra la persistencia de veinticuatro horas, que es la referencia mínima que exigen las guías del campo. Ninguna la bate en el agregado de veinticuatro horas: la solar queda un ocho coma ocho por ciento por detrás, la de precio un siete coma uno.
El diagnóstico es distinto en cada una. La solar predice irradiancia en bruto y tiene que reconstruir la geometría solar que la línea base recibe gratis: aporta hasta la cuarta hora y pierde después. La de precio ha aprendido el perfil calendario-solar, que es justo lo que la persistencia reproduce sin coste.
Y detecté y corregí una realimentación del buffer de precio que degradaba el error un veintisiete coma siete por ciento. Todas las cifras de esta defensa son posteriores a esa corrección.
— — — — —
NO SE DICE · objetivo 1:12 · Presentar esto como resultado medido, no como fallo. Es lo que demuestra que validaste contra la referencia correcta.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tiene tres partes, y ninguna exige reentrenar.
La primera es física: proyectar la predicción sobre la envolvente de cielo claro, es decir, no permitir que la irradiancia prevista supere a la de cielo despejado. Con eso el error diurno baja alrededor de un seis por ciento.
La segunda es la que da nombre a la diapositiva: ponderar la red con su propia línea base. Una combinación convexa con un peso distinto por cada hora del horizonte, ajustado sobre validación, nunca sobre test. Los dos predictores cometen errores poco correlacionados —la red captura el perfil, la persistencia el nivel del día— y esa es la situación en la que combinar aporta. El resultado: más cinco coma ocho por ciento en solar y más seis coma seis en precio.
Y la tercera es la corrección del lazo cerrado, realimentando con el precio real de la hora ya transcurrida, que sigue siendo estrictamente causal.
— — — — —
NO SE DICE · objetivo 1:08 · Esta es la diapositiva que cierra el bloque de redes. Deja claro que lo desplegado es la señal combinada.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comparar los gestores hacen falta escenarios, y no los elegí al azar: cruzan las dos variables que gobiernan la decisión del EMS, recurso solar y régimen de precio.
Un laborable soleado con precio plano. Un laborable nublado, con índice de claridad de cero coma treinta y seis y punta de ciento noventa y cuatro euros el megavatio-hora, que es el caso sin excedente. Un fin de semana soleado con precio casi nulo a mediodía. Y el día de mayor diferencial de dos mil veinticinco, de veinticuatro a doscientos cincuenta y dos euros.
Y cada uno se repite con varias semillas del generador de demanda, porque la demanda es estocástica.
— — — — —
NO SE DICE · objetivo 0:49 · Enlaza directa con la siguiente: «y esas semillas son la clave de cómo comparo».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las cifras, las cuatro piezas que las sostienen.
La primera es la comparación pareada, que es lo que ven en el esquema: la semilla ene genera el mismo perfil de demanda en todas las versiones, así que la diferencia se calcula par a par. El ruido de la demanda se cancela en la resta y el contraste gana potencia. Veinte pares: cuatro escenarios por cinco semillas.
La segunda es el test de Wilcoxon, de rangos con signo. Empecé con un t-test y lo abandoné: tres semillas del escenario nublado dominaban la media, con medias hasta veinte veces la mediana. El contraste describía esas tres tiradas, no a la población.
La tercera es un umbral de relevancia económica. Medí la dispersión del coste de la propia referencia entre grupos de semillas: nueve euros con treinta y tres por semana. Una diferencia significativa por debajo de eso la declaro operativamente nula, y lo fijé antes de simular.
Y la cuarta es el oráculo: repetir una tanda con la previsión perfecta. No es desplegable, es una cota superior. Si con error cero una estrategia no gana, ninguna mejora de la previsión va a hacer que gane.
— — — — —
NO SE DICE · objetivo 1:27 · Ritmo pausado, una pieza cada vez. Es la diapositiva que te compra credibilidad para todo el bloque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 gestor, la Versión A, es la referencia: viene del TFM previo del grupo y lo he portado a esta arquitectura.
Quiero insistir en lo que ya trae, porque condiciona cómo se lee todo lo demás. Reparto dinámico de potencia entre batería y electrolizador por tramos de estado de carga. Tiempo mínimo de funcionamiento de dos horas con histéresis y anti-rebote, para que los equipos electroquímicos no conmuten cada pocos minutos. La gestión de los dos niveles de presión con su compresor. Y una decisión económica de producir hidrógeno frente a reponerlo fuera.
Es decir, ya tiene los mecanismos que distinguen a un gestor de reglas maduro de un reparto por prioridades. Lo que no tiene es ninguna predicción.
— — — — —
NO SE DICE · objetivo 0:54 · Si el tribunal no retiene esto, el 14 % del final parecerá fácil. Insiste.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Versión B añade las dos previsiones donde la heurística ya decidía: la solar desplaza el reparto cuando anticipa que va a caer el excedente, y la de precio gobierna un arbitraje de batería.
Y tiene una victoria clara: el servicio de hidrógeno. Mantiene el tanque de alta más lleno y pasa menos tiempo en nivel crítico, en treinta y nueve de cuarenta pares. Y escala con la calidad de la previsión: con oráculo se multiplica por diez. El mecanismo funciona; lo que limita es la previsión, no el diseño.
En coste empata: trece céntimos sobre un recibo diario de unos cuarenta y cinco euros, y tampoco gana con previsión perfecta.
De ahí sale la regla de diseño que aplico después: una primera implementación que traducía «el precio va a subir» en una acción de magnitud fija empeoraba el coste, y más cuanto mejor era la previsión. La acción tiene que estar condicionada y su magnitud salir del margen económico.
— — — — —
NO SE DICE · objetivo 1:11 · Tono de quien informa. B tiene su victoria y la cuentas primero; el empate en coste viene después y sin disculpas.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descomponer la importación de la Versión A por destinos aparece esto, y es lo que motiva el tercer gestor. Fíjense solo en la primera barra: las otras dos son la Versión C, que veremos enseguida.
De los mil trescientos veintiún kilovatios-hora que la referencia compra a la red en una semana, mil seis —el setenta y seis por ciento— van al electrolizador, a ciento veintiuno con cinco euros el megavatio-hora. Los vehículos son el veintiuno por ciento.
Y en los instantes exactos en que compra esa energía, la batería está al ochenta y cinco por ciento de carga de media, y nunca baja del sesenta y nueve.
El motivo está en el orden del código: en la rama de déficit la batería cubre los vehículos y, en un paso posterior, la decisión económica enciende el electrolizador; esa carga nueva no se le vuelve a ofrecer a la batería, así que la absorbe la red. Toda la información necesaria ya estaba en las entradas.
— — — — —
NO SE DICE · objetivo 1:14 · Sobrio. Es un diagnóstico de ingeniería, no una revelación. Deja aire entre las tres cifras y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Versión C separa dos decisiones que la heurística tomaba juntas: de dónde sale la energía del electrolizador y cuándo conviene producir. Cada cambio tiene su interruptor.
El primero son diez líneas. En la rama de déficit, la carga que crea la decisión de producir hidrógeno se ofrece a la batería antes que a la red, mientras el estado de carga esté por encima de una reserva del sesenta por ciento. Ese sesenta sale del contrafactual: con ese piso, el setenta y nueve por ciento de esa importación podía haber salido de la batería. Y no consume ninguna previsión.
El segundo es un planificador: se estima cuánto hidrógeno falta y cuánto excedente gratis va a haber, y se produce si la hora actual está entre las ene más baratas del horizonte.
Lo que hace defendible esta regla es que solo usa el orden de los precios: contar cuántas horas futuras son más baratas es invariante a cualquier transformación monótona de la previsión.
— — — — —
NO SE DICE · objetivo 1:12 · La invariancia monótona es el argumento más elegante del trabajo. Dilo despacio.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resultados de la Versión C, sobre siete días y veinte pares escenario-semilla.
Coste total con hidrógeno: menos cincuenta y dos euros con tres por semana, un trece coma nueve por ciento, y gana en los veinte pares, con una p por debajo de una diezmilésima. Cinco veces el umbral de relevancia. Importa un cincuenta y cuatro por ciento menos y la autosuficiencia sube del ochenta y siete coma siete al noventa y cuatro coma tres.
En la figura, cada línea une los dos miembros de un par. Mejora en los cuatro escenarios, y se ahorra más donde más caro compraba el electrolizador.
Y la mejora tiene un precio, que declaro aquí mismo: la batería cicla dos coma dos veces más, con la degradación sin modelar, y el hidrógeno no servido pasa de cero coma ocho a tres coma uno kilogramos por semana en el nublado. Está dentro de la métrica de coste, pero es un dato de operación.
— — — — —
NO SE DICE · objetivo 1:11 · El contrapeso va en la misma diapositiva y lo dices tú. No lo dejes para que lo pregunten.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como cada mecanismo tiene su interruptor, la mejora se puede atribuir pieza a pieza. Tres tandas, el mismo fichero, los mismos veinte pares. C-cero es solo el primer cambio; C-pe le añade el planificador con el precio ya publicado; y C es la versión completa.
Alimentar el electrolizador desde la batería, solo eso: menos cuarenta y siete euros con uno. El noventa por ciento del ahorro, en veinte de veinte pares.
Añadir la programación de las horas: cinco euros con uno más. Significativa, pero por debajo de mi umbral de relevancia, así que la declaro como tal. El mecanismo no es comprar más barato, sino comprar menos.
Y añadir la red neuronal de precio: cero. Las dos tandas salen idénticas a precisión de máquina en los cuarenta indicadores. La razón es de disponibilidad de información: el mercado diario publica a las trece horas el precio del día siguiente, así que entre once y treinta y cinco horas del horizonte no hay nada que predecir.
— — — — —
NO SE DICE · objetivo 1:14 · Sin dramatizar el cero. Es un dato de la atribución, y la atribución es la aportación metodológica del trabajo. SI TE ATACAN EL TÍTULO («habla de LSTM y el 90 % no la usa»): el título dice CUANTIFICAR la mejora de la predicción, y cuantificar incluye que salga pequeña. B sí usa previsión y sí mejora, pero en servicio de hidrógeno, no en coste. Ver pregunta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agrupadas por a qué afectan.
Del modelo físico: los tanques usan gas ideal, que a seiscientos bar sobrestima un cuarenta y cinco por ciento la masa, así que la autonomía simulada es optimista; y la pila de combustible no arranca en ninguna simulación, de modo que el modo isla queda sin ejercitar.
De los datos: la irradiancia viene de un reanálisis que no está disponible en tiempo real, y la demanda de hidrógeno se aproxima por analogía con la de vehículos eléctricos.
Y de alcance: el coste no incluye peajes ni cargos, así que las cifras son comparativas; y la referencia es una implementación concreta, no un algoritmo establecido.
— — — — —
NO SE DICE · objetivo 0:49 · Rápido y sin dramatizar. Cada una de estas seis es una pregunta que el tribunal ya no necesita hacerte. SI PREGUNTAN POR EL GAS IDEAL: la cifra exacta con tablas NIST es 40 %, no 45 (Z = 1,40 a 600 bar y 15 °C); el 45 sale de interpolar entre dos densidades publicadas. Dala tú. SI PREGUNTAN POR LA PILA: el bloque tiene 120 celdas de 600 cm² y 600 A; su curva de polarización da el máximo en ~156 A y son unos 11 kW, no los 130 del criterio de diseño. No contamina ningún resultado porque la pila no arranca nunca, pero el modo isla no está cubierto ni sobre el papel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del trabajo era si una previsión con redes LSTM mejora a un EMS heurístico ya maduro. La respuesta, medida, son estas tres conclusiones.
La primera, sobre las redes: entrené y validé dos modelos contra líneas base no triviales, ninguno las bate por sí solo, y la ponderación con el predictor ingenuo es lo que recupera el resultado. Eso, más la corrección del lazo cerrado, es lo que se despliega.
La segunda, sobre los gestores: tres versiones comparadas sobre la misma instalación. La predictiva mejora la seguridad de suministro de hidrógeno; la final reduce el coste semanal un trece coma nueve por ciento en los veinte casos.
Y la tercera, que da sentido a las otras dos: la cadena de medida permite atribuir esa mejora pieza a pieza. El valor de una previsión depende de en qué decisión se inserte y de qué información no esté ya disponible.
Muchas gracias por su atención. Quedo a su disposición.
— — — — —
NO SE DICE · objetivo 1:10 · Levanta la vista en la tercera conclusión. Cierra con firmeza, sin arrastrar el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Separador. Ten memorizado qué reserva es cuál para no perder tiempo buscándola.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preguntas sobre comportamiento dinámico, la reserva del 60 % o el ciclado de la batería.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explicar el mecanismo de C con un caso concreto.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pregunta sobre el servicio de hidrógeno que empeora. SI PREGUNTAN POR EL NIVEL NEGATIVO: es un artefacto declarado del modelo — los integradores de los tanques no saturan a cero, así que el inventario puede bajar de cero y el modelo sirve un hidrógeno que físicamente no tiene. Ese tramo es exactamente lo que mide el indicador de hidrógeno no servido, que se valora a 8 €/kg dentro de la métrica principal. Activar la saturación queda como corrección pendiente del modelo, y está declarado en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preguntas sobre la calidad de la red de precio y sobre la sub-dispersión.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94A"/>
        </a:solidFill>
      </p:bgPr>
    </p:bg>
    <p:spTree>
      <p:nvGrpSpPr>
        <p:cNvPr id="1" name=""/>
        <p:cNvGrpSpPr/>
        <p:nvPr/>
      </p:nvGrpSpPr>
      <p:grpSpPr>
        <a:xfrm>
          <a:off x="0" y="0"/>
          <a:ext cx="0" cy="0"/>
          <a:chOff x="0" y="0"/>
          <a:chExt cx="0" cy="0"/>
        </a:xfrm>
      </p:grpSpPr>
      <p:sp>
        <p:nvSpPr>
          <p:cNvPr id="2" name="Text 0"/>
          <p:cNvSpPr txBox="1"/>
          <p:nvPr/>
        </p:nvSpPr>
        <p:spPr>
          <a:xfrm>
            <a:off x="822960" y="1143000"/>
            <a:ext cx="8229600" cy="292608"/>
          </a:xfrm>
          <a:prstGeom prst="rect">
            <a:avLst/>
          </a:prstGeom>
          <a:noFill/>
          <a:ln/>
        </p:spPr>
        <p:txBody>
          <a:bodyPr wrap="square" lIns="0" tIns="0" rIns="0" bIns="0" rtlCol="0" anchor="ctr"/>
          <a:lstStyle/>
          <a:p>
            <a:pPr indent="0" marL="0">
              <a:buNone/>
            </a:pPr>
            <a:r>
              <a:rPr lang="en-US" sz="1200" b="1" spc="300" kern="0" dirty="0">
                <a:solidFill>
                  <a:srgbClr val="C8861E"/>
                </a:solidFill>
                <a:latin typeface="Calibri" pitchFamily="34" charset="0"/>
                <a:ea typeface="Calibri" pitchFamily="34" charset="-122"/>
                <a:cs typeface="Calibri" pitchFamily="34" charset="-120"/>
              </a:rPr>
              <a:t>TRABAJO FIN DE GRADO</a:t>
            </a:r>
            <a:endParaRPr lang="en-US" sz="1200" dirty="0"/>
          </a:p>
        </p:txBody>
      </p:sp>
      <p:sp>
        <p:nvSpPr>
          <p:cNvPr id="3" name="Text 1"/>
          <p:cNvSpPr txBox="1"/>
          <p:nvPr/>
        </p:nvSpPr>
        <p:spPr>
          <a:xfrm>
            <a:off x="822960" y="1600200"/>
            <a:ext cx="8778240" cy="1737360"/>
          </a:xfrm>
          <a:prstGeom prst="rect">
            <a:avLst/>
          </a:prstGeom>
          <a:noFill/>
          <a:ln/>
        </p:spPr>
        <p:txBody>
          <a:bodyPr wrap="square" lIns="0" tIns="0" rIns="0" bIns="0" rtlCol="0" anchor="ctr"/>
          <a:lstStyle/>
          <a:p>
            <a:pPr indent="0" marL="0">
              <a:lnSpc>
                <a:spcPct val="106000"/>
              </a:lnSpc>
              <a:buNone/>
            </a:pPr>
            <a:r>
              <a:rPr lang="en-US" sz="3200" b="1" dirty="0">
                <a:solidFill>
                  <a:srgbClr val="FFFFFF"/>
                </a:solidFill>
                <a:latin typeface="Cambria" pitchFamily="34" charset="0"/>
                <a:ea typeface="Cambria" pitchFamily="34" charset="-122"/>
                <a:cs typeface="Cambria" pitchFamily="34" charset="-120"/>
              </a:rPr>
              <a:t>Estrategias de gestión energética para una estación de repostaje multi-energía</a:t>
            </a:r>
            <a:endParaRPr lang="en-US" sz="3200" dirty="0"/>
          </a:p>
        </p:txBody>
      </p:sp>
      <p:sp>
        <p:nvSpPr>
          <p:cNvPr id="4" name="Text 2"/>
          <p:cNvSpPr txBox="1"/>
          <p:nvPr/>
        </p:nvSpPr>
        <p:spPr>
          <a:xfrm>
            <a:off x="822960" y="3429000"/>
            <a:ext cx="8778240" cy="457200"/>
          </a:xfrm>
          <a:prstGeom prst="rect">
            <a:avLst/>
          </a:prstGeom>
          <a:noFill/>
          <a:ln/>
        </p:spPr>
        <p:txBody>
          <a:bodyPr wrap="square" lIns="0" tIns="0" rIns="0" bIns="0" rtlCol="0" anchor="ctr"/>
          <a:lstStyle/>
          <a:p>
            <a:pPr indent="0" marL="0">
              <a:buNone/>
            </a:pPr>
            <a:r>
              <a:rPr lang="en-US" sz="1600" i="1" dirty="0">
                <a:solidFill>
                  <a:srgbClr val="A9C2D0"/>
                </a:solidFill>
                <a:latin typeface="Calibri" pitchFamily="34" charset="0"/>
                <a:ea typeface="Calibri" pitchFamily="34" charset="-122"/>
                <a:cs typeface="Calibri" pitchFamily="34" charset="-120"/>
              </a:rPr>
              <a:t>Cuantificación de la mejora aportada por la predicción con redes LSTM</a:t>
            </a:r>
            <a:endParaRPr lang="en-US" sz="1600" dirty="0"/>
          </a:p>
        </p:txBody>
      </p:sp>
      <p:sp>
        <p:nvSpPr>
          <p:cNvPr id="5" name="Text 3"/>
          <p:cNvSpPr txBox="1"/>
          <p:nvPr/>
        </p:nvSpPr>
        <p:spPr>
          <a:xfrm>
            <a:off x="822960" y="4343400"/>
            <a:ext cx="8778240" cy="1554480"/>
          </a:xfrm>
          <a:prstGeom prst="rect">
            <a:avLst/>
          </a:prstGeom>
          <a:noFill/>
          <a:ln/>
        </p:spPr>
        <p:txBody>
          <a:bodyPr wrap="square" lIns="0" tIns="0" rIns="0" bIns="0" rtlCol="0" anchor="ctr"/>
          <a:lstStyle/>
          <a:p>
            <a:pPr indent="0" marL="0">
              <a:lnSpc>
                <a:spcPct val="128000"/>
              </a:lnSpc>
              <a:buNone/>
            </a:pPr>
            <a:r>
              <a:rPr lang="en-US" sz="1700" b="1" dirty="0">
                <a:solidFill>
                  <a:srgbClr val="FFFFFF"/>
                </a:solidFill>
                <a:latin typeface="Calibri" pitchFamily="34" charset="0"/>
                <a:ea typeface="Calibri" pitchFamily="34" charset="-122"/>
                <a:cs typeface="Calibri" pitchFamily="34" charset="-120"/>
              </a:rPr>
              <a:t>Fernando Román Hidalgo
</a:t>
            </a:r>
            <a:pPr indent="0" marL="0">
              <a:lnSpc>
                <a:spcPct val="128000"/>
              </a:lnSpc>
              <a:buNone/>
            </a:pPr>
            <a:r>
              <a:rPr lang="en-US" sz="1300" dirty="0">
                <a:solidFill>
                  <a:srgbClr val="A9C2D0"/>
                </a:solidFill>
                <a:latin typeface="Calibri" pitchFamily="34" charset="0"/>
                <a:ea typeface="Calibri" pitchFamily="34" charset="-122"/>
                <a:cs typeface="Calibri" pitchFamily="34" charset="-120"/>
              </a:rPr>
              <a:t>Tutor: Miguel Ángel Ridao Carlini · Catedrático de Universidad
</a:t>
            </a:r>
            <a:pPr indent="0" marL="0">
              <a:lnSpc>
                <a:spcPct val="128000"/>
              </a:lnSpc>
              <a:buNone/>
            </a:pPr>
            <a:r>
              <a:rPr lang="en-US" sz="1300" dirty="0">
                <a:solidFill>
                  <a:srgbClr val="A9C2D0"/>
                </a:solidFill>
                <a:latin typeface="Calibri" pitchFamily="34" charset="0"/>
                <a:ea typeface="Calibri" pitchFamily="34" charset="-122"/>
                <a:cs typeface="Calibri" pitchFamily="34" charset="-120"/>
              </a:rPr>
              <a:t>Dpto. de Ingeniería de Sistemas y Automática · ETSI · Universidad de Sevilla
</a:t>
            </a:r>
            <a:pPr indent="0" marL="0">
              <a:lnSpc>
                <a:spcPct val="128000"/>
              </a:lnSpc>
              <a:buNone/>
            </a:pPr>
            <a:r>
              <a:rPr lang="en-US" sz="1300" dirty="0">
                <a:solidFill>
                  <a:srgbClr val="A9C2D0"/>
                </a:solidFill>
                <a:latin typeface="Calibri" pitchFamily="34" charset="0"/>
                <a:ea typeface="Calibri" pitchFamily="34" charset="-122"/>
                <a:cs typeface="Calibri" pitchFamily="34" charset="-120"/>
              </a:rPr>
              <a:t>Grado en Ingeniería Electrónica, Robótica y Mecatrónica</a:t>
            </a:r>
            <a:endParaRPr lang="en-US" sz="1700" dirty="0"/>
          </a:p>
        </p:txBody>
      </p:sp>
      <p:pic>
        <p:nvPicPr>
          <p:cNvPr id="6" name="Image 0" descr="img/US-marca-principal.png">    </p:cNvPr>
          <p:cNvPicPr>
            <a:picLocks noChangeAspect="1"/>
          </p:cNvPicPr>
          <p:nvPr/>
        </p:nvPicPr>
        <p:blipFill>
          <a:blip r:embed="rId1"/>
          <a:stretch>
            <a:fillRect/>
          </a:stretch>
        </p:blipFill>
        <p:spPr>
          <a:xfrm>
            <a:off x="10653231" y="457200"/>
            <a:ext cx="1051089"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PLANTEAMIENTO  ·  1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El marco ya pone fechas; la infraestructura sigue separada por vector</a:t>
            </a:r>
            <a:endParaRPr lang="en-US" sz="2600" dirty="0"/>
          </a:p>
        </p:txBody>
      </p:sp>
      <p:sp>
        <p:nvSpPr>
          <p:cNvPr id="4" name="Text 2"/>
          <p:cNvSpPr txBox="1"/>
          <p:nvPr/>
        </p:nvSpPr>
        <p:spPr>
          <a:xfrm>
            <a:off x="502920" y="1536192"/>
            <a:ext cx="3515258" cy="603504"/>
          </a:xfrm>
          <a:prstGeom prst="rect">
            <a:avLst/>
          </a:prstGeom>
          <a:noFill/>
          <a:ln/>
        </p:spPr>
        <p:txBody>
          <a:bodyPr wrap="square" lIns="0" tIns="0" rIns="0" bIns="0" rtlCol="0" anchor="ctr"/>
          <a:lstStyle/>
          <a:p>
            <a:pPr indent="0" marL="0">
              <a:buNone/>
            </a:pPr>
            <a:r>
              <a:rPr lang="en-US" sz="3400" b="1" dirty="0">
                <a:solidFill>
                  <a:srgbClr val="C8861E"/>
                </a:solidFill>
                <a:latin typeface="Cambria" pitchFamily="34" charset="0"/>
                <a:ea typeface="Cambria" pitchFamily="34" charset="-122"/>
                <a:cs typeface="Cambria" pitchFamily="34" charset="-120"/>
              </a:rPr>
              <a:t>25 %</a:t>
            </a:r>
            <a:endParaRPr lang="en-US" sz="3400" dirty="0"/>
          </a:p>
        </p:txBody>
      </p:sp>
      <p:sp>
        <p:nvSpPr>
          <p:cNvPr id="5" name="Text 3"/>
          <p:cNvSpPr txBox="1"/>
          <p:nvPr/>
        </p:nvSpPr>
        <p:spPr>
          <a:xfrm>
            <a:off x="502920" y="2157984"/>
            <a:ext cx="3515258" cy="868680"/>
          </a:xfrm>
          <a:prstGeom prst="rect">
            <a:avLst/>
          </a:prstGeom>
          <a:noFill/>
          <a:ln/>
        </p:spPr>
        <p:txBody>
          <a:bodyPr wrap="square" lIns="0" tIns="0" rIns="0" bIns="0" rtlCol="0" anchor="t"/>
          <a:lstStyle/>
          <a:p>
            <a:pPr indent="0" marL="0">
              <a:lnSpc>
                <a:spcPct val="112000"/>
              </a:lnSpc>
              <a:buNone/>
            </a:pPr>
            <a:r>
              <a:rPr lang="en-US" sz="1200" dirty="0">
                <a:solidFill>
                  <a:srgbClr val="5F6B72"/>
                </a:solidFill>
                <a:latin typeface="Calibri" pitchFamily="34" charset="0"/>
                <a:ea typeface="Calibri" pitchFamily="34" charset="-122"/>
                <a:cs typeface="Calibri" pitchFamily="34" charset="-120"/>
              </a:rPr>
              <a:t>de las emisiones de gases de efecto invernadero de la UE son del transporte, y el 72 % de ellas del transporte por carretera</a:t>
            </a:r>
            <a:endParaRPr lang="en-US" sz="1200" dirty="0"/>
          </a:p>
        </p:txBody>
      </p:sp>
      <p:sp>
        <p:nvSpPr>
          <p:cNvPr id="6" name="Text 4"/>
          <p:cNvSpPr txBox="1"/>
          <p:nvPr/>
        </p:nvSpPr>
        <p:spPr>
          <a:xfrm>
            <a:off x="4338218" y="1536192"/>
            <a:ext cx="3515258" cy="603504"/>
          </a:xfrm>
          <a:prstGeom prst="rect">
            <a:avLst/>
          </a:prstGeom>
          <a:noFill/>
          <a:ln/>
        </p:spPr>
        <p:txBody>
          <a:bodyPr wrap="square" lIns="0" tIns="0" rIns="0" bIns="0" rtlCol="0" anchor="ctr"/>
          <a:lstStyle/>
          <a:p>
            <a:pPr indent="0" marL="0">
              <a:buNone/>
            </a:pPr>
            <a:r>
              <a:rPr lang="en-US" sz="3400" b="1" dirty="0">
                <a:solidFill>
                  <a:srgbClr val="C8861E"/>
                </a:solidFill>
                <a:latin typeface="Cambria" pitchFamily="34" charset="0"/>
                <a:ea typeface="Cambria" pitchFamily="34" charset="-122"/>
                <a:cs typeface="Cambria" pitchFamily="34" charset="-120"/>
              </a:rPr>
              <a:t>100 – 150</a:t>
            </a:r>
            <a:endParaRPr lang="en-US" sz="3400" dirty="0"/>
          </a:p>
        </p:txBody>
      </p:sp>
      <p:sp>
        <p:nvSpPr>
          <p:cNvPr id="7" name="Text 5"/>
          <p:cNvSpPr txBox="1"/>
          <p:nvPr/>
        </p:nvSpPr>
        <p:spPr>
          <a:xfrm>
            <a:off x="4338218" y="2157984"/>
            <a:ext cx="3515258" cy="868680"/>
          </a:xfrm>
          <a:prstGeom prst="rect">
            <a:avLst/>
          </a:prstGeom>
          <a:noFill/>
          <a:ln/>
        </p:spPr>
        <p:txBody>
          <a:bodyPr wrap="square" lIns="0" tIns="0" rIns="0" bIns="0" rtlCol="0" anchor="t"/>
          <a:lstStyle/>
          <a:p>
            <a:pPr indent="0" marL="0">
              <a:lnSpc>
                <a:spcPct val="112000"/>
              </a:lnSpc>
              <a:buNone/>
            </a:pPr>
            <a:r>
              <a:rPr lang="en-US" sz="1200" dirty="0">
                <a:solidFill>
                  <a:srgbClr val="5F6B72"/>
                </a:solidFill>
                <a:latin typeface="Calibri" pitchFamily="34" charset="0"/>
                <a:ea typeface="Calibri" pitchFamily="34" charset="-122"/>
                <a:cs typeface="Calibri" pitchFamily="34" charset="-120"/>
              </a:rPr>
              <a:t>hidrogeneras públicas previstas en España para 2030, con los corredores de repostaje verde como línea prioritaria</a:t>
            </a:r>
            <a:endParaRPr lang="en-US" sz="1200" dirty="0"/>
          </a:p>
        </p:txBody>
      </p:sp>
      <p:sp>
        <p:nvSpPr>
          <p:cNvPr id="8" name="Text 6"/>
          <p:cNvSpPr txBox="1"/>
          <p:nvPr/>
        </p:nvSpPr>
        <p:spPr>
          <a:xfrm>
            <a:off x="8173517" y="1536192"/>
            <a:ext cx="3515258" cy="603504"/>
          </a:xfrm>
          <a:prstGeom prst="rect">
            <a:avLst/>
          </a:prstGeom>
          <a:noFill/>
          <a:ln/>
        </p:spPr>
        <p:txBody>
          <a:bodyPr wrap="square" lIns="0" tIns="0" rIns="0" bIns="0" rtlCol="0" anchor="ctr"/>
          <a:lstStyle/>
          <a:p>
            <a:pPr indent="0" marL="0">
              <a:buNone/>
            </a:pPr>
            <a:r>
              <a:rPr lang="en-US" sz="3400" b="1" dirty="0">
                <a:solidFill>
                  <a:srgbClr val="C8861E"/>
                </a:solidFill>
                <a:latin typeface="Cambria" pitchFamily="34" charset="0"/>
                <a:ea typeface="Cambria" pitchFamily="34" charset="-122"/>
                <a:cs typeface="Cambria" pitchFamily="34" charset="-120"/>
              </a:rPr>
              <a:t>5,5 M</a:t>
            </a:r>
            <a:endParaRPr lang="en-US" sz="3400" dirty="0"/>
          </a:p>
        </p:txBody>
      </p:sp>
      <p:sp>
        <p:nvSpPr>
          <p:cNvPr id="9" name="Text 7"/>
          <p:cNvSpPr txBox="1"/>
          <p:nvPr/>
        </p:nvSpPr>
        <p:spPr>
          <a:xfrm>
            <a:off x="8173517" y="2157984"/>
            <a:ext cx="3515258" cy="868680"/>
          </a:xfrm>
          <a:prstGeom prst="rect">
            <a:avLst/>
          </a:prstGeom>
          <a:noFill/>
          <a:ln/>
        </p:spPr>
        <p:txBody>
          <a:bodyPr wrap="square" lIns="0" tIns="0" rIns="0" bIns="0" rtlCol="0" anchor="t"/>
          <a:lstStyle/>
          <a:p>
            <a:pPr indent="0" marL="0">
              <a:lnSpc>
                <a:spcPct val="112000"/>
              </a:lnSpc>
              <a:buNone/>
            </a:pPr>
            <a:r>
              <a:rPr lang="en-US" sz="1200" dirty="0">
                <a:solidFill>
                  <a:srgbClr val="5F6B72"/>
                </a:solidFill>
                <a:latin typeface="Calibri" pitchFamily="34" charset="0"/>
                <a:ea typeface="Calibri" pitchFamily="34" charset="-122"/>
                <a:cs typeface="Calibri" pitchFamily="34" charset="-120"/>
              </a:rPr>
              <a:t>vehículos eléctricos en circulación en 2030, con objetivos vinculantes de infraestructura de recarga</a:t>
            </a:r>
            <a:endParaRPr lang="en-US" sz="1200" dirty="0"/>
          </a:p>
        </p:txBody>
      </p:sp>
      <p:sp>
        <p:nvSpPr>
          <p:cNvPr id="10" name="Text 8"/>
          <p:cNvSpPr txBox="1"/>
          <p:nvPr/>
        </p:nvSpPr>
        <p:spPr>
          <a:xfrm>
            <a:off x="502920" y="3072384"/>
            <a:ext cx="11185855" cy="274320"/>
          </a:xfrm>
          <a:prstGeom prst="rect">
            <a:avLst/>
          </a:prstGeom>
          <a:noFill/>
          <a:ln/>
        </p:spPr>
        <p:txBody>
          <a:bodyPr wrap="square" lIns="0" tIns="0" rIns="0" bIns="0" rtlCol="0" anchor="ctr"/>
          <a:lstStyle/>
          <a:p>
            <a:pPr indent="0" marL="0">
              <a:buNone/>
            </a:pPr>
            <a:r>
              <a:rPr lang="en-US" sz="1000" i="1" dirty="0">
                <a:solidFill>
                  <a:srgbClr val="93A2AA"/>
                </a:solidFill>
                <a:latin typeface="Calibri" pitchFamily="34" charset="0"/>
                <a:ea typeface="Calibri" pitchFamily="34" charset="-122"/>
                <a:cs typeface="Calibri" pitchFamily="34" charset="-120"/>
              </a:rPr>
              <a:t>Agencia Europea de Medio Ambiente · Pacto Verde Europeo · Hoja de Ruta del Hidrógeno (MITECO) · PNIEC 2023-2030 · Reglamento europeo AFIR</a:t>
            </a:r>
            <a:endParaRPr lang="en-US" sz="1000" dirty="0"/>
          </a:p>
        </p:txBody>
      </p:sp>
      <p:sp>
        <p:nvSpPr>
          <p:cNvPr id="11" name="Shape 9"/>
          <p:cNvSpPr/>
          <p:nvPr/>
        </p:nvSpPr>
        <p:spPr>
          <a:xfrm>
            <a:off x="502920" y="3438144"/>
            <a:ext cx="11185855" cy="0"/>
          </a:xfrm>
          <a:prstGeom prst="line">
            <a:avLst/>
          </a:prstGeom>
          <a:noFill/>
          <a:ln w="9525">
            <a:solidFill>
              <a:srgbClr val="DDE3E6"/>
            </a:solidFill>
            <a:prstDash val="solid"/>
          </a:ln>
        </p:spPr>
      </p:sp>
      <p:sp>
        <p:nvSpPr>
          <p:cNvPr id="12" name="Text 10"/>
          <p:cNvSpPr txBox="1"/>
          <p:nvPr/>
        </p:nvSpPr>
        <p:spPr>
          <a:xfrm>
            <a:off x="502920" y="3621024"/>
            <a:ext cx="5455768" cy="365760"/>
          </a:xfrm>
          <a:prstGeom prst="rect">
            <a:avLst/>
          </a:prstGeom>
          <a:noFill/>
          <a:ln/>
        </p:spPr>
        <p:txBody>
          <a:bodyPr wrap="square" lIns="0" tIns="0" rIns="0" bIns="0" rtlCol="0" anchor="ctr"/>
          <a:lstStyle/>
          <a:p>
            <a:pPr indent="0" marL="0">
              <a:buNone/>
            </a:pPr>
            <a:r>
              <a:rPr lang="en-US" sz="1800" b="1" dirty="0">
                <a:solidFill>
                  <a:srgbClr val="10394A"/>
                </a:solidFill>
                <a:latin typeface="Cambria" pitchFamily="34" charset="0"/>
                <a:ea typeface="Cambria" pitchFamily="34" charset="-122"/>
                <a:cs typeface="Cambria" pitchFamily="34" charset="-120"/>
              </a:rPr>
              <a:t>Vehículo eléctrico de batería</a:t>
            </a:r>
            <a:endParaRPr lang="en-US" sz="1800" dirty="0"/>
          </a:p>
        </p:txBody>
      </p:sp>
      <p:sp>
        <p:nvSpPr>
          <p:cNvPr id="13" name="Text 11"/>
          <p:cNvSpPr txBox="1"/>
          <p:nvPr/>
        </p:nvSpPr>
        <p:spPr>
          <a:xfrm>
            <a:off x="502920" y="4005072"/>
            <a:ext cx="5455768" cy="640080"/>
          </a:xfrm>
          <a:prstGeom prst="rect">
            <a:avLst/>
          </a:prstGeom>
          <a:noFill/>
          <a:ln/>
        </p:spPr>
        <p:txBody>
          <a:bodyPr wrap="square" lIns="0" tIns="0" rIns="0" bIns="0" rtlCol="0" anchor="t"/>
          <a:lstStyle/>
          <a:p>
            <a:pPr indent="0" marL="0">
              <a:lnSpc>
                <a:spcPct val="115000"/>
              </a:lnSpc>
              <a:buNone/>
            </a:pPr>
            <a:r>
              <a:rPr lang="en-US" sz="1400" dirty="0">
                <a:solidFill>
                  <a:srgbClr val="1C1C1C"/>
                </a:solidFill>
                <a:latin typeface="Calibri" pitchFamily="34" charset="0"/>
                <a:ea typeface="Calibri" pitchFamily="34" charset="-122"/>
                <a:cs typeface="Calibri" pitchFamily="34" charset="-120"/>
              </a:rPr>
              <a:t>Tecnología consolidada y de despliegue masivo.</a:t>
            </a:r>
            <a:endParaRPr lang="en-US" sz="1400" dirty="0"/>
          </a:p>
        </p:txBody>
      </p:sp>
      <p:sp>
        <p:nvSpPr>
          <p:cNvPr id="14" name="Text 12"/>
          <p:cNvSpPr txBox="1"/>
          <p:nvPr/>
        </p:nvSpPr>
        <p:spPr>
          <a:xfrm>
            <a:off x="6233008" y="3621024"/>
            <a:ext cx="5455768" cy="365760"/>
          </a:xfrm>
          <a:prstGeom prst="rect">
            <a:avLst/>
          </a:prstGeom>
          <a:noFill/>
          <a:ln/>
        </p:spPr>
        <p:txBody>
          <a:bodyPr wrap="square" lIns="0" tIns="0" rIns="0" bIns="0" rtlCol="0" anchor="ctr"/>
          <a:lstStyle/>
          <a:p>
            <a:pPr indent="0" marL="0">
              <a:buNone/>
            </a:pPr>
            <a:r>
              <a:rPr lang="en-US" sz="1800" b="1" dirty="0">
                <a:solidFill>
                  <a:srgbClr val="10394A"/>
                </a:solidFill>
                <a:latin typeface="Cambria" pitchFamily="34" charset="0"/>
                <a:ea typeface="Cambria" pitchFamily="34" charset="-122"/>
                <a:cs typeface="Cambria" pitchFamily="34" charset="-120"/>
              </a:rPr>
              <a:t>Vehículo de pila de combustible</a:t>
            </a:r>
            <a:endParaRPr lang="en-US" sz="1800" dirty="0"/>
          </a:p>
        </p:txBody>
      </p:sp>
      <p:sp>
        <p:nvSpPr>
          <p:cNvPr id="15" name="Text 13"/>
          <p:cNvSpPr txBox="1"/>
          <p:nvPr/>
        </p:nvSpPr>
        <p:spPr>
          <a:xfrm>
            <a:off x="6233008" y="4005072"/>
            <a:ext cx="5455768" cy="640080"/>
          </a:xfrm>
          <a:prstGeom prst="rect">
            <a:avLst/>
          </a:prstGeom>
          <a:noFill/>
          <a:ln/>
        </p:spPr>
        <p:txBody>
          <a:bodyPr wrap="square" lIns="0" tIns="0" rIns="0" bIns="0" rtlCol="0" anchor="t"/>
          <a:lstStyle/>
          <a:p>
            <a:pPr indent="0" marL="0">
              <a:lnSpc>
                <a:spcPct val="115000"/>
              </a:lnSpc>
              <a:buNone/>
            </a:pPr>
            <a:r>
              <a:rPr lang="en-US" sz="1400" dirty="0">
                <a:solidFill>
                  <a:srgbClr val="1C1C1C"/>
                </a:solidFill>
                <a:latin typeface="Calibri" pitchFamily="34" charset="0"/>
                <a:ea typeface="Calibri" pitchFamily="34" charset="-122"/>
                <a:cs typeface="Calibri" pitchFamily="34" charset="-120"/>
              </a:rPr>
              <a:t>Dos o tres órdenes de magnitud por detrás en parque y en estaciones.</a:t>
            </a:r>
            <a:endParaRPr lang="en-US" sz="1400" dirty="0"/>
          </a:p>
        </p:txBody>
      </p:sp>
      <p:sp>
        <p:nvSpPr>
          <p:cNvPr id="16" name="Shape 14"/>
          <p:cNvSpPr/>
          <p:nvPr/>
        </p:nvSpPr>
        <p:spPr>
          <a:xfrm>
            <a:off x="502920" y="5230368"/>
            <a:ext cx="11185855" cy="841248"/>
          </a:xfrm>
          <a:prstGeom prst="roundRect">
            <a:avLst>
              <a:gd name="adj" fmla="val 6522"/>
            </a:avLst>
          </a:prstGeom>
          <a:solidFill>
            <a:srgbClr val="10394A"/>
          </a:solidFill>
          <a:ln/>
        </p:spPr>
      </p:sp>
      <p:sp>
        <p:nvSpPr>
          <p:cNvPr id="17" name="Text 15"/>
          <p:cNvSpPr txBox="1"/>
          <p:nvPr/>
        </p:nvSpPr>
        <p:spPr>
          <a:xfrm>
            <a:off x="777240" y="5248656"/>
            <a:ext cx="10637215" cy="80467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Los dos dependen de una infraestructura hoy separada, y eso fragmenta la inversión. La estación multi-energía los integra — y con ella el reto pasa a ser de operación: decidir, en cada instante, de dónde sale cada kilovatio.</a:t>
            </a:r>
            <a:endParaRPr lang="en-US" sz="1350" dirty="0"/>
          </a:p>
        </p:txBody>
      </p:sp>
      <p:sp>
        <p:nvSpPr>
          <p:cNvPr id="18" name="Text 16"/>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PLANTEAMIENTO  ·  1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La estación OASIS, modelada en Simulink</a:t>
            </a:r>
            <a:endParaRPr lang="en-US" sz="2600" dirty="0"/>
          </a:p>
        </p:txBody>
      </p:sp>
      <p:pic>
        <p:nvPicPr>
          <p:cNvPr id="4" name="Image 0" descr="img/electrolinera-iso-NE.png">    </p:cNvPr>
          <p:cNvPicPr>
            <a:picLocks noChangeAspect="1"/>
          </p:cNvPicPr>
          <p:nvPr/>
        </p:nvPicPr>
        <p:blipFill>
          <a:blip r:embed="rId1"/>
          <a:stretch>
            <a:fillRect/>
          </a:stretch>
        </p:blipFill>
        <p:spPr>
          <a:xfrm>
            <a:off x="502920" y="1840992"/>
            <a:ext cx="6400800" cy="3733800"/>
          </a:xfrm>
          <a:prstGeom prst="rect">
            <a:avLst/>
          </a:prstGeom>
        </p:spPr>
      </p:pic>
      <p:sp>
        <p:nvSpPr>
          <p:cNvPr id="5" name="Shape 2"/>
          <p:cNvSpPr/>
          <p:nvPr/>
        </p:nvSpPr>
        <p:spPr>
          <a:xfrm>
            <a:off x="7040880" y="1719072"/>
            <a:ext cx="292608" cy="292608"/>
          </a:xfrm>
          <a:prstGeom prst="ellipse">
            <a:avLst/>
          </a:prstGeom>
          <a:solidFill>
            <a:srgbClr val="10394A"/>
          </a:solidFill>
          <a:ln/>
        </p:spPr>
      </p:sp>
      <p:sp>
        <p:nvSpPr>
          <p:cNvPr id="6" name="Text 3"/>
          <p:cNvSpPr txBox="1"/>
          <p:nvPr/>
        </p:nvSpPr>
        <p:spPr>
          <a:xfrm>
            <a:off x="7040880" y="17190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4"/>
          <p:cNvSpPr txBox="1"/>
          <p:nvPr/>
        </p:nvSpPr>
        <p:spPr>
          <a:xfrm>
            <a:off x="7452360" y="1591056"/>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≈500 kWp</a:t>
            </a:r>
            <a:endParaRPr lang="en-US" sz="1600" dirty="0"/>
          </a:p>
        </p:txBody>
      </p:sp>
      <p:sp>
        <p:nvSpPr>
          <p:cNvPr id="8" name="Text 5"/>
          <p:cNvSpPr txBox="1"/>
          <p:nvPr/>
        </p:nvSpPr>
        <p:spPr>
          <a:xfrm>
            <a:off x="9281160" y="1591056"/>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Fotovoltaica en marquesina</a:t>
            </a:r>
            <a:endParaRPr lang="en-US" sz="1150" dirty="0"/>
          </a:p>
        </p:txBody>
      </p:sp>
      <p:sp>
        <p:nvSpPr>
          <p:cNvPr id="9" name="Shape 6"/>
          <p:cNvSpPr/>
          <p:nvPr/>
        </p:nvSpPr>
        <p:spPr>
          <a:xfrm>
            <a:off x="7040880" y="2212848"/>
            <a:ext cx="4663440" cy="0"/>
          </a:xfrm>
          <a:prstGeom prst="line">
            <a:avLst/>
          </a:prstGeom>
          <a:noFill/>
          <a:ln w="9525">
            <a:solidFill>
              <a:srgbClr val="DDE3E6"/>
            </a:solidFill>
            <a:prstDash val="solid"/>
          </a:ln>
        </p:spPr>
      </p:sp>
      <p:sp>
        <p:nvSpPr>
          <p:cNvPr id="10" name="Shape 7"/>
          <p:cNvSpPr/>
          <p:nvPr/>
        </p:nvSpPr>
        <p:spPr>
          <a:xfrm>
            <a:off x="7040880" y="2432304"/>
            <a:ext cx="292608" cy="292608"/>
          </a:xfrm>
          <a:prstGeom prst="ellipse">
            <a:avLst/>
          </a:prstGeom>
          <a:solidFill>
            <a:srgbClr val="10394A"/>
          </a:solidFill>
          <a:ln/>
        </p:spPr>
      </p:sp>
      <p:sp>
        <p:nvSpPr>
          <p:cNvPr id="11" name="Text 8"/>
          <p:cNvSpPr txBox="1"/>
          <p:nvPr/>
        </p:nvSpPr>
        <p:spPr>
          <a:xfrm>
            <a:off x="7040880" y="243230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7452360" y="2304288"/>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1 MWh</a:t>
            </a:r>
            <a:endParaRPr lang="en-US" sz="1600" dirty="0"/>
          </a:p>
        </p:txBody>
      </p:sp>
      <p:sp>
        <p:nvSpPr>
          <p:cNvPr id="13" name="Text 10"/>
          <p:cNvSpPr txBox="1"/>
          <p:nvPr/>
        </p:nvSpPr>
        <p:spPr>
          <a:xfrm>
            <a:off x="9281160" y="2304288"/>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Batería, ≈494 kW de potencia</a:t>
            </a:r>
            <a:endParaRPr lang="en-US" sz="1150" dirty="0"/>
          </a:p>
        </p:txBody>
      </p:sp>
      <p:sp>
        <p:nvSpPr>
          <p:cNvPr id="14" name="Shape 11"/>
          <p:cNvSpPr/>
          <p:nvPr/>
        </p:nvSpPr>
        <p:spPr>
          <a:xfrm>
            <a:off x="7040880" y="2926080"/>
            <a:ext cx="4663440" cy="0"/>
          </a:xfrm>
          <a:prstGeom prst="line">
            <a:avLst/>
          </a:prstGeom>
          <a:noFill/>
          <a:ln w="9525">
            <a:solidFill>
              <a:srgbClr val="DDE3E6"/>
            </a:solidFill>
            <a:prstDash val="solid"/>
          </a:ln>
        </p:spPr>
      </p:sp>
      <p:sp>
        <p:nvSpPr>
          <p:cNvPr id="15" name="Shape 12"/>
          <p:cNvSpPr/>
          <p:nvPr/>
        </p:nvSpPr>
        <p:spPr>
          <a:xfrm>
            <a:off x="7040880" y="3145536"/>
            <a:ext cx="292608" cy="292608"/>
          </a:xfrm>
          <a:prstGeom prst="ellipse">
            <a:avLst/>
          </a:prstGeom>
          <a:solidFill>
            <a:srgbClr val="10394A"/>
          </a:solidFill>
          <a:ln/>
        </p:spPr>
      </p:sp>
      <p:sp>
        <p:nvSpPr>
          <p:cNvPr id="16" name="Text 13"/>
          <p:cNvSpPr txBox="1"/>
          <p:nvPr/>
        </p:nvSpPr>
        <p:spPr>
          <a:xfrm>
            <a:off x="7040880" y="314553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txBox="1"/>
          <p:nvPr/>
        </p:nvSpPr>
        <p:spPr>
          <a:xfrm>
            <a:off x="7452360" y="3017520"/>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200 kW</a:t>
            </a:r>
            <a:endParaRPr lang="en-US" sz="1600" dirty="0"/>
          </a:p>
        </p:txBody>
      </p:sp>
      <p:sp>
        <p:nvSpPr>
          <p:cNvPr id="18" name="Text 15"/>
          <p:cNvSpPr txBox="1"/>
          <p:nvPr/>
        </p:nvSpPr>
        <p:spPr>
          <a:xfrm>
            <a:off x="9281160" y="3017520"/>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Electrolizador PEM, ≈50 kWh/kg</a:t>
            </a:r>
            <a:endParaRPr lang="en-US" sz="1150" dirty="0"/>
          </a:p>
        </p:txBody>
      </p:sp>
      <p:sp>
        <p:nvSpPr>
          <p:cNvPr id="19" name="Shape 16"/>
          <p:cNvSpPr/>
          <p:nvPr/>
        </p:nvSpPr>
        <p:spPr>
          <a:xfrm>
            <a:off x="7040880" y="3639312"/>
            <a:ext cx="4663440" cy="0"/>
          </a:xfrm>
          <a:prstGeom prst="line">
            <a:avLst/>
          </a:prstGeom>
          <a:noFill/>
          <a:ln w="9525">
            <a:solidFill>
              <a:srgbClr val="DDE3E6"/>
            </a:solidFill>
            <a:prstDash val="solid"/>
          </a:ln>
        </p:spPr>
      </p:sp>
      <p:sp>
        <p:nvSpPr>
          <p:cNvPr id="20" name="Shape 17"/>
          <p:cNvSpPr/>
          <p:nvPr/>
        </p:nvSpPr>
        <p:spPr>
          <a:xfrm>
            <a:off x="7040880" y="3858768"/>
            <a:ext cx="292608" cy="292608"/>
          </a:xfrm>
          <a:prstGeom prst="ellipse">
            <a:avLst/>
          </a:prstGeom>
          <a:solidFill>
            <a:srgbClr val="10394A"/>
          </a:solidFill>
          <a:ln/>
        </p:spPr>
      </p:sp>
      <p:sp>
        <p:nvSpPr>
          <p:cNvPr id="21" name="Text 18"/>
          <p:cNvSpPr txBox="1"/>
          <p:nvPr/>
        </p:nvSpPr>
        <p:spPr>
          <a:xfrm>
            <a:off x="7040880" y="38587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txBox="1"/>
          <p:nvPr/>
        </p:nvSpPr>
        <p:spPr>
          <a:xfrm>
            <a:off x="7452360" y="3730752"/>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40 / 600 bar</a:t>
            </a:r>
            <a:endParaRPr lang="en-US" sz="1600" dirty="0"/>
          </a:p>
        </p:txBody>
      </p:sp>
      <p:sp>
        <p:nvSpPr>
          <p:cNvPr id="23" name="Text 20"/>
          <p:cNvSpPr txBox="1"/>
          <p:nvPr/>
        </p:nvSpPr>
        <p:spPr>
          <a:xfrm>
            <a:off x="9281160" y="3730752"/>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Dos tanques de H₂ + compresor de 15 kW</a:t>
            </a:r>
            <a:endParaRPr lang="en-US" sz="1150" dirty="0"/>
          </a:p>
        </p:txBody>
      </p:sp>
      <p:sp>
        <p:nvSpPr>
          <p:cNvPr id="24" name="Shape 21"/>
          <p:cNvSpPr/>
          <p:nvPr/>
        </p:nvSpPr>
        <p:spPr>
          <a:xfrm>
            <a:off x="7040880" y="4352544"/>
            <a:ext cx="4663440" cy="0"/>
          </a:xfrm>
          <a:prstGeom prst="line">
            <a:avLst/>
          </a:prstGeom>
          <a:noFill/>
          <a:ln w="9525">
            <a:solidFill>
              <a:srgbClr val="DDE3E6"/>
            </a:solidFill>
            <a:prstDash val="solid"/>
          </a:ln>
        </p:spPr>
      </p:sp>
      <p:sp>
        <p:nvSpPr>
          <p:cNvPr id="25" name="Shape 22"/>
          <p:cNvSpPr/>
          <p:nvPr/>
        </p:nvSpPr>
        <p:spPr>
          <a:xfrm>
            <a:off x="7040880" y="4572000"/>
            <a:ext cx="292608" cy="292608"/>
          </a:xfrm>
          <a:prstGeom prst="ellipse">
            <a:avLst/>
          </a:prstGeom>
          <a:solidFill>
            <a:srgbClr val="10394A"/>
          </a:solidFill>
          <a:ln/>
        </p:spPr>
      </p:sp>
      <p:sp>
        <p:nvSpPr>
          <p:cNvPr id="26" name="Text 23"/>
          <p:cNvSpPr txBox="1"/>
          <p:nvPr/>
        </p:nvSpPr>
        <p:spPr>
          <a:xfrm>
            <a:off x="7040880" y="45720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4"/>
          <p:cNvSpPr txBox="1"/>
          <p:nvPr/>
        </p:nvSpPr>
        <p:spPr>
          <a:xfrm>
            <a:off x="7452360" y="4443984"/>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130 kW</a:t>
            </a:r>
            <a:endParaRPr lang="en-US" sz="1600" dirty="0"/>
          </a:p>
        </p:txBody>
      </p:sp>
      <p:sp>
        <p:nvSpPr>
          <p:cNvPr id="28" name="Text 25"/>
          <p:cNvSpPr txBox="1"/>
          <p:nvPr/>
        </p:nvSpPr>
        <p:spPr>
          <a:xfrm>
            <a:off x="9281160" y="4443984"/>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Pila de combustible PEMFC</a:t>
            </a:r>
            <a:endParaRPr lang="en-US" sz="1150" dirty="0"/>
          </a:p>
        </p:txBody>
      </p:sp>
      <p:sp>
        <p:nvSpPr>
          <p:cNvPr id="29" name="Shape 26"/>
          <p:cNvSpPr/>
          <p:nvPr/>
        </p:nvSpPr>
        <p:spPr>
          <a:xfrm>
            <a:off x="7040880" y="5065776"/>
            <a:ext cx="4663440" cy="0"/>
          </a:xfrm>
          <a:prstGeom prst="line">
            <a:avLst/>
          </a:prstGeom>
          <a:noFill/>
          <a:ln w="9525">
            <a:solidFill>
              <a:srgbClr val="DDE3E6"/>
            </a:solidFill>
            <a:prstDash val="solid"/>
          </a:ln>
        </p:spPr>
      </p:sp>
      <p:sp>
        <p:nvSpPr>
          <p:cNvPr id="30" name="Shape 27"/>
          <p:cNvSpPr/>
          <p:nvPr/>
        </p:nvSpPr>
        <p:spPr>
          <a:xfrm>
            <a:off x="7040880" y="5285232"/>
            <a:ext cx="292608" cy="292608"/>
          </a:xfrm>
          <a:prstGeom prst="ellipse">
            <a:avLst/>
          </a:prstGeom>
          <a:solidFill>
            <a:srgbClr val="10394A"/>
          </a:solidFill>
          <a:ln/>
        </p:spPr>
      </p:sp>
      <p:sp>
        <p:nvSpPr>
          <p:cNvPr id="31" name="Text 28"/>
          <p:cNvSpPr txBox="1"/>
          <p:nvPr/>
        </p:nvSpPr>
        <p:spPr>
          <a:xfrm>
            <a:off x="7040880" y="52852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29"/>
          <p:cNvSpPr txBox="1"/>
          <p:nvPr/>
        </p:nvSpPr>
        <p:spPr>
          <a:xfrm>
            <a:off x="7452360" y="5157216"/>
            <a:ext cx="1783080" cy="54864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2 × 50 kW</a:t>
            </a:r>
            <a:endParaRPr lang="en-US" sz="1600" dirty="0"/>
          </a:p>
        </p:txBody>
      </p:sp>
      <p:sp>
        <p:nvSpPr>
          <p:cNvPr id="33" name="Text 30"/>
          <p:cNvSpPr txBox="1"/>
          <p:nvPr/>
        </p:nvSpPr>
        <p:spPr>
          <a:xfrm>
            <a:off x="9281160" y="5157216"/>
            <a:ext cx="2423160" cy="548640"/>
          </a:xfrm>
          <a:prstGeom prst="rect">
            <a:avLst/>
          </a:prstGeom>
          <a:noFill/>
          <a:ln/>
        </p:spPr>
        <p:txBody>
          <a:bodyPr wrap="square" lIns="0" tIns="0" rIns="0" bIns="0" rtlCol="0" anchor="ctr"/>
          <a:lstStyle/>
          <a:p>
            <a:pPr indent="0" marL="0">
              <a:buNone/>
            </a:pPr>
            <a:r>
              <a:rPr lang="en-US" sz="1150" dirty="0">
                <a:solidFill>
                  <a:srgbClr val="5F6B72"/>
                </a:solidFill>
                <a:latin typeface="Calibri" pitchFamily="34" charset="0"/>
                <a:ea typeface="Calibri" pitchFamily="34" charset="-122"/>
                <a:cs typeface="Calibri" pitchFamily="34" charset="-120"/>
              </a:rPr>
              <a:t>Cargadores DC + surtidor de hidrógeno</a:t>
            </a:r>
            <a:endParaRPr lang="en-US" sz="1150" dirty="0"/>
          </a:p>
        </p:txBody>
      </p:sp>
      <p:sp>
        <p:nvSpPr>
          <p:cNvPr id="34" name="Shape 31"/>
          <p:cNvSpPr/>
          <p:nvPr/>
        </p:nvSpPr>
        <p:spPr>
          <a:xfrm>
            <a:off x="7040880" y="5779008"/>
            <a:ext cx="4663440" cy="0"/>
          </a:xfrm>
          <a:prstGeom prst="line">
            <a:avLst/>
          </a:prstGeom>
          <a:noFill/>
          <a:ln w="9525">
            <a:solidFill>
              <a:srgbClr val="DDE3E6"/>
            </a:solidFill>
            <a:prstDash val="solid"/>
          </a:ln>
        </p:spPr>
      </p:sp>
      <p:sp>
        <p:nvSpPr>
          <p:cNvPr id="35" name="Text 32"/>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PLANTEAMIENTO  ·  1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El EMS decide tres cosas, y es lo único que cambia entre versiones</a:t>
            </a:r>
            <a:endParaRPr lang="en-US" sz="2600" dirty="0"/>
          </a:p>
        </p:txBody>
      </p:sp>
      <p:sp>
        <p:nvSpPr>
          <p:cNvPr id="4" name="Shape 2"/>
          <p:cNvSpPr/>
          <p:nvPr/>
        </p:nvSpPr>
        <p:spPr>
          <a:xfrm>
            <a:off x="502920" y="1645920"/>
            <a:ext cx="3520440" cy="2395728"/>
          </a:xfrm>
          <a:prstGeom prst="roundRect">
            <a:avLst>
              <a:gd name="adj" fmla="val 1908"/>
            </a:avLst>
          </a:prstGeom>
          <a:solidFill>
            <a:srgbClr val="F1F5F7"/>
          </a:solidFill>
          <a:ln w="12700">
            <a:solidFill>
              <a:srgbClr val="DDE3E6"/>
            </a:solidFill>
            <a:prstDash val="solid"/>
          </a:ln>
        </p:spPr>
      </p:sp>
      <p:sp>
        <p:nvSpPr>
          <p:cNvPr id="5" name="Text 3"/>
          <p:cNvSpPr txBox="1"/>
          <p:nvPr/>
        </p:nvSpPr>
        <p:spPr>
          <a:xfrm>
            <a:off x="704088" y="1792224"/>
            <a:ext cx="3118104" cy="237744"/>
          </a:xfrm>
          <a:prstGeom prst="rect">
            <a:avLst/>
          </a:prstGeom>
          <a:noFill/>
          <a:ln/>
        </p:spPr>
        <p:txBody>
          <a:bodyPr wrap="square" lIns="0" tIns="0" rIns="0" bIns="0" rtlCol="0" anchor="ctr"/>
          <a:lstStyle/>
          <a:p>
            <a:pPr indent="0" marL="0">
              <a:buNone/>
            </a:pPr>
            <a:r>
              <a:rPr lang="en-US" sz="950" b="1" spc="120" kern="0" dirty="0">
                <a:solidFill>
                  <a:srgbClr val="C8861E"/>
                </a:solidFill>
                <a:latin typeface="Calibri" pitchFamily="34" charset="0"/>
                <a:ea typeface="Calibri" pitchFamily="34" charset="-122"/>
                <a:cs typeface="Calibri" pitchFamily="34" charset="-120"/>
              </a:rPr>
              <a:t>ENTRADAS · 11 SEÑALES</a:t>
            </a:r>
            <a:endParaRPr lang="en-US" sz="950" dirty="0"/>
          </a:p>
        </p:txBody>
      </p:sp>
      <p:sp>
        <p:nvSpPr>
          <p:cNvPr id="6" name="Text 4"/>
          <p:cNvSpPr txBox="1"/>
          <p:nvPr/>
        </p:nvSpPr>
        <p:spPr>
          <a:xfrm>
            <a:off x="704088" y="2103120"/>
            <a:ext cx="3118104" cy="1792224"/>
          </a:xfrm>
          <a:prstGeom prst="rect">
            <a:avLst/>
          </a:prstGeom>
          <a:noFill/>
          <a:ln/>
        </p:spPr>
        <p:txBody>
          <a:bodyPr wrap="square" lIns="0" tIns="0" rIns="0" bIns="0" rtlCol="0" anchor="t"/>
          <a:lstStyle/>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Generación fotovoltaica</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Demanda de los cargadores</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Estado de carga de la batería</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Nivel de los dos tanques de H₂</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Precio de la electricidad</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Demanda de hidrógeno</a:t>
            </a:r>
            <a:endParaRPr lang="en-US" sz="1200" dirty="0"/>
          </a:p>
        </p:txBody>
      </p:sp>
      <p:sp>
        <p:nvSpPr>
          <p:cNvPr id="7" name="Shape 5"/>
          <p:cNvSpPr/>
          <p:nvPr/>
        </p:nvSpPr>
        <p:spPr>
          <a:xfrm>
            <a:off x="8220456" y="1645920"/>
            <a:ext cx="3468319" cy="2395728"/>
          </a:xfrm>
          <a:prstGeom prst="roundRect">
            <a:avLst>
              <a:gd name="adj" fmla="val 1908"/>
            </a:avLst>
          </a:prstGeom>
          <a:solidFill>
            <a:srgbClr val="F1F5F7"/>
          </a:solidFill>
          <a:ln w="12700">
            <a:solidFill>
              <a:srgbClr val="DDE3E6"/>
            </a:solidFill>
            <a:prstDash val="solid"/>
          </a:ln>
        </p:spPr>
      </p:sp>
      <p:sp>
        <p:nvSpPr>
          <p:cNvPr id="8" name="Text 6"/>
          <p:cNvSpPr txBox="1"/>
          <p:nvPr/>
        </p:nvSpPr>
        <p:spPr>
          <a:xfrm>
            <a:off x="8421624" y="1792224"/>
            <a:ext cx="3065983" cy="237744"/>
          </a:xfrm>
          <a:prstGeom prst="rect">
            <a:avLst/>
          </a:prstGeom>
          <a:noFill/>
          <a:ln/>
        </p:spPr>
        <p:txBody>
          <a:bodyPr wrap="square" lIns="0" tIns="0" rIns="0" bIns="0" rtlCol="0" anchor="ctr"/>
          <a:lstStyle/>
          <a:p>
            <a:pPr indent="0" marL="0">
              <a:buNone/>
            </a:pPr>
            <a:r>
              <a:rPr lang="en-US" sz="950" b="1" spc="120" kern="0" dirty="0">
                <a:solidFill>
                  <a:srgbClr val="C8861E"/>
                </a:solidFill>
                <a:latin typeface="Calibri" pitchFamily="34" charset="0"/>
                <a:ea typeface="Calibri" pitchFamily="34" charset="-122"/>
                <a:cs typeface="Calibri" pitchFamily="34" charset="-120"/>
              </a:rPr>
              <a:t>SALIDAS · 6 CONSIGNAS</a:t>
            </a:r>
            <a:endParaRPr lang="en-US" sz="950" dirty="0"/>
          </a:p>
        </p:txBody>
      </p:sp>
      <p:sp>
        <p:nvSpPr>
          <p:cNvPr id="9" name="Text 7"/>
          <p:cNvSpPr txBox="1"/>
          <p:nvPr/>
        </p:nvSpPr>
        <p:spPr>
          <a:xfrm>
            <a:off x="8421624" y="2103120"/>
            <a:ext cx="3065983" cy="1792224"/>
          </a:xfrm>
          <a:prstGeom prst="rect">
            <a:avLst/>
          </a:prstGeom>
          <a:noFill/>
          <a:ln/>
        </p:spPr>
        <p:txBody>
          <a:bodyPr wrap="square" lIns="0" tIns="0" rIns="0" bIns="0" rtlCol="0" anchor="t"/>
          <a:lstStyle/>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Consigna de batería</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Consigna de electrolizador</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Consigna de pila de combustible</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Marcha del compresor</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Conexión del electrolizador</a:t>
            </a:r>
            <a:endParaRPr lang="en-US" sz="1200" dirty="0"/>
          </a:p>
          <a:p>
            <a:pPr marL="139700" indent="-139700">
              <a:lnSpc>
                <a:spcPct val="142000"/>
              </a:lnSpc>
              <a:buSzPct val="100000"/>
              <a:buChar char="·"/>
            </a:pPr>
            <a:r>
              <a:rPr lang="en-US" sz="1200" dirty="0">
                <a:solidFill>
                  <a:srgbClr val="1C1C1C"/>
                </a:solidFill>
                <a:latin typeface="Calibri" pitchFamily="34" charset="0"/>
                <a:ea typeface="Calibri" pitchFamily="34" charset="-122"/>
                <a:cs typeface="Calibri" pitchFamily="34" charset="-120"/>
              </a:rPr>
              <a:t>Conexión de la pila</a:t>
            </a:r>
            <a:endParaRPr lang="en-US" sz="1200" dirty="0"/>
          </a:p>
        </p:txBody>
      </p:sp>
      <p:sp>
        <p:nvSpPr>
          <p:cNvPr id="10" name="Shape 8"/>
          <p:cNvSpPr/>
          <p:nvPr/>
        </p:nvSpPr>
        <p:spPr>
          <a:xfrm>
            <a:off x="4590288" y="2212848"/>
            <a:ext cx="3063240" cy="1261872"/>
          </a:xfrm>
          <a:prstGeom prst="roundRect">
            <a:avLst>
              <a:gd name="adj" fmla="val 4348"/>
            </a:avLst>
          </a:prstGeom>
          <a:solidFill>
            <a:srgbClr val="10394A"/>
          </a:solidFill>
          <a:ln w="12700">
            <a:solidFill>
              <a:srgbClr val="10394A"/>
            </a:solidFill>
            <a:prstDash val="solid"/>
          </a:ln>
        </p:spPr>
      </p:sp>
      <p:sp>
        <p:nvSpPr>
          <p:cNvPr id="11" name="Text 9"/>
          <p:cNvSpPr txBox="1"/>
          <p:nvPr/>
        </p:nvSpPr>
        <p:spPr>
          <a:xfrm>
            <a:off x="4590288" y="2395728"/>
            <a:ext cx="3063240" cy="566928"/>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EMS</a:t>
            </a:r>
            <a:endParaRPr lang="en-US" sz="3000" dirty="0"/>
          </a:p>
        </p:txBody>
      </p:sp>
      <p:sp>
        <p:nvSpPr>
          <p:cNvPr id="12" name="Text 10"/>
          <p:cNvSpPr txBox="1"/>
          <p:nvPr/>
        </p:nvSpPr>
        <p:spPr>
          <a:xfrm>
            <a:off x="4590288" y="2962656"/>
            <a:ext cx="3063240" cy="274320"/>
          </a:xfrm>
          <a:prstGeom prst="rect">
            <a:avLst/>
          </a:prstGeom>
          <a:noFill/>
          <a:ln/>
        </p:spPr>
        <p:txBody>
          <a:bodyPr wrap="square" lIns="0" tIns="0" rIns="0" bIns="0" rtlCol="0" anchor="ctr"/>
          <a:lstStyle/>
          <a:p>
            <a:pPr algn="ctr" indent="0" marL="0">
              <a:buNone/>
            </a:pPr>
            <a:r>
              <a:rPr lang="en-US" sz="1150" dirty="0">
                <a:solidFill>
                  <a:srgbClr val="A8C4D0"/>
                </a:solidFill>
                <a:latin typeface="Calibri" pitchFamily="34" charset="0"/>
                <a:ea typeface="Calibri" pitchFamily="34" charset="-122"/>
                <a:cs typeface="Calibri" pitchFamily="34" charset="-120"/>
              </a:rPr>
              <a:t>un único bloque de Simulink</a:t>
            </a:r>
            <a:endParaRPr lang="en-US" sz="1150" dirty="0"/>
          </a:p>
        </p:txBody>
      </p:sp>
      <p:sp>
        <p:nvSpPr>
          <p:cNvPr id="13" name="Shape 11"/>
          <p:cNvSpPr/>
          <p:nvPr/>
        </p:nvSpPr>
        <p:spPr>
          <a:xfrm>
            <a:off x="4096512" y="2843784"/>
            <a:ext cx="438912" cy="0"/>
          </a:xfrm>
          <a:prstGeom prst="line">
            <a:avLst/>
          </a:prstGeom>
          <a:noFill/>
          <a:ln w="15875">
            <a:solidFill>
              <a:srgbClr val="5F6B72"/>
            </a:solidFill>
            <a:prstDash val="solid"/>
            <a:tailEnd type="triangle"/>
          </a:ln>
        </p:spPr>
      </p:sp>
      <p:sp>
        <p:nvSpPr>
          <p:cNvPr id="14" name="Shape 12"/>
          <p:cNvSpPr/>
          <p:nvPr/>
        </p:nvSpPr>
        <p:spPr>
          <a:xfrm>
            <a:off x="7708392" y="2843784"/>
            <a:ext cx="438912" cy="0"/>
          </a:xfrm>
          <a:prstGeom prst="line">
            <a:avLst/>
          </a:prstGeom>
          <a:noFill/>
          <a:ln w="15875">
            <a:solidFill>
              <a:srgbClr val="5F6B72"/>
            </a:solidFill>
            <a:prstDash val="solid"/>
            <a:tailEnd type="triangle"/>
          </a:ln>
        </p:spPr>
      </p:sp>
      <p:sp>
        <p:nvSpPr>
          <p:cNvPr id="15" name="Text 13"/>
          <p:cNvSpPr txBox="1"/>
          <p:nvPr/>
        </p:nvSpPr>
        <p:spPr>
          <a:xfrm>
            <a:off x="502920" y="4206240"/>
            <a:ext cx="11185855" cy="292608"/>
          </a:xfrm>
          <a:prstGeom prst="rect">
            <a:avLst/>
          </a:prstGeom>
          <a:noFill/>
          <a:ln/>
        </p:spPr>
        <p:txBody>
          <a:bodyPr wrap="square" lIns="0" tIns="0" rIns="0" bIns="0" rtlCol="0" anchor="ctr"/>
          <a:lstStyle/>
          <a:p>
            <a:pPr algn="ctr" indent="0" marL="0">
              <a:buNone/>
            </a:pPr>
            <a:r>
              <a:rPr lang="en-US" sz="1150" i="1" dirty="0">
                <a:solidFill>
                  <a:srgbClr val="5F6B72"/>
                </a:solidFill>
                <a:latin typeface="Calibri" pitchFamily="34" charset="0"/>
                <a:ea typeface="Calibri" pitchFamily="34" charset="-122"/>
                <a:cs typeface="Calibri" pitchFamily="34" charset="-120"/>
              </a:rPr>
              <a:t>Es lo único que cambia entre versiones: mismo modelo físico, mismos perfiles, misma semilla</a:t>
            </a:r>
            <a:endParaRPr lang="en-US" sz="1150" dirty="0"/>
          </a:p>
        </p:txBody>
      </p:sp>
      <p:sp>
        <p:nvSpPr>
          <p:cNvPr id="16" name="Shape 14"/>
          <p:cNvSpPr/>
          <p:nvPr/>
        </p:nvSpPr>
        <p:spPr>
          <a:xfrm>
            <a:off x="502920" y="4736592"/>
            <a:ext cx="329184" cy="329184"/>
          </a:xfrm>
          <a:prstGeom prst="ellipse">
            <a:avLst/>
          </a:prstGeom>
          <a:solidFill>
            <a:srgbClr val="C8861E"/>
          </a:solidFill>
          <a:ln/>
        </p:spPr>
      </p:sp>
      <p:sp>
        <p:nvSpPr>
          <p:cNvPr id="17" name="Text 15"/>
          <p:cNvSpPr txBox="1"/>
          <p:nvPr/>
        </p:nvSpPr>
        <p:spPr>
          <a:xfrm>
            <a:off x="502920" y="4736592"/>
            <a:ext cx="329184" cy="329184"/>
          </a:xfrm>
          <a:prstGeom prst="rect">
            <a:avLst/>
          </a:prstGeom>
          <a:noFill/>
          <a:ln/>
        </p:spPr>
        <p:txBody>
          <a:bodyPr wrap="square" lIns="0" tIns="0" rIns="0" bIns="0" rtlCol="0" anchor="ctr"/>
          <a:lstStyle/>
          <a:p>
            <a:pPr algn="ctr" indent="0" marL="0">
              <a:buNone/>
            </a:pPr>
            <a:r>
              <a:rPr lang="en-US" sz="1200" b="1" dirty="0">
                <a:solidFill>
                  <a:srgbClr val="10394A"/>
                </a:solidFill>
                <a:latin typeface="Calibri" pitchFamily="34" charset="0"/>
                <a:ea typeface="Calibri" pitchFamily="34" charset="-122"/>
                <a:cs typeface="Calibri" pitchFamily="34" charset="-120"/>
              </a:rPr>
              <a:t>1</a:t>
            </a:r>
            <a:endParaRPr lang="en-US" sz="1200" dirty="0"/>
          </a:p>
        </p:txBody>
      </p:sp>
      <p:sp>
        <p:nvSpPr>
          <p:cNvPr id="18" name="Text 16"/>
          <p:cNvSpPr txBox="1"/>
          <p:nvPr/>
        </p:nvSpPr>
        <p:spPr>
          <a:xfrm>
            <a:off x="923544" y="4736592"/>
            <a:ext cx="3125114" cy="329184"/>
          </a:xfrm>
          <a:prstGeom prst="rect">
            <a:avLst/>
          </a:prstGeom>
          <a:noFill/>
          <a:ln/>
        </p:spPr>
        <p:txBody>
          <a:bodyPr wrap="square" lIns="0" tIns="0" rIns="0" bIns="0" rtlCol="0" anchor="ctr"/>
          <a:lstStyle/>
          <a:p>
            <a:pPr indent="0" marL="0">
              <a:buNone/>
            </a:pPr>
            <a:r>
              <a:rPr lang="en-US" sz="1400" b="1" dirty="0">
                <a:solidFill>
                  <a:srgbClr val="10394A"/>
                </a:solidFill>
                <a:latin typeface="Calibri" pitchFamily="34" charset="0"/>
                <a:ea typeface="Calibri" pitchFamily="34" charset="-122"/>
                <a:cs typeface="Calibri" pitchFamily="34" charset="-120"/>
              </a:rPr>
              <a:t>Sobra sol</a:t>
            </a:r>
            <a:endParaRPr lang="en-US" sz="1400" dirty="0"/>
          </a:p>
        </p:txBody>
      </p:sp>
      <p:sp>
        <p:nvSpPr>
          <p:cNvPr id="19" name="Text 17"/>
          <p:cNvSpPr txBox="1"/>
          <p:nvPr/>
        </p:nvSpPr>
        <p:spPr>
          <a:xfrm>
            <a:off x="502920" y="5138928"/>
            <a:ext cx="3545738" cy="548640"/>
          </a:xfrm>
          <a:prstGeom prst="rect">
            <a:avLst/>
          </a:prstGeom>
          <a:noFill/>
          <a:ln/>
        </p:spPr>
        <p:txBody>
          <a:bodyPr wrap="square" lIns="0" tIns="0" rIns="0" bIns="0" rtlCol="0" anchor="t"/>
          <a:lstStyle/>
          <a:p>
            <a:pPr indent="0" marL="0">
              <a:lnSpc>
                <a:spcPct val="112000"/>
              </a:lnSpc>
              <a:buNone/>
            </a:pPr>
            <a:r>
              <a:rPr lang="en-US" sz="1150" dirty="0">
                <a:solidFill>
                  <a:srgbClr val="5F6B72"/>
                </a:solidFill>
                <a:latin typeface="Calibri" pitchFamily="34" charset="0"/>
                <a:ea typeface="Calibri" pitchFamily="34" charset="-122"/>
                <a:cs typeface="Calibri" pitchFamily="34" charset="-120"/>
              </a:rPr>
              <a:t>Cómo repartir el excedente entre batería y electrolizador</a:t>
            </a:r>
            <a:endParaRPr lang="en-US" sz="1150" dirty="0"/>
          </a:p>
        </p:txBody>
      </p:sp>
      <p:sp>
        <p:nvSpPr>
          <p:cNvPr id="20" name="Shape 18"/>
          <p:cNvSpPr/>
          <p:nvPr/>
        </p:nvSpPr>
        <p:spPr>
          <a:xfrm>
            <a:off x="4322978" y="4736592"/>
            <a:ext cx="329184" cy="329184"/>
          </a:xfrm>
          <a:prstGeom prst="ellipse">
            <a:avLst/>
          </a:prstGeom>
          <a:solidFill>
            <a:srgbClr val="C8861E"/>
          </a:solidFill>
          <a:ln/>
        </p:spPr>
      </p:sp>
      <p:sp>
        <p:nvSpPr>
          <p:cNvPr id="21" name="Text 19"/>
          <p:cNvSpPr txBox="1"/>
          <p:nvPr/>
        </p:nvSpPr>
        <p:spPr>
          <a:xfrm>
            <a:off x="4322978" y="4736592"/>
            <a:ext cx="329184" cy="329184"/>
          </a:xfrm>
          <a:prstGeom prst="rect">
            <a:avLst/>
          </a:prstGeom>
          <a:noFill/>
          <a:ln/>
        </p:spPr>
        <p:txBody>
          <a:bodyPr wrap="square" lIns="0" tIns="0" rIns="0" bIns="0" rtlCol="0" anchor="ctr"/>
          <a:lstStyle/>
          <a:p>
            <a:pPr algn="ctr" indent="0" marL="0">
              <a:buNone/>
            </a:pPr>
            <a:r>
              <a:rPr lang="en-US" sz="1200" b="1" dirty="0">
                <a:solidFill>
                  <a:srgbClr val="10394A"/>
                </a:solidFill>
                <a:latin typeface="Calibri" pitchFamily="34" charset="0"/>
                <a:ea typeface="Calibri" pitchFamily="34" charset="-122"/>
                <a:cs typeface="Calibri" pitchFamily="34" charset="-120"/>
              </a:rPr>
              <a:t>2</a:t>
            </a:r>
            <a:endParaRPr lang="en-US" sz="1200" dirty="0"/>
          </a:p>
        </p:txBody>
      </p:sp>
      <p:sp>
        <p:nvSpPr>
          <p:cNvPr id="22" name="Text 20"/>
          <p:cNvSpPr txBox="1"/>
          <p:nvPr/>
        </p:nvSpPr>
        <p:spPr>
          <a:xfrm>
            <a:off x="4743602" y="4736592"/>
            <a:ext cx="3125114" cy="329184"/>
          </a:xfrm>
          <a:prstGeom prst="rect">
            <a:avLst/>
          </a:prstGeom>
          <a:noFill/>
          <a:ln/>
        </p:spPr>
        <p:txBody>
          <a:bodyPr wrap="square" lIns="0" tIns="0" rIns="0" bIns="0" rtlCol="0" anchor="ctr"/>
          <a:lstStyle/>
          <a:p>
            <a:pPr indent="0" marL="0">
              <a:buNone/>
            </a:pPr>
            <a:r>
              <a:rPr lang="en-US" sz="1400" b="1" dirty="0">
                <a:solidFill>
                  <a:srgbClr val="10394A"/>
                </a:solidFill>
                <a:latin typeface="Calibri" pitchFamily="34" charset="0"/>
                <a:ea typeface="Calibri" pitchFamily="34" charset="-122"/>
                <a:cs typeface="Calibri" pitchFamily="34" charset="-120"/>
              </a:rPr>
              <a:t>Falta energía</a:t>
            </a:r>
            <a:endParaRPr lang="en-US" sz="1400" dirty="0"/>
          </a:p>
        </p:txBody>
      </p:sp>
      <p:sp>
        <p:nvSpPr>
          <p:cNvPr id="23" name="Text 21"/>
          <p:cNvSpPr txBox="1"/>
          <p:nvPr/>
        </p:nvSpPr>
        <p:spPr>
          <a:xfrm>
            <a:off x="4322978" y="5138928"/>
            <a:ext cx="3545738" cy="548640"/>
          </a:xfrm>
          <a:prstGeom prst="rect">
            <a:avLst/>
          </a:prstGeom>
          <a:noFill/>
          <a:ln/>
        </p:spPr>
        <p:txBody>
          <a:bodyPr wrap="square" lIns="0" tIns="0" rIns="0" bIns="0" rtlCol="0" anchor="t"/>
          <a:lstStyle/>
          <a:p>
            <a:pPr indent="0" marL="0">
              <a:lnSpc>
                <a:spcPct val="112000"/>
              </a:lnSpc>
              <a:buNone/>
            </a:pPr>
            <a:r>
              <a:rPr lang="en-US" sz="1150" dirty="0">
                <a:solidFill>
                  <a:srgbClr val="5F6B72"/>
                </a:solidFill>
                <a:latin typeface="Calibri" pitchFamily="34" charset="0"/>
                <a:ea typeface="Calibri" pitchFamily="34" charset="-122"/>
                <a:cs typeface="Calibri" pitchFamily="34" charset="-120"/>
              </a:rPr>
              <a:t>En qué orden cubrir el déficit: batería, pila, red</a:t>
            </a:r>
            <a:endParaRPr lang="en-US" sz="1150" dirty="0"/>
          </a:p>
        </p:txBody>
      </p:sp>
      <p:sp>
        <p:nvSpPr>
          <p:cNvPr id="24" name="Shape 22"/>
          <p:cNvSpPr/>
          <p:nvPr/>
        </p:nvSpPr>
        <p:spPr>
          <a:xfrm>
            <a:off x="8143037" y="4736592"/>
            <a:ext cx="329184" cy="329184"/>
          </a:xfrm>
          <a:prstGeom prst="ellipse">
            <a:avLst/>
          </a:prstGeom>
          <a:solidFill>
            <a:srgbClr val="C8861E"/>
          </a:solidFill>
          <a:ln/>
        </p:spPr>
      </p:sp>
      <p:sp>
        <p:nvSpPr>
          <p:cNvPr id="25" name="Text 23"/>
          <p:cNvSpPr txBox="1"/>
          <p:nvPr/>
        </p:nvSpPr>
        <p:spPr>
          <a:xfrm>
            <a:off x="8143037" y="4736592"/>
            <a:ext cx="329184" cy="329184"/>
          </a:xfrm>
          <a:prstGeom prst="rect">
            <a:avLst/>
          </a:prstGeom>
          <a:noFill/>
          <a:ln/>
        </p:spPr>
        <p:txBody>
          <a:bodyPr wrap="square" lIns="0" tIns="0" rIns="0" bIns="0" rtlCol="0" anchor="ctr"/>
          <a:lstStyle/>
          <a:p>
            <a:pPr algn="ctr" indent="0" marL="0">
              <a:buNone/>
            </a:pPr>
            <a:r>
              <a:rPr lang="en-US" sz="1200" b="1" dirty="0">
                <a:solidFill>
                  <a:srgbClr val="10394A"/>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8563661" y="4736592"/>
            <a:ext cx="3125114" cy="329184"/>
          </a:xfrm>
          <a:prstGeom prst="rect">
            <a:avLst/>
          </a:prstGeom>
          <a:noFill/>
          <a:ln/>
        </p:spPr>
        <p:txBody>
          <a:bodyPr wrap="square" lIns="0" tIns="0" rIns="0" bIns="0" rtlCol="0" anchor="ctr"/>
          <a:lstStyle/>
          <a:p>
            <a:pPr indent="0" marL="0">
              <a:buNone/>
            </a:pPr>
            <a:r>
              <a:rPr lang="en-US" sz="1400" b="1" dirty="0">
                <a:solidFill>
                  <a:srgbClr val="10394A"/>
                </a:solidFill>
                <a:latin typeface="Calibri" pitchFamily="34" charset="0"/>
                <a:ea typeface="Calibri" pitchFamily="34" charset="-122"/>
                <a:cs typeface="Calibri" pitchFamily="34" charset="-120"/>
              </a:rPr>
              <a:t>En todo momento</a:t>
            </a:r>
            <a:endParaRPr lang="en-US" sz="1400" dirty="0"/>
          </a:p>
        </p:txBody>
      </p:sp>
      <p:sp>
        <p:nvSpPr>
          <p:cNvPr id="27" name="Text 25"/>
          <p:cNvSpPr txBox="1"/>
          <p:nvPr/>
        </p:nvSpPr>
        <p:spPr>
          <a:xfrm>
            <a:off x="8143037" y="5138928"/>
            <a:ext cx="3545738" cy="548640"/>
          </a:xfrm>
          <a:prstGeom prst="rect">
            <a:avLst/>
          </a:prstGeom>
          <a:noFill/>
          <a:ln/>
        </p:spPr>
        <p:txBody>
          <a:bodyPr wrap="square" lIns="0" tIns="0" rIns="0" bIns="0" rtlCol="0" anchor="t"/>
          <a:lstStyle/>
          <a:p>
            <a:pPr indent="0" marL="0">
              <a:lnSpc>
                <a:spcPct val="112000"/>
              </a:lnSpc>
              <a:buNone/>
            </a:pPr>
            <a:r>
              <a:rPr lang="en-US" sz="1150" dirty="0">
                <a:solidFill>
                  <a:srgbClr val="5F6B72"/>
                </a:solidFill>
                <a:latin typeface="Calibri" pitchFamily="34" charset="0"/>
                <a:ea typeface="Calibri" pitchFamily="34" charset="-122"/>
                <a:cs typeface="Calibri" pitchFamily="34" charset="-120"/>
              </a:rPr>
              <a:t>Si conviene producir hidrógeno o reponerlo desde fuera</a:t>
            </a:r>
            <a:endParaRPr lang="en-US" sz="1150" dirty="0"/>
          </a:p>
        </p:txBody>
      </p:sp>
      <p:sp>
        <p:nvSpPr>
          <p:cNvPr id="28" name="Shape 26"/>
          <p:cNvSpPr/>
          <p:nvPr/>
        </p:nvSpPr>
        <p:spPr>
          <a:xfrm>
            <a:off x="502920" y="5623560"/>
            <a:ext cx="11185855" cy="566928"/>
          </a:xfrm>
          <a:prstGeom prst="roundRect">
            <a:avLst>
              <a:gd name="adj" fmla="val 9677"/>
            </a:avLst>
          </a:prstGeom>
          <a:solidFill>
            <a:srgbClr val="10394A"/>
          </a:solidFill>
          <a:ln/>
        </p:spPr>
      </p:sp>
      <p:sp>
        <p:nvSpPr>
          <p:cNvPr id="29" name="Text 27"/>
          <p:cNvSpPr txBox="1"/>
          <p:nvPr/>
        </p:nvSpPr>
        <p:spPr>
          <a:xfrm>
            <a:off x="777240" y="564184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Objetivo del trabajo: medir qué parte de la mejora es de la predicción y qué parte de las reglas que la consumen.</a:t>
            </a:r>
            <a:endParaRPr lang="en-US" sz="1350" dirty="0"/>
          </a:p>
        </p:txBody>
      </p:sp>
      <p:sp>
        <p:nvSpPr>
          <p:cNvPr id="30" name="Text 28"/>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DATOS  ·  2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La demanda sale de sesiones reales de carga rápida, no de una hipótesis</a:t>
            </a:r>
            <a:endParaRPr lang="en-US" sz="2600" dirty="0"/>
          </a:p>
        </p:txBody>
      </p:sp>
      <p:pic>
        <p:nvPicPr>
          <p:cNvPr id="4" name="Image 0" descr="img/llegadas_por_hora.png">    </p:cNvPr>
          <p:cNvPicPr>
            <a:picLocks noChangeAspect="1"/>
          </p:cNvPicPr>
          <p:nvPr/>
        </p:nvPicPr>
        <p:blipFill>
          <a:blip r:embed="rId1"/>
          <a:stretch>
            <a:fillRect/>
          </a:stretch>
        </p:blipFill>
        <p:spPr>
          <a:xfrm>
            <a:off x="502920" y="1536192"/>
            <a:ext cx="3576218" cy="1788109"/>
          </a:xfrm>
          <a:prstGeom prst="rect">
            <a:avLst/>
          </a:prstGeom>
        </p:spPr>
      </p:pic>
      <p:pic>
        <p:nvPicPr>
          <p:cNvPr id="5" name="Image 1" descr="img/energia_por_sesion.png">    </p:cNvPr>
          <p:cNvPicPr>
            <a:picLocks noChangeAspect="1"/>
          </p:cNvPicPr>
          <p:nvPr/>
        </p:nvPicPr>
        <p:blipFill>
          <a:blip r:embed="rId2"/>
          <a:stretch>
            <a:fillRect/>
          </a:stretch>
        </p:blipFill>
        <p:spPr>
          <a:xfrm>
            <a:off x="4307738" y="1536192"/>
            <a:ext cx="3576218" cy="1788109"/>
          </a:xfrm>
          <a:prstGeom prst="rect">
            <a:avLst/>
          </a:prstGeom>
        </p:spPr>
      </p:pic>
      <p:pic>
        <p:nvPicPr>
          <p:cNvPr id="6" name="Image 2" descr="img/colas_espera_cargadores.png">    </p:cNvPr>
          <p:cNvPicPr>
            <a:picLocks noChangeAspect="1"/>
          </p:cNvPicPr>
          <p:nvPr/>
        </p:nvPicPr>
        <p:blipFill>
          <a:blip r:embed="rId3"/>
          <a:stretch>
            <a:fillRect/>
          </a:stretch>
        </p:blipFill>
        <p:spPr>
          <a:xfrm>
            <a:off x="8112557" y="1536192"/>
            <a:ext cx="3576218" cy="2310787"/>
          </a:xfrm>
          <a:prstGeom prst="rect">
            <a:avLst/>
          </a:prstGeom>
        </p:spPr>
      </p:pic>
      <p:sp>
        <p:nvSpPr>
          <p:cNvPr id="7" name="Text 2"/>
          <p:cNvSpPr txBox="1"/>
          <p:nvPr/>
        </p:nvSpPr>
        <p:spPr>
          <a:xfrm>
            <a:off x="502920" y="3956707"/>
            <a:ext cx="357621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Llegadas por hora del día</a:t>
            </a:r>
            <a:endParaRPr lang="en-US" sz="1050" dirty="0"/>
          </a:p>
        </p:txBody>
      </p:sp>
      <p:sp>
        <p:nvSpPr>
          <p:cNvPr id="8" name="Text 3"/>
          <p:cNvSpPr txBox="1"/>
          <p:nvPr/>
        </p:nvSpPr>
        <p:spPr>
          <a:xfrm>
            <a:off x="4307738" y="3956707"/>
            <a:ext cx="357621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Energía por sesión</a:t>
            </a:r>
            <a:endParaRPr lang="en-US" sz="1050" dirty="0"/>
          </a:p>
        </p:txBody>
      </p:sp>
      <p:sp>
        <p:nvSpPr>
          <p:cNvPr id="9" name="Text 4"/>
          <p:cNvSpPr txBox="1"/>
          <p:nvPr/>
        </p:nvSpPr>
        <p:spPr>
          <a:xfrm>
            <a:off x="8112557" y="3956707"/>
            <a:ext cx="357621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Espera frente a nº de cargadores</a:t>
            </a:r>
            <a:endParaRPr lang="en-US" sz="1050" dirty="0"/>
          </a:p>
        </p:txBody>
      </p:sp>
      <p:sp>
        <p:nvSpPr>
          <p:cNvPr id="10" name="Text 5"/>
          <p:cNvSpPr txBox="1"/>
          <p:nvPr/>
        </p:nvSpPr>
        <p:spPr>
          <a:xfrm>
            <a:off x="502920" y="4432195"/>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DESL-EPFL: 1 875 sesiones CCS válidas · media de 32,2 kWh · 8,5 sesiones/día</a:t>
            </a:r>
            <a:endParaRPr lang="en-US" sz="1250" dirty="0"/>
          </a:p>
        </p:txBody>
      </p:sp>
      <p:sp>
        <p:nvSpPr>
          <p:cNvPr id="11" name="Text 6"/>
          <p:cNvSpPr txBox="1"/>
          <p:nvPr/>
        </p:nvSpPr>
        <p:spPr>
          <a:xfrm>
            <a:off x="502920" y="4724803"/>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Caltech ACN-Data como contraste de carga lenta (Level 2 frente a Level 3)</a:t>
            </a:r>
            <a:endParaRPr lang="en-US" sz="1250" dirty="0"/>
          </a:p>
        </p:txBody>
      </p:sp>
      <p:sp>
        <p:nvSpPr>
          <p:cNvPr id="12" name="Text 7"/>
          <p:cNvSpPr txBox="1"/>
          <p:nvPr/>
        </p:nvSpPr>
        <p:spPr>
          <a:xfrm>
            <a:off x="502920" y="5017411"/>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De ahí salen los 50 kW del cargador —el estándar europeo de carga rápida— y que los cargadores sean dos</a:t>
            </a:r>
            <a:endParaRPr lang="en-US" sz="1250" dirty="0"/>
          </a:p>
        </p:txBody>
      </p:sp>
      <p:sp>
        <p:nvSpPr>
          <p:cNvPr id="13" name="Text 8"/>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DATOS  ·  2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Y los datos de entrenamiento, de dos fuentes públicas alineadas hora a hora</a:t>
            </a:r>
            <a:endParaRPr lang="en-US" sz="2600" dirty="0"/>
          </a:p>
        </p:txBody>
      </p:sp>
      <p:sp>
        <p:nvSpPr>
          <p:cNvPr id="4" name="Shape 2"/>
          <p:cNvSpPr/>
          <p:nvPr/>
        </p:nvSpPr>
        <p:spPr>
          <a:xfrm>
            <a:off x="502920" y="1627632"/>
            <a:ext cx="5341468" cy="3401568"/>
          </a:xfrm>
          <a:prstGeom prst="roundRect">
            <a:avLst>
              <a:gd name="adj" fmla="val 1344"/>
            </a:avLst>
          </a:prstGeom>
          <a:solidFill>
            <a:srgbClr val="FFFFFF"/>
          </a:solidFill>
          <a:ln w="12700">
            <a:solidFill>
              <a:srgbClr val="DDE3E6"/>
            </a:solidFill>
            <a:prstDash val="solid"/>
          </a:ln>
        </p:spPr>
      </p:sp>
      <p:sp>
        <p:nvSpPr>
          <p:cNvPr id="5" name="Text 3"/>
          <p:cNvSpPr txBox="1"/>
          <p:nvPr/>
        </p:nvSpPr>
        <p:spPr>
          <a:xfrm>
            <a:off x="813816" y="1828800"/>
            <a:ext cx="4719676" cy="219456"/>
          </a:xfrm>
          <a:prstGeom prst="rect">
            <a:avLst/>
          </a:prstGeom>
          <a:noFill/>
          <a:ln/>
        </p:spPr>
        <p:txBody>
          <a:bodyPr wrap="square" lIns="0" tIns="0" rIns="0" bIns="0" rtlCol="0" anchor="ctr"/>
          <a:lstStyle/>
          <a:p>
            <a:pPr indent="0" marL="0">
              <a:buNone/>
            </a:pPr>
            <a:r>
              <a:rPr lang="en-US" sz="950" b="1" spc="120" kern="0" dirty="0">
                <a:solidFill>
                  <a:srgbClr val="C8861E"/>
                </a:solidFill>
                <a:latin typeface="Calibri" pitchFamily="34" charset="0"/>
                <a:ea typeface="Calibri" pitchFamily="34" charset="-122"/>
                <a:cs typeface="Calibri" pitchFamily="34" charset="-120"/>
              </a:rPr>
              <a:t>MODELO SOLAR</a:t>
            </a:r>
            <a:endParaRPr lang="en-US" sz="950" dirty="0"/>
          </a:p>
        </p:txBody>
      </p:sp>
      <p:sp>
        <p:nvSpPr>
          <p:cNvPr id="6" name="Text 4"/>
          <p:cNvSpPr txBox="1"/>
          <p:nvPr/>
        </p:nvSpPr>
        <p:spPr>
          <a:xfrm>
            <a:off x="813816" y="2084832"/>
            <a:ext cx="4719676" cy="420624"/>
          </a:xfrm>
          <a:prstGeom prst="rect">
            <a:avLst/>
          </a:prstGeom>
          <a:noFill/>
          <a:ln/>
        </p:spPr>
        <p:txBody>
          <a:bodyPr wrap="square" lIns="0" tIns="0" rIns="0" bIns="0" rtlCol="0" anchor="ctr"/>
          <a:lstStyle/>
          <a:p>
            <a:pPr indent="0" marL="0">
              <a:buNone/>
            </a:pPr>
            <a:r>
              <a:rPr lang="en-US" sz="2400" b="1" dirty="0">
                <a:solidFill>
                  <a:srgbClr val="10394A"/>
                </a:solidFill>
                <a:latin typeface="Cambria" pitchFamily="34" charset="0"/>
                <a:ea typeface="Cambria" pitchFamily="34" charset="-122"/>
                <a:cs typeface="Cambria" pitchFamily="34" charset="-120"/>
              </a:rPr>
              <a:t>NASA POWER</a:t>
            </a:r>
            <a:endParaRPr lang="en-US" sz="2400" dirty="0"/>
          </a:p>
        </p:txBody>
      </p:sp>
      <p:sp>
        <p:nvSpPr>
          <p:cNvPr id="7" name="Text 5"/>
          <p:cNvSpPr txBox="1"/>
          <p:nvPr/>
        </p:nvSpPr>
        <p:spPr>
          <a:xfrm>
            <a:off x="813816" y="2542032"/>
            <a:ext cx="4719676" cy="274320"/>
          </a:xfrm>
          <a:prstGeom prst="rect">
            <a:avLst/>
          </a:prstGeom>
          <a:noFill/>
          <a:ln/>
        </p:spPr>
        <p:txBody>
          <a:bodyPr wrap="square" lIns="0" tIns="0" rIns="0" bIns="0" rtlCol="0" anchor="ctr"/>
          <a:lstStyle/>
          <a:p>
            <a:pPr indent="0" marL="0">
              <a:buNone/>
            </a:pPr>
            <a:r>
              <a:rPr lang="en-US" sz="1150" i="1" dirty="0">
                <a:solidFill>
                  <a:srgbClr val="5F6B72"/>
                </a:solidFill>
                <a:latin typeface="Calibri" pitchFamily="34" charset="0"/>
                <a:ea typeface="Calibri" pitchFamily="34" charset="-122"/>
                <a:cs typeface="Calibri" pitchFamily="34" charset="-120"/>
              </a:rPr>
              <a:t>Reanálisis meteorológico horario en el punto de Sevilla</a:t>
            </a:r>
            <a:endParaRPr lang="en-US" sz="1150" dirty="0"/>
          </a:p>
        </p:txBody>
      </p:sp>
      <p:sp>
        <p:nvSpPr>
          <p:cNvPr id="8" name="Shape 6"/>
          <p:cNvSpPr/>
          <p:nvPr/>
        </p:nvSpPr>
        <p:spPr>
          <a:xfrm>
            <a:off x="813816" y="2926080"/>
            <a:ext cx="4719676" cy="0"/>
          </a:xfrm>
          <a:prstGeom prst="line">
            <a:avLst/>
          </a:prstGeom>
          <a:noFill/>
          <a:ln w="9525">
            <a:solidFill>
              <a:srgbClr val="DDE3E6"/>
            </a:solidFill>
            <a:prstDash val="solid"/>
          </a:ln>
        </p:spPr>
      </p:sp>
      <p:sp>
        <p:nvSpPr>
          <p:cNvPr id="9" name="Text 7"/>
          <p:cNvSpPr txBox="1"/>
          <p:nvPr/>
        </p:nvSpPr>
        <p:spPr>
          <a:xfrm>
            <a:off x="813816" y="3072384"/>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Para qué</a:t>
            </a:r>
            <a:endParaRPr lang="en-US" sz="1100" dirty="0"/>
          </a:p>
        </p:txBody>
      </p:sp>
      <p:sp>
        <p:nvSpPr>
          <p:cNvPr id="10" name="Text 8"/>
          <p:cNvSpPr txBox="1"/>
          <p:nvPr/>
        </p:nvSpPr>
        <p:spPr>
          <a:xfrm>
            <a:off x="1911096" y="3072384"/>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Entrenar la red que predice la irradiancia de las próximas 24 h</a:t>
            </a:r>
            <a:endParaRPr lang="en-US" sz="1200" dirty="0"/>
          </a:p>
        </p:txBody>
      </p:sp>
      <p:sp>
        <p:nvSpPr>
          <p:cNvPr id="11" name="Text 9"/>
          <p:cNvSpPr txBox="1"/>
          <p:nvPr/>
        </p:nvSpPr>
        <p:spPr>
          <a:xfrm>
            <a:off x="813816" y="3749040"/>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Qué aporta</a:t>
            </a:r>
            <a:endParaRPr lang="en-US" sz="1100" dirty="0"/>
          </a:p>
        </p:txBody>
      </p:sp>
      <p:sp>
        <p:nvSpPr>
          <p:cNvPr id="12" name="Text 10"/>
          <p:cNvSpPr txBox="1"/>
          <p:nvPr/>
        </p:nvSpPr>
        <p:spPr>
          <a:xfrm>
            <a:off x="1911096" y="3749040"/>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Casi veinte años de registro horario y las variables que explican la nubosidad</a:t>
            </a:r>
            <a:endParaRPr lang="en-US" sz="1200" dirty="0"/>
          </a:p>
        </p:txBody>
      </p:sp>
      <p:sp>
        <p:nvSpPr>
          <p:cNvPr id="13" name="Text 11"/>
          <p:cNvSpPr txBox="1"/>
          <p:nvPr/>
        </p:nvSpPr>
        <p:spPr>
          <a:xfrm>
            <a:off x="813816" y="4425696"/>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Un detalle</a:t>
            </a:r>
            <a:endParaRPr lang="en-US" sz="1100" dirty="0"/>
          </a:p>
        </p:txBody>
      </p:sp>
      <p:sp>
        <p:nvSpPr>
          <p:cNvPr id="14" name="Text 12"/>
          <p:cNvSpPr txBox="1"/>
          <p:nvPr/>
        </p:nvSpPr>
        <p:spPr>
          <a:xfrm>
            <a:off x="1911096" y="4425696"/>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La hora y el día entran en seno y coseno, para que las 23 h y las 0 h sean contiguas y no los extremos de una escala</a:t>
            </a:r>
            <a:endParaRPr lang="en-US" sz="1200" dirty="0"/>
          </a:p>
        </p:txBody>
      </p:sp>
      <p:sp>
        <p:nvSpPr>
          <p:cNvPr id="15" name="Shape 13"/>
          <p:cNvSpPr/>
          <p:nvPr/>
        </p:nvSpPr>
        <p:spPr>
          <a:xfrm>
            <a:off x="6347308" y="1627632"/>
            <a:ext cx="5341468" cy="3401568"/>
          </a:xfrm>
          <a:prstGeom prst="roundRect">
            <a:avLst>
              <a:gd name="adj" fmla="val 1344"/>
            </a:avLst>
          </a:prstGeom>
          <a:solidFill>
            <a:srgbClr val="FFFFFF"/>
          </a:solidFill>
          <a:ln w="12700">
            <a:solidFill>
              <a:srgbClr val="DDE3E6"/>
            </a:solidFill>
            <a:prstDash val="solid"/>
          </a:ln>
        </p:spPr>
      </p:sp>
      <p:sp>
        <p:nvSpPr>
          <p:cNvPr id="16" name="Text 14"/>
          <p:cNvSpPr txBox="1"/>
          <p:nvPr/>
        </p:nvSpPr>
        <p:spPr>
          <a:xfrm>
            <a:off x="6658204" y="1828800"/>
            <a:ext cx="4719676" cy="219456"/>
          </a:xfrm>
          <a:prstGeom prst="rect">
            <a:avLst/>
          </a:prstGeom>
          <a:noFill/>
          <a:ln/>
        </p:spPr>
        <p:txBody>
          <a:bodyPr wrap="square" lIns="0" tIns="0" rIns="0" bIns="0" rtlCol="0" anchor="ctr"/>
          <a:lstStyle/>
          <a:p>
            <a:pPr indent="0" marL="0">
              <a:buNone/>
            </a:pPr>
            <a:r>
              <a:rPr lang="en-US" sz="950" b="1" spc="120" kern="0" dirty="0">
                <a:solidFill>
                  <a:srgbClr val="C8861E"/>
                </a:solidFill>
                <a:latin typeface="Calibri" pitchFamily="34" charset="0"/>
                <a:ea typeface="Calibri" pitchFamily="34" charset="-122"/>
                <a:cs typeface="Calibri" pitchFamily="34" charset="-120"/>
              </a:rPr>
              <a:t>MODELO DE PRECIO</a:t>
            </a:r>
            <a:endParaRPr lang="en-US" sz="950" dirty="0"/>
          </a:p>
        </p:txBody>
      </p:sp>
      <p:sp>
        <p:nvSpPr>
          <p:cNvPr id="17" name="Text 15"/>
          <p:cNvSpPr txBox="1"/>
          <p:nvPr/>
        </p:nvSpPr>
        <p:spPr>
          <a:xfrm>
            <a:off x="6658204" y="2084832"/>
            <a:ext cx="4719676" cy="420624"/>
          </a:xfrm>
          <a:prstGeom prst="rect">
            <a:avLst/>
          </a:prstGeom>
          <a:noFill/>
          <a:ln/>
        </p:spPr>
        <p:txBody>
          <a:bodyPr wrap="square" lIns="0" tIns="0" rIns="0" bIns="0" rtlCol="0" anchor="ctr"/>
          <a:lstStyle/>
          <a:p>
            <a:pPr indent="0" marL="0">
              <a:buNone/>
            </a:pPr>
            <a:r>
              <a:rPr lang="en-US" sz="2400" b="1" dirty="0">
                <a:solidFill>
                  <a:srgbClr val="10394A"/>
                </a:solidFill>
                <a:latin typeface="Cambria" pitchFamily="34" charset="0"/>
                <a:ea typeface="Cambria" pitchFamily="34" charset="-122"/>
                <a:cs typeface="Cambria" pitchFamily="34" charset="-120"/>
              </a:rPr>
              <a:t>ENTSO-E</a:t>
            </a:r>
            <a:endParaRPr lang="en-US" sz="2400" dirty="0"/>
          </a:p>
        </p:txBody>
      </p:sp>
      <p:sp>
        <p:nvSpPr>
          <p:cNvPr id="18" name="Text 16"/>
          <p:cNvSpPr txBox="1"/>
          <p:nvPr/>
        </p:nvSpPr>
        <p:spPr>
          <a:xfrm>
            <a:off x="6658204" y="2542032"/>
            <a:ext cx="4719676" cy="274320"/>
          </a:xfrm>
          <a:prstGeom prst="rect">
            <a:avLst/>
          </a:prstGeom>
          <a:noFill/>
          <a:ln/>
        </p:spPr>
        <p:txBody>
          <a:bodyPr wrap="square" lIns="0" tIns="0" rIns="0" bIns="0" rtlCol="0" anchor="ctr"/>
          <a:lstStyle/>
          <a:p>
            <a:pPr indent="0" marL="0">
              <a:buNone/>
            </a:pPr>
            <a:r>
              <a:rPr lang="en-US" sz="1150" i="1" dirty="0">
                <a:solidFill>
                  <a:srgbClr val="5F6B72"/>
                </a:solidFill>
                <a:latin typeface="Calibri" pitchFamily="34" charset="0"/>
                <a:ea typeface="Calibri" pitchFamily="34" charset="-122"/>
                <a:cs typeface="Calibri" pitchFamily="34" charset="-120"/>
              </a:rPr>
              <a:t>Casaciones del mercado diario español, hora a hora</a:t>
            </a:r>
            <a:endParaRPr lang="en-US" sz="1150" dirty="0"/>
          </a:p>
        </p:txBody>
      </p:sp>
      <p:sp>
        <p:nvSpPr>
          <p:cNvPr id="19" name="Shape 17"/>
          <p:cNvSpPr/>
          <p:nvPr/>
        </p:nvSpPr>
        <p:spPr>
          <a:xfrm>
            <a:off x="6658204" y="2926080"/>
            <a:ext cx="4719676" cy="0"/>
          </a:xfrm>
          <a:prstGeom prst="line">
            <a:avLst/>
          </a:prstGeom>
          <a:noFill/>
          <a:ln w="9525">
            <a:solidFill>
              <a:srgbClr val="DDE3E6"/>
            </a:solidFill>
            <a:prstDash val="solid"/>
          </a:ln>
        </p:spPr>
      </p:sp>
      <p:sp>
        <p:nvSpPr>
          <p:cNvPr id="20" name="Text 18"/>
          <p:cNvSpPr txBox="1"/>
          <p:nvPr/>
        </p:nvSpPr>
        <p:spPr>
          <a:xfrm>
            <a:off x="6658204" y="3072384"/>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Para qué</a:t>
            </a:r>
            <a:endParaRPr lang="en-US" sz="1100" dirty="0"/>
          </a:p>
        </p:txBody>
      </p:sp>
      <p:sp>
        <p:nvSpPr>
          <p:cNvPr id="21" name="Text 19"/>
          <p:cNvSpPr txBox="1"/>
          <p:nvPr/>
        </p:nvSpPr>
        <p:spPr>
          <a:xfrm>
            <a:off x="7755484" y="3072384"/>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Entrenar la red que predice el precio de las próximas 24 h</a:t>
            </a:r>
            <a:endParaRPr lang="en-US" sz="1200" dirty="0"/>
          </a:p>
        </p:txBody>
      </p:sp>
      <p:sp>
        <p:nvSpPr>
          <p:cNvPr id="22" name="Text 20"/>
          <p:cNvSpPr txBox="1"/>
          <p:nvPr/>
        </p:nvSpPr>
        <p:spPr>
          <a:xfrm>
            <a:off x="6658204" y="3749040"/>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Qué aporta</a:t>
            </a:r>
            <a:endParaRPr lang="en-US" sz="1100" dirty="0"/>
          </a:p>
        </p:txBody>
      </p:sp>
      <p:sp>
        <p:nvSpPr>
          <p:cNvPr id="23" name="Text 21"/>
          <p:cNvSpPr txBox="1"/>
          <p:nvPr/>
        </p:nvSpPr>
        <p:spPr>
          <a:xfrm>
            <a:off x="7755484" y="3749040"/>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El histórico y el contexto que explica su deriva, como la capacidad fotovoltaica instalada en España</a:t>
            </a:r>
            <a:endParaRPr lang="en-US" sz="1200" dirty="0"/>
          </a:p>
        </p:txBody>
      </p:sp>
      <p:sp>
        <p:nvSpPr>
          <p:cNvPr id="24" name="Text 22"/>
          <p:cNvSpPr txBox="1"/>
          <p:nvPr/>
        </p:nvSpPr>
        <p:spPr>
          <a:xfrm>
            <a:off x="6658204" y="4425696"/>
            <a:ext cx="1051560" cy="256032"/>
          </a:xfrm>
          <a:prstGeom prst="rect">
            <a:avLst/>
          </a:prstGeom>
          <a:noFill/>
          <a:ln/>
        </p:spPr>
        <p:txBody>
          <a:bodyPr wrap="square" lIns="0" tIns="0" rIns="0" bIns="0" rtlCol="0" anchor="t"/>
          <a:lstStyle/>
          <a:p>
            <a:pPr indent="0" marL="0">
              <a:buNone/>
            </a:pPr>
            <a:r>
              <a:rPr lang="en-US" sz="1100" b="1" dirty="0">
                <a:solidFill>
                  <a:srgbClr val="10394A"/>
                </a:solidFill>
                <a:latin typeface="Calibri" pitchFamily="34" charset="0"/>
                <a:ea typeface="Calibri" pitchFamily="34" charset="-122"/>
                <a:cs typeface="Calibri" pitchFamily="34" charset="-120"/>
              </a:rPr>
              <a:t>Un detalle</a:t>
            </a:r>
            <a:endParaRPr lang="en-US" sz="1100" dirty="0"/>
          </a:p>
        </p:txBody>
      </p:sp>
      <p:sp>
        <p:nvSpPr>
          <p:cNvPr id="25" name="Text 23"/>
          <p:cNvSpPr txBox="1"/>
          <p:nvPr/>
        </p:nvSpPr>
        <p:spPr>
          <a:xfrm>
            <a:off x="7755484" y="4425696"/>
            <a:ext cx="3622396" cy="603504"/>
          </a:xfrm>
          <a:prstGeom prst="rect">
            <a:avLst/>
          </a:prstGeom>
          <a:noFill/>
          <a:ln/>
        </p:spPr>
        <p:txBody>
          <a:bodyPr wrap="square" lIns="0" tIns="0" rIns="0" bIns="0" rtlCol="0" anchor="t"/>
          <a:lstStyle/>
          <a:p>
            <a:pPr indent="0" marL="0">
              <a:lnSpc>
                <a:spcPct val="112000"/>
              </a:lnSpc>
              <a:buNone/>
            </a:pPr>
            <a:r>
              <a:rPr lang="en-US" sz="1200" dirty="0">
                <a:solidFill>
                  <a:srgbClr val="1C1C1C"/>
                </a:solidFill>
                <a:latin typeface="Calibri" pitchFamily="34" charset="0"/>
                <a:ea typeface="Calibri" pitchFamily="34" charset="-122"/>
                <a:cs typeface="Calibri" pitchFamily="34" charset="-120"/>
              </a:rPr>
              <a:t>Entran el precio de hace 24 h y el de hace una semana: los dos ciclos del mercado</a:t>
            </a:r>
            <a:endParaRPr lang="en-US" sz="1200" dirty="0"/>
          </a:p>
        </p:txBody>
      </p:sp>
      <p:sp>
        <p:nvSpPr>
          <p:cNvPr id="26" name="Shape 24"/>
          <p:cNvSpPr/>
          <p:nvPr/>
        </p:nvSpPr>
        <p:spPr>
          <a:xfrm>
            <a:off x="502920" y="5349240"/>
            <a:ext cx="11185855" cy="566928"/>
          </a:xfrm>
          <a:prstGeom prst="roundRect">
            <a:avLst>
              <a:gd name="adj" fmla="val 9677"/>
            </a:avLst>
          </a:prstGeom>
          <a:solidFill>
            <a:srgbClr val="10394A"/>
          </a:solidFill>
          <a:ln/>
        </p:spPr>
      </p:sp>
      <p:sp>
        <p:nvSpPr>
          <p:cNvPr id="27" name="Text 25"/>
          <p:cNvSpPr txBox="1"/>
          <p:nvPr/>
        </p:nvSpPr>
        <p:spPr>
          <a:xfrm>
            <a:off x="777240" y="536752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El reparto entre entrenamiento y prueba es temporal, nunca aleatorio: mezclar horas le regalaría al modelo información del futuro.</a:t>
            </a:r>
            <a:endParaRPr lang="en-US" sz="1350" dirty="0"/>
          </a:p>
        </p:txBody>
      </p:sp>
      <p:sp>
        <p:nvSpPr>
          <p:cNvPr id="28" name="Text 26"/>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MODELOS LSTM  ·  3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Dos redes con la misma arquitectura y parada temprana por validación</a:t>
            </a:r>
            <a:endParaRPr lang="en-US" sz="2600" dirty="0"/>
          </a:p>
        </p:txBody>
      </p:sp>
      <p:pic>
        <p:nvPicPr>
          <p:cNvPr id="4" name="Image 0" descr="img/TrainingSol_rmse.png">    </p:cNvPr>
          <p:cNvPicPr>
            <a:picLocks noChangeAspect="1"/>
          </p:cNvPicPr>
          <p:nvPr/>
        </p:nvPicPr>
        <p:blipFill>
          <a:blip r:embed="rId1"/>
          <a:stretch>
            <a:fillRect/>
          </a:stretch>
        </p:blipFill>
        <p:spPr>
          <a:xfrm>
            <a:off x="502920" y="1536192"/>
            <a:ext cx="5364328" cy="2309040"/>
          </a:xfrm>
          <a:prstGeom prst="rect">
            <a:avLst/>
          </a:prstGeom>
        </p:spPr>
      </p:pic>
      <p:pic>
        <p:nvPicPr>
          <p:cNvPr id="5" name="Image 1" descr="img/TrainingPrecio_rmse.png">    </p:cNvPr>
          <p:cNvPicPr>
            <a:picLocks noChangeAspect="1"/>
          </p:cNvPicPr>
          <p:nvPr/>
        </p:nvPicPr>
        <p:blipFill>
          <a:blip r:embed="rId2"/>
          <a:stretch>
            <a:fillRect/>
          </a:stretch>
        </p:blipFill>
        <p:spPr>
          <a:xfrm>
            <a:off x="6324448" y="1536192"/>
            <a:ext cx="5364328" cy="2309040"/>
          </a:xfrm>
          <a:prstGeom prst="rect">
            <a:avLst/>
          </a:prstGeom>
        </p:spPr>
      </p:pic>
      <p:sp>
        <p:nvSpPr>
          <p:cNvPr id="6" name="Text 2"/>
          <p:cNvSpPr txBox="1"/>
          <p:nvPr/>
        </p:nvSpPr>
        <p:spPr>
          <a:xfrm>
            <a:off x="502920" y="3954960"/>
            <a:ext cx="536432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Modelo solar · RMSE de validación 0,278 — parada en la época 21 de 300</a:t>
            </a:r>
            <a:endParaRPr lang="en-US" sz="1050" dirty="0"/>
          </a:p>
        </p:txBody>
      </p:sp>
      <p:sp>
        <p:nvSpPr>
          <p:cNvPr id="7" name="Text 3"/>
          <p:cNvSpPr txBox="1"/>
          <p:nvPr/>
        </p:nvSpPr>
        <p:spPr>
          <a:xfrm>
            <a:off x="6324448" y="3954960"/>
            <a:ext cx="536432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Modelo de precio · RMSE de validación 0,833 — parada en la época 29 de 200</a:t>
            </a:r>
            <a:endParaRPr lang="en-US" sz="1050" dirty="0"/>
          </a:p>
        </p:txBody>
      </p:sp>
      <p:sp>
        <p:nvSpPr>
          <p:cNvPr id="8" name="Text 4"/>
          <p:cNvSpPr txBox="1"/>
          <p:nvPr/>
        </p:nvSpPr>
        <p:spPr>
          <a:xfrm>
            <a:off x="502920" y="4617720"/>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Dos capas LSTM apiladas (128 y 64 unidades) con dropout, capa densa y salida de 24 valores</a:t>
            </a:r>
            <a:endParaRPr lang="en-US" sz="1250" dirty="0"/>
          </a:p>
        </p:txBody>
      </p:sp>
      <p:sp>
        <p:nvSpPr>
          <p:cNvPr id="9" name="Text 5"/>
          <p:cNvSpPr txBox="1"/>
          <p:nvPr/>
        </p:nvSpPr>
        <p:spPr>
          <a:xfrm>
            <a:off x="502920" y="4910328"/>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Adam con descenso de tasa · parada temprana por pérdida de validación</a:t>
            </a:r>
            <a:endParaRPr lang="en-US" sz="1250" dirty="0"/>
          </a:p>
        </p:txBody>
      </p:sp>
      <p:sp>
        <p:nvSpPr>
          <p:cNvPr id="10" name="Text 6"/>
          <p:cNvSpPr txBox="1"/>
          <p:nvPr/>
        </p:nvSpPr>
        <p:spPr>
          <a:xfrm>
            <a:off x="502920" y="5202936"/>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El modelo solar acota la salida a valores no negativos; el de precio no puede, porque el precio admite negativos</a:t>
            </a:r>
            <a:endParaRPr lang="en-US" sz="1250" dirty="0"/>
          </a:p>
        </p:txBody>
      </p:sp>
      <p:sp>
        <p:nvSpPr>
          <p:cNvPr id="11" name="Text 7"/>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MODELOS LSTM  ·  3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El problema: ninguna de las dos redes bate sola a su línea base</a:t>
            </a:r>
            <a:endParaRPr lang="en-US" sz="2600" dirty="0"/>
          </a:p>
        </p:txBody>
      </p:sp>
      <p:pic>
        <p:nvPicPr>
          <p:cNvPr id="4" name="Image 0" descr="img/lstm_solar_PrediccionSolarEnLosDiasDeLaCampana.png">    </p:cNvPr>
          <p:cNvPicPr>
            <a:picLocks noChangeAspect="1"/>
          </p:cNvPicPr>
          <p:nvPr/>
        </p:nvPicPr>
        <p:blipFill>
          <a:blip r:embed="rId1"/>
          <a:stretch>
            <a:fillRect/>
          </a:stretch>
        </p:blipFill>
        <p:spPr>
          <a:xfrm>
            <a:off x="1852363" y="1536192"/>
            <a:ext cx="2665441" cy="2468880"/>
          </a:xfrm>
          <a:prstGeom prst="rect">
            <a:avLst/>
          </a:prstGeom>
        </p:spPr>
      </p:pic>
      <p:sp>
        <p:nvSpPr>
          <p:cNvPr id="5" name="Text 2"/>
          <p:cNvSpPr txBox="1"/>
          <p:nvPr/>
        </p:nvSpPr>
        <p:spPr>
          <a:xfrm>
            <a:off x="502920" y="4050792"/>
            <a:ext cx="536432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Red solar frente al valor real en los cuatro días de campaña</a:t>
            </a:r>
            <a:endParaRPr lang="en-US" sz="1050" dirty="0"/>
          </a:p>
        </p:txBody>
      </p:sp>
      <p:pic>
        <p:nvPicPr>
          <p:cNvPr id="6" name="Image 1" descr="img/lstm_precio_MAEPorHorizon.png">    </p:cNvPr>
          <p:cNvPicPr>
            <a:picLocks noChangeAspect="1"/>
          </p:cNvPicPr>
          <p:nvPr/>
        </p:nvPicPr>
        <p:blipFill>
          <a:blip r:embed="rId2"/>
          <a:stretch>
            <a:fillRect/>
          </a:stretch>
        </p:blipFill>
        <p:spPr>
          <a:xfrm>
            <a:off x="6324448" y="1536192"/>
            <a:ext cx="5364328" cy="2156568"/>
          </a:xfrm>
          <a:prstGeom prst="rect">
            <a:avLst/>
          </a:prstGeom>
        </p:spPr>
      </p:pic>
      <p:sp>
        <p:nvSpPr>
          <p:cNvPr id="7" name="Text 3"/>
          <p:cNvSpPr txBox="1"/>
          <p:nvPr/>
        </p:nvSpPr>
        <p:spPr>
          <a:xfrm>
            <a:off x="6324448" y="4050792"/>
            <a:ext cx="5364328" cy="274320"/>
          </a:xfrm>
          <a:prstGeom prst="rect">
            <a:avLst/>
          </a:prstGeom>
          <a:noFill/>
          <a:ln/>
        </p:spPr>
        <p:txBody>
          <a:bodyPr wrap="square" lIns="0" tIns="0" rIns="0" bIns="0" rtlCol="0" anchor="ctr"/>
          <a:lstStyle/>
          <a:p>
            <a:pPr algn="ctr" indent="0" marL="0">
              <a:buNone/>
            </a:pPr>
            <a:r>
              <a:rPr lang="en-US" sz="1050" i="1" dirty="0">
                <a:solidFill>
                  <a:srgbClr val="5F6B72"/>
                </a:solidFill>
                <a:latin typeface="Calibri" pitchFamily="34" charset="0"/>
                <a:ea typeface="Calibri" pitchFamily="34" charset="-122"/>
                <a:cs typeface="Calibri" pitchFamily="34" charset="-120"/>
              </a:rPr>
              <a:t>Error del modelo de precio por horizonte, frente a las dos persistencias</a:t>
            </a:r>
            <a:endParaRPr lang="en-US" sz="1050" dirty="0"/>
          </a:p>
        </p:txBody>
      </p:sp>
      <p:sp>
        <p:nvSpPr>
          <p:cNvPr id="8" name="Text 4"/>
          <p:cNvSpPr txBox="1"/>
          <p:nvPr/>
        </p:nvSpPr>
        <p:spPr>
          <a:xfrm>
            <a:off x="502920" y="4526280"/>
            <a:ext cx="3515258" cy="566928"/>
          </a:xfrm>
          <a:prstGeom prst="rect">
            <a:avLst/>
          </a:prstGeom>
          <a:noFill/>
          <a:ln/>
        </p:spPr>
        <p:txBody>
          <a:bodyPr wrap="square" lIns="0" tIns="0" rIns="0" bIns="0" rtlCol="0" anchor="ctr"/>
          <a:lstStyle/>
          <a:p>
            <a:pPr indent="0" marL="0">
              <a:buNone/>
            </a:pPr>
            <a:r>
              <a:rPr lang="en-US" sz="3000" b="1" dirty="0">
                <a:solidFill>
                  <a:srgbClr val="C8861E"/>
                </a:solidFill>
                <a:latin typeface="Cambria" pitchFamily="34" charset="0"/>
                <a:ea typeface="Cambria" pitchFamily="34" charset="-122"/>
                <a:cs typeface="Cambria" pitchFamily="34" charset="-120"/>
              </a:rPr>
              <a:t>− 8,8 %</a:t>
            </a:r>
            <a:endParaRPr lang="en-US" sz="3000" dirty="0"/>
          </a:p>
        </p:txBody>
      </p:sp>
      <p:sp>
        <p:nvSpPr>
          <p:cNvPr id="9" name="Text 5"/>
          <p:cNvSpPr txBox="1"/>
          <p:nvPr/>
        </p:nvSpPr>
        <p:spPr>
          <a:xfrm>
            <a:off x="502920" y="5074920"/>
            <a:ext cx="351525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la red solar frente a la persistencia de cielo claro, en el agregado de 24 h</a:t>
            </a:r>
            <a:endParaRPr lang="en-US" sz="1200" dirty="0"/>
          </a:p>
        </p:txBody>
      </p:sp>
      <p:sp>
        <p:nvSpPr>
          <p:cNvPr id="10" name="Text 6"/>
          <p:cNvSpPr txBox="1"/>
          <p:nvPr/>
        </p:nvSpPr>
        <p:spPr>
          <a:xfrm>
            <a:off x="4338218" y="4526280"/>
            <a:ext cx="3515258" cy="566928"/>
          </a:xfrm>
          <a:prstGeom prst="rect">
            <a:avLst/>
          </a:prstGeom>
          <a:noFill/>
          <a:ln/>
        </p:spPr>
        <p:txBody>
          <a:bodyPr wrap="square" lIns="0" tIns="0" rIns="0" bIns="0" rtlCol="0" anchor="ctr"/>
          <a:lstStyle/>
          <a:p>
            <a:pPr indent="0" marL="0">
              <a:buNone/>
            </a:pPr>
            <a:r>
              <a:rPr lang="en-US" sz="3000" b="1" dirty="0">
                <a:solidFill>
                  <a:srgbClr val="C8861E"/>
                </a:solidFill>
                <a:latin typeface="Cambria" pitchFamily="34" charset="0"/>
                <a:ea typeface="Cambria" pitchFamily="34" charset="-122"/>
                <a:cs typeface="Cambria" pitchFamily="34" charset="-120"/>
              </a:rPr>
              <a:t>− 7,1 %</a:t>
            </a:r>
            <a:endParaRPr lang="en-US" sz="3000" dirty="0"/>
          </a:p>
        </p:txBody>
      </p:sp>
      <p:sp>
        <p:nvSpPr>
          <p:cNvPr id="11" name="Text 7"/>
          <p:cNvSpPr txBox="1"/>
          <p:nvPr/>
        </p:nvSpPr>
        <p:spPr>
          <a:xfrm>
            <a:off x="4338218" y="5074920"/>
            <a:ext cx="351525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la red de precio frente a la persistencia de 24 horas</a:t>
            </a:r>
            <a:endParaRPr lang="en-US" sz="1200" dirty="0"/>
          </a:p>
        </p:txBody>
      </p:sp>
      <p:sp>
        <p:nvSpPr>
          <p:cNvPr id="12" name="Text 8"/>
          <p:cNvSpPr txBox="1"/>
          <p:nvPr/>
        </p:nvSpPr>
        <p:spPr>
          <a:xfrm>
            <a:off x="8173517" y="4526280"/>
            <a:ext cx="3515258" cy="566928"/>
          </a:xfrm>
          <a:prstGeom prst="rect">
            <a:avLst/>
          </a:prstGeom>
          <a:noFill/>
          <a:ln/>
        </p:spPr>
        <p:txBody>
          <a:bodyPr wrap="square" lIns="0" tIns="0" rIns="0" bIns="0" rtlCol="0" anchor="ctr"/>
          <a:lstStyle/>
          <a:p>
            <a:pPr indent="0" marL="0">
              <a:buNone/>
            </a:pPr>
            <a:r>
              <a:rPr lang="en-US" sz="3000" b="1" dirty="0">
                <a:solidFill>
                  <a:srgbClr val="C8861E"/>
                </a:solidFill>
                <a:latin typeface="Cambria" pitchFamily="34" charset="0"/>
                <a:ea typeface="Cambria" pitchFamily="34" charset="-122"/>
                <a:cs typeface="Cambria" pitchFamily="34" charset="-120"/>
              </a:rPr>
              <a:t>+ 27,7 %</a:t>
            </a:r>
            <a:endParaRPr lang="en-US" sz="3000" dirty="0"/>
          </a:p>
        </p:txBody>
      </p:sp>
      <p:sp>
        <p:nvSpPr>
          <p:cNvPr id="13" name="Text 9"/>
          <p:cNvSpPr txBox="1"/>
          <p:nvPr/>
        </p:nvSpPr>
        <p:spPr>
          <a:xfrm>
            <a:off x="8173517" y="5074920"/>
            <a:ext cx="351525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de MAE adicional que costaba una realimentación del buffer en lazo cerrado, detectada y corregida: todas las cifras que siguen son posteriores</a:t>
            </a:r>
            <a:endParaRPr lang="en-US" sz="1200" dirty="0"/>
          </a:p>
        </p:txBody>
      </p:sp>
      <p:sp>
        <p:nvSpPr>
          <p:cNvPr id="14" name="Text 10"/>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MODELOS LSTM  ·  3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La solución: proyección física y ponderación con el naive</a:t>
            </a:r>
            <a:endParaRPr lang="en-US" sz="2600" dirty="0"/>
          </a:p>
        </p:txBody>
      </p:sp>
      <p:sp>
        <p:nvSpPr>
          <p:cNvPr id="4" name="Shape 2"/>
          <p:cNvSpPr/>
          <p:nvPr/>
        </p:nvSpPr>
        <p:spPr>
          <a:xfrm>
            <a:off x="502920" y="1536192"/>
            <a:ext cx="384048" cy="384048"/>
          </a:xfrm>
          <a:prstGeom prst="ellipse">
            <a:avLst/>
          </a:prstGeom>
          <a:solidFill>
            <a:srgbClr val="C8861E"/>
          </a:solidFill>
          <a:ln/>
        </p:spPr>
      </p:sp>
      <p:sp>
        <p:nvSpPr>
          <p:cNvPr id="5" name="Text 3"/>
          <p:cNvSpPr txBox="1"/>
          <p:nvPr/>
        </p:nvSpPr>
        <p:spPr>
          <a:xfrm>
            <a:off x="502920" y="1536192"/>
            <a:ext cx="384048" cy="384048"/>
          </a:xfrm>
          <a:prstGeom prst="rect">
            <a:avLst/>
          </a:prstGeom>
          <a:noFill/>
          <a:ln/>
        </p:spPr>
        <p:txBody>
          <a:bodyPr wrap="square" lIns="0" tIns="0" rIns="0" bIns="0" rtlCol="0" anchor="ctr"/>
          <a:lstStyle/>
          <a:p>
            <a:pPr algn="ctr" indent="0" marL="0">
              <a:buNone/>
            </a:pPr>
            <a:r>
              <a:rPr lang="en-US" sz="1400" b="1" dirty="0">
                <a:solidFill>
                  <a:srgbClr val="10394A"/>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502920" y="2048256"/>
            <a:ext cx="3515258" cy="402336"/>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Proyección sobre la envolvente</a:t>
            </a:r>
            <a:endParaRPr lang="en-US" sz="1700" dirty="0"/>
          </a:p>
        </p:txBody>
      </p:sp>
      <p:sp>
        <p:nvSpPr>
          <p:cNvPr id="7" name="Text 5"/>
          <p:cNvSpPr txBox="1"/>
          <p:nvPr/>
        </p:nvSpPr>
        <p:spPr>
          <a:xfrm>
            <a:off x="502920" y="2505456"/>
            <a:ext cx="3515258" cy="1371600"/>
          </a:xfrm>
          <a:prstGeom prst="rect">
            <a:avLst/>
          </a:prstGeom>
          <a:noFill/>
          <a:ln/>
        </p:spPr>
        <p:txBody>
          <a:bodyPr wrap="square" lIns="0" tIns="0" rIns="0" bIns="0" rtlCol="0" anchor="t"/>
          <a:lstStyle/>
          <a:p>
            <a:pPr indent="0" marL="0">
              <a:lnSpc>
                <a:spcPct val="115000"/>
              </a:lnSpc>
              <a:buNone/>
            </a:pPr>
            <a:r>
              <a:rPr lang="en-US" sz="1300" dirty="0">
                <a:solidFill>
                  <a:srgbClr val="1C1C1C"/>
                </a:solidFill>
                <a:latin typeface="Calibri" pitchFamily="34" charset="0"/>
                <a:ea typeface="Calibri" pitchFamily="34" charset="-122"/>
                <a:cs typeface="Calibri" pitchFamily="34" charset="-120"/>
              </a:rPr>
              <a:t>La predicción se acota a la curva de cielo claro (k_max = 1,00): el MAE diurno baja de 59,4 a 56,0 Wh/m²</a:t>
            </a:r>
            <a:endParaRPr lang="en-US" sz="1300" dirty="0"/>
          </a:p>
        </p:txBody>
      </p:sp>
      <p:sp>
        <p:nvSpPr>
          <p:cNvPr id="8" name="Shape 6"/>
          <p:cNvSpPr/>
          <p:nvPr/>
        </p:nvSpPr>
        <p:spPr>
          <a:xfrm>
            <a:off x="4338218" y="1536192"/>
            <a:ext cx="384048" cy="384048"/>
          </a:xfrm>
          <a:prstGeom prst="ellipse">
            <a:avLst/>
          </a:prstGeom>
          <a:solidFill>
            <a:srgbClr val="C8861E"/>
          </a:solidFill>
          <a:ln/>
        </p:spPr>
      </p:sp>
      <p:sp>
        <p:nvSpPr>
          <p:cNvPr id="9" name="Text 7"/>
          <p:cNvSpPr txBox="1"/>
          <p:nvPr/>
        </p:nvSpPr>
        <p:spPr>
          <a:xfrm>
            <a:off x="4338218" y="1536192"/>
            <a:ext cx="384048" cy="384048"/>
          </a:xfrm>
          <a:prstGeom prst="rect">
            <a:avLst/>
          </a:prstGeom>
          <a:noFill/>
          <a:ln/>
        </p:spPr>
        <p:txBody>
          <a:bodyPr wrap="square" lIns="0" tIns="0" rIns="0" bIns="0" rtlCol="0" anchor="ctr"/>
          <a:lstStyle/>
          <a:p>
            <a:pPr algn="ctr" indent="0" marL="0">
              <a:buNone/>
            </a:pPr>
            <a:r>
              <a:rPr lang="en-US" sz="1400" b="1" dirty="0">
                <a:solidFill>
                  <a:srgbClr val="10394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4338218" y="2048256"/>
            <a:ext cx="3515258" cy="402336"/>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Ponderación con la línea base</a:t>
            </a:r>
            <a:endParaRPr lang="en-US" sz="1700" dirty="0"/>
          </a:p>
        </p:txBody>
      </p:sp>
      <p:sp>
        <p:nvSpPr>
          <p:cNvPr id="11" name="Text 9"/>
          <p:cNvSpPr txBox="1"/>
          <p:nvPr/>
        </p:nvSpPr>
        <p:spPr>
          <a:xfrm>
            <a:off x="4338218" y="2505456"/>
            <a:ext cx="3515258" cy="1371600"/>
          </a:xfrm>
          <a:prstGeom prst="rect">
            <a:avLst/>
          </a:prstGeom>
          <a:noFill/>
          <a:ln/>
        </p:spPr>
        <p:txBody>
          <a:bodyPr wrap="square" lIns="0" tIns="0" rIns="0" bIns="0" rtlCol="0" anchor="t"/>
          <a:lstStyle/>
          <a:p>
            <a:pPr indent="0" marL="0">
              <a:lnSpc>
                <a:spcPct val="115000"/>
              </a:lnSpc>
              <a:buNone/>
            </a:pPr>
            <a:r>
              <a:rPr lang="en-US" sz="1300" dirty="0">
                <a:solidFill>
                  <a:srgbClr val="1C1C1C"/>
                </a:solidFill>
                <a:latin typeface="Calibri" pitchFamily="34" charset="0"/>
                <a:ea typeface="Calibri" pitchFamily="34" charset="-122"/>
                <a:cs typeface="Calibri" pitchFamily="34" charset="-120"/>
              </a:rPr>
              <a:t>Combinación convexa red + naive, con pesos por horizonte ajustados en validación, nunca en test</a:t>
            </a:r>
            <a:endParaRPr lang="en-US" sz="1300" dirty="0"/>
          </a:p>
        </p:txBody>
      </p:sp>
      <p:sp>
        <p:nvSpPr>
          <p:cNvPr id="12" name="Shape 10"/>
          <p:cNvSpPr/>
          <p:nvPr/>
        </p:nvSpPr>
        <p:spPr>
          <a:xfrm>
            <a:off x="8173517" y="1536192"/>
            <a:ext cx="384048" cy="384048"/>
          </a:xfrm>
          <a:prstGeom prst="ellipse">
            <a:avLst/>
          </a:prstGeom>
          <a:solidFill>
            <a:srgbClr val="C8861E"/>
          </a:solidFill>
          <a:ln/>
        </p:spPr>
      </p:sp>
      <p:sp>
        <p:nvSpPr>
          <p:cNvPr id="13" name="Text 11"/>
          <p:cNvSpPr txBox="1"/>
          <p:nvPr/>
        </p:nvSpPr>
        <p:spPr>
          <a:xfrm>
            <a:off x="8173517" y="1536192"/>
            <a:ext cx="384048" cy="384048"/>
          </a:xfrm>
          <a:prstGeom prst="rect">
            <a:avLst/>
          </a:prstGeom>
          <a:noFill/>
          <a:ln/>
        </p:spPr>
        <p:txBody>
          <a:bodyPr wrap="square" lIns="0" tIns="0" rIns="0" bIns="0" rtlCol="0" anchor="ctr"/>
          <a:lstStyle/>
          <a:p>
            <a:pPr algn="ctr" indent="0" marL="0">
              <a:buNone/>
            </a:pPr>
            <a:r>
              <a:rPr lang="en-US" sz="1400" b="1" dirty="0">
                <a:solidFill>
                  <a:srgbClr val="10394A"/>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8173517" y="2048256"/>
            <a:ext cx="3515258" cy="402336"/>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Corrección del lazo cerrado</a:t>
            </a:r>
            <a:endParaRPr lang="en-US" sz="1700" dirty="0"/>
          </a:p>
        </p:txBody>
      </p:sp>
      <p:sp>
        <p:nvSpPr>
          <p:cNvPr id="15" name="Text 13"/>
          <p:cNvSpPr txBox="1"/>
          <p:nvPr/>
        </p:nvSpPr>
        <p:spPr>
          <a:xfrm>
            <a:off x="8173517" y="2505456"/>
            <a:ext cx="3515258" cy="1371600"/>
          </a:xfrm>
          <a:prstGeom prst="rect">
            <a:avLst/>
          </a:prstGeom>
          <a:noFill/>
          <a:ln/>
        </p:spPr>
        <p:txBody>
          <a:bodyPr wrap="square" lIns="0" tIns="0" rIns="0" bIns="0" rtlCol="0" anchor="t"/>
          <a:lstStyle/>
          <a:p>
            <a:pPr indent="0" marL="0">
              <a:lnSpc>
                <a:spcPct val="115000"/>
              </a:lnSpc>
              <a:buNone/>
            </a:pPr>
            <a:r>
              <a:rPr lang="en-US" sz="1300" dirty="0">
                <a:solidFill>
                  <a:srgbClr val="1C1C1C"/>
                </a:solidFill>
                <a:latin typeface="Calibri" pitchFamily="34" charset="0"/>
                <a:ea typeface="Calibri" pitchFamily="34" charset="-122"/>
                <a:cs typeface="Calibri" pitchFamily="34" charset="-120"/>
              </a:rPr>
              <a:t>El buffer se realimenta con el precio real ya transcurrido, que sigue siendo causal</a:t>
            </a:r>
            <a:endParaRPr lang="en-US" sz="1300" dirty="0"/>
          </a:p>
        </p:txBody>
      </p:sp>
      <p:sp>
        <p:nvSpPr>
          <p:cNvPr id="16" name="Shape 14"/>
          <p:cNvSpPr/>
          <p:nvPr/>
        </p:nvSpPr>
        <p:spPr>
          <a:xfrm>
            <a:off x="502920" y="4114800"/>
            <a:ext cx="11185855" cy="0"/>
          </a:xfrm>
          <a:prstGeom prst="line">
            <a:avLst/>
          </a:prstGeom>
          <a:noFill/>
          <a:ln w="9525">
            <a:solidFill>
              <a:srgbClr val="DDE3E6"/>
            </a:solidFill>
            <a:prstDash val="solid"/>
          </a:ln>
        </p:spPr>
      </p:sp>
      <p:sp>
        <p:nvSpPr>
          <p:cNvPr id="17" name="Text 15"/>
          <p:cNvSpPr txBox="1"/>
          <p:nvPr/>
        </p:nvSpPr>
        <p:spPr>
          <a:xfrm>
            <a:off x="1965960" y="4343400"/>
            <a:ext cx="3657600" cy="731520"/>
          </a:xfrm>
          <a:prstGeom prst="rect">
            <a:avLst/>
          </a:prstGeom>
          <a:noFill/>
          <a:ln/>
        </p:spPr>
        <p:txBody>
          <a:bodyPr wrap="square" lIns="0" tIns="0" rIns="0" bIns="0" rtlCol="0" anchor="ctr"/>
          <a:lstStyle/>
          <a:p>
            <a:pPr algn="ctr" indent="0" marL="0">
              <a:buNone/>
            </a:pPr>
            <a:r>
              <a:rPr lang="en-US" sz="4000" b="1" dirty="0">
                <a:solidFill>
                  <a:srgbClr val="C8861E"/>
                </a:solidFill>
                <a:latin typeface="Cambria" pitchFamily="34" charset="0"/>
                <a:ea typeface="Cambria" pitchFamily="34" charset="-122"/>
                <a:cs typeface="Cambria" pitchFamily="34" charset="-120"/>
              </a:rPr>
              <a:t>+ 5,8 %</a:t>
            </a:r>
            <a:endParaRPr lang="en-US" sz="4000" dirty="0"/>
          </a:p>
        </p:txBody>
      </p:sp>
      <p:sp>
        <p:nvSpPr>
          <p:cNvPr id="18" name="Text 16"/>
          <p:cNvSpPr txBox="1"/>
          <p:nvPr/>
        </p:nvSpPr>
        <p:spPr>
          <a:xfrm>
            <a:off x="1965960" y="5074920"/>
            <a:ext cx="3657600" cy="320040"/>
          </a:xfrm>
          <a:prstGeom prst="rect">
            <a:avLst/>
          </a:prstGeom>
          <a:noFill/>
          <a:ln/>
        </p:spPr>
        <p:txBody>
          <a:bodyPr wrap="square" lIns="0" tIns="0" rIns="0" bIns="0" rtlCol="0" anchor="ctr"/>
          <a:lstStyle/>
          <a:p>
            <a:pPr algn="ctr" indent="0" marL="0">
              <a:buNone/>
            </a:pPr>
            <a:r>
              <a:rPr lang="en-US" sz="1250" dirty="0">
                <a:solidFill>
                  <a:srgbClr val="5F6B72"/>
                </a:solidFill>
                <a:latin typeface="Calibri" pitchFamily="34" charset="0"/>
                <a:ea typeface="Calibri" pitchFamily="34" charset="-122"/>
                <a:cs typeface="Calibri" pitchFamily="34" charset="-120"/>
              </a:rPr>
              <a:t>skill solar</a:t>
            </a:r>
            <a:endParaRPr lang="en-US" sz="1250" dirty="0"/>
          </a:p>
        </p:txBody>
      </p:sp>
      <p:sp>
        <p:nvSpPr>
          <p:cNvPr id="19" name="Text 17"/>
          <p:cNvSpPr txBox="1"/>
          <p:nvPr/>
        </p:nvSpPr>
        <p:spPr>
          <a:xfrm>
            <a:off x="6172200" y="4343400"/>
            <a:ext cx="3657600" cy="731520"/>
          </a:xfrm>
          <a:prstGeom prst="rect">
            <a:avLst/>
          </a:prstGeom>
          <a:noFill/>
          <a:ln/>
        </p:spPr>
        <p:txBody>
          <a:bodyPr wrap="square" lIns="0" tIns="0" rIns="0" bIns="0" rtlCol="0" anchor="ctr"/>
          <a:lstStyle/>
          <a:p>
            <a:pPr algn="ctr" indent="0" marL="0">
              <a:buNone/>
            </a:pPr>
            <a:r>
              <a:rPr lang="en-US" sz="4000" b="1" dirty="0">
                <a:solidFill>
                  <a:srgbClr val="C8861E"/>
                </a:solidFill>
                <a:latin typeface="Cambria" pitchFamily="34" charset="0"/>
                <a:ea typeface="Cambria" pitchFamily="34" charset="-122"/>
                <a:cs typeface="Cambria" pitchFamily="34" charset="-120"/>
              </a:rPr>
              <a:t>+ 6,6 %</a:t>
            </a:r>
            <a:endParaRPr lang="en-US" sz="4000" dirty="0"/>
          </a:p>
        </p:txBody>
      </p:sp>
      <p:sp>
        <p:nvSpPr>
          <p:cNvPr id="20" name="Text 18"/>
          <p:cNvSpPr txBox="1"/>
          <p:nvPr/>
        </p:nvSpPr>
        <p:spPr>
          <a:xfrm>
            <a:off x="6172200" y="5074920"/>
            <a:ext cx="3657600" cy="320040"/>
          </a:xfrm>
          <a:prstGeom prst="rect">
            <a:avLst/>
          </a:prstGeom>
          <a:noFill/>
          <a:ln/>
        </p:spPr>
        <p:txBody>
          <a:bodyPr wrap="square" lIns="0" tIns="0" rIns="0" bIns="0" rtlCol="0" anchor="ctr"/>
          <a:lstStyle/>
          <a:p>
            <a:pPr algn="ctr" indent="0" marL="0">
              <a:buNone/>
            </a:pPr>
            <a:r>
              <a:rPr lang="en-US" sz="1250" dirty="0">
                <a:solidFill>
                  <a:srgbClr val="5F6B72"/>
                </a:solidFill>
                <a:latin typeface="Calibri" pitchFamily="34" charset="0"/>
                <a:ea typeface="Calibri" pitchFamily="34" charset="-122"/>
                <a:cs typeface="Calibri" pitchFamily="34" charset="-120"/>
              </a:rPr>
              <a:t>skill precio</a:t>
            </a:r>
            <a:endParaRPr lang="en-US" sz="1250" dirty="0"/>
          </a:p>
        </p:txBody>
      </p:sp>
      <p:sp>
        <p:nvSpPr>
          <p:cNvPr id="21" name="Shape 19"/>
          <p:cNvSpPr/>
          <p:nvPr/>
        </p:nvSpPr>
        <p:spPr>
          <a:xfrm>
            <a:off x="502920" y="5623560"/>
            <a:ext cx="11185855" cy="566928"/>
          </a:xfrm>
          <a:prstGeom prst="roundRect">
            <a:avLst>
              <a:gd name="adj" fmla="val 9677"/>
            </a:avLst>
          </a:prstGeom>
          <a:solidFill>
            <a:srgbClr val="10394A"/>
          </a:solidFill>
          <a:ln/>
        </p:spPr>
      </p:sp>
      <p:sp>
        <p:nvSpPr>
          <p:cNvPr id="22" name="Text 20"/>
          <p:cNvSpPr txBox="1"/>
          <p:nvPr/>
        </p:nvSpPr>
        <p:spPr>
          <a:xfrm>
            <a:off x="777240" y="564184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Lo que consume el EMS no es la salida cruda de la red, sino esta señal combinada.</a:t>
            </a:r>
            <a:endParaRPr lang="en-US" sz="1350" dirty="0"/>
          </a:p>
        </p:txBody>
      </p:sp>
      <p:sp>
        <p:nvSpPr>
          <p:cNvPr id="23" name="Text 21"/>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COMPARACIÓN  ·  4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Cuatro escenarios que cruzan recurso solar y régimen de precio</a:t>
            </a:r>
            <a:endParaRPr lang="en-US" sz="2600" dirty="0"/>
          </a:p>
        </p:txBody>
      </p:sp>
      <p:pic>
        <p:nvPicPr>
          <p:cNvPr id="4" name="Image 0" descr="img/fig_met_escenarios.png">    </p:cNvPr>
          <p:cNvPicPr>
            <a:picLocks noChangeAspect="1"/>
          </p:cNvPicPr>
          <p:nvPr/>
        </p:nvPicPr>
        <p:blipFill>
          <a:blip r:embed="rId1"/>
          <a:stretch>
            <a:fillRect/>
          </a:stretch>
        </p:blipFill>
        <p:spPr>
          <a:xfrm>
            <a:off x="2281693" y="1536192"/>
            <a:ext cx="7628310" cy="3291840"/>
          </a:xfrm>
          <a:prstGeom prst="rect">
            <a:avLst/>
          </a:prstGeom>
        </p:spPr>
      </p:pic>
      <p:sp>
        <p:nvSpPr>
          <p:cNvPr id="5" name="Text 2"/>
          <p:cNvSpPr txBox="1"/>
          <p:nvPr/>
        </p:nvSpPr>
        <p:spPr>
          <a:xfrm>
            <a:off x="502920" y="5074920"/>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E1 laborable soleado, precio plano · E2 nublado, índice de claridad 0,36 con punta de 194 €/MWh</a:t>
            </a:r>
            <a:endParaRPr lang="en-US" sz="1250" dirty="0"/>
          </a:p>
        </p:txBody>
      </p:sp>
      <p:sp>
        <p:nvSpPr>
          <p:cNvPr id="6" name="Text 3"/>
          <p:cNvSpPr txBox="1"/>
          <p:nvPr/>
        </p:nvSpPr>
        <p:spPr>
          <a:xfrm>
            <a:off x="502920" y="5367528"/>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E3 fin de semana soleado, precio casi nulo a mediodía · E4 mayor diferencial de 2025: de 24 a 252 €/MWh</a:t>
            </a:r>
            <a:endParaRPr lang="en-US" sz="1250" dirty="0"/>
          </a:p>
        </p:txBody>
      </p:sp>
      <p:sp>
        <p:nvSpPr>
          <p:cNvPr id="7" name="Text 4"/>
          <p:cNvSpPr txBox="1"/>
          <p:nvPr/>
        </p:nvSpPr>
        <p:spPr>
          <a:xfrm>
            <a:off x="502920" y="5660136"/>
            <a:ext cx="11185855" cy="274320"/>
          </a:xfrm>
          <a:prstGeom prst="rect">
            <a:avLst/>
          </a:prstGeom>
          <a:noFill/>
          <a:ln/>
        </p:spPr>
        <p:txBody>
          <a:bodyPr wrap="square" lIns="0" tIns="0" rIns="0" bIns="0" rtlCol="0" anchor="ctr"/>
          <a:lstStyle/>
          <a:p>
            <a:pPr indent="0" marL="0">
              <a:buNone/>
            </a:pPr>
            <a:r>
              <a:rPr lang="en-US" sz="1250" dirty="0">
                <a:solidFill>
                  <a:srgbClr val="5F6B72"/>
                </a:solidFill>
                <a:latin typeface="Calibri" pitchFamily="34" charset="0"/>
                <a:ea typeface="Calibri" pitchFamily="34" charset="-122"/>
                <a:cs typeface="Calibri" pitchFamily="34" charset="-120"/>
              </a:rPr>
              <a:t>Cada escenario se repite con varias semillas del generador estocástico de demanda</a:t>
            </a:r>
            <a:endParaRPr lang="en-US" sz="1250" dirty="0"/>
          </a:p>
        </p:txBody>
      </p:sp>
      <p:sp>
        <p:nvSpPr>
          <p:cNvPr id="8" name="Text 5"/>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COMPARACIÓN  ·  4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Cuatro piezas sostienen todas las cifras que vienen a continuación</a:t>
            </a:r>
            <a:endParaRPr lang="en-US" sz="2600" dirty="0"/>
          </a:p>
        </p:txBody>
      </p:sp>
      <p:sp>
        <p:nvSpPr>
          <p:cNvPr id="4" name="Shape 2"/>
          <p:cNvSpPr/>
          <p:nvPr/>
        </p:nvSpPr>
        <p:spPr>
          <a:xfrm>
            <a:off x="502920" y="2779776"/>
            <a:ext cx="1325880" cy="548640"/>
          </a:xfrm>
          <a:prstGeom prst="roundRect">
            <a:avLst>
              <a:gd name="adj" fmla="val 10000"/>
            </a:avLst>
          </a:prstGeom>
          <a:solidFill>
            <a:srgbClr val="FFFFFF"/>
          </a:solidFill>
          <a:ln w="12700">
            <a:solidFill>
              <a:srgbClr val="DDE3E6"/>
            </a:solidFill>
            <a:prstDash val="solid"/>
          </a:ln>
        </p:spPr>
      </p:sp>
      <p:sp>
        <p:nvSpPr>
          <p:cNvPr id="5" name="Text 3"/>
          <p:cNvSpPr txBox="1"/>
          <p:nvPr/>
        </p:nvSpPr>
        <p:spPr>
          <a:xfrm>
            <a:off x="502920" y="2779776"/>
            <a:ext cx="1325880" cy="548640"/>
          </a:xfrm>
          <a:prstGeom prst="rect">
            <a:avLst/>
          </a:prstGeom>
          <a:noFill/>
          <a:ln/>
        </p:spPr>
        <p:txBody>
          <a:bodyPr wrap="square" lIns="0" tIns="0" rIns="0" bIns="0" rtlCol="0" anchor="ctr"/>
          <a:lstStyle/>
          <a:p>
            <a:pPr algn="ctr" indent="0" marL="0">
              <a:buNone/>
            </a:pPr>
            <a:r>
              <a:rPr lang="en-US" sz="1250" b="1" dirty="0">
                <a:solidFill>
                  <a:srgbClr val="10394A"/>
                </a:solidFill>
                <a:latin typeface="Calibri" pitchFamily="34" charset="0"/>
                <a:ea typeface="Calibri" pitchFamily="34" charset="-122"/>
                <a:cs typeface="Calibri" pitchFamily="34" charset="-120"/>
              </a:rPr>
              <a:t>Semilla n</a:t>
            </a:r>
            <a:endParaRPr lang="en-US" sz="1250" dirty="0"/>
          </a:p>
        </p:txBody>
      </p:sp>
      <p:sp>
        <p:nvSpPr>
          <p:cNvPr id="6" name="Shape 4"/>
          <p:cNvSpPr/>
          <p:nvPr/>
        </p:nvSpPr>
        <p:spPr>
          <a:xfrm>
            <a:off x="1892808" y="3054096"/>
            <a:ext cx="365760" cy="0"/>
          </a:xfrm>
          <a:prstGeom prst="line">
            <a:avLst/>
          </a:prstGeom>
          <a:noFill/>
          <a:ln w="12700">
            <a:solidFill>
              <a:srgbClr val="5F6B72"/>
            </a:solidFill>
            <a:prstDash val="solid"/>
            <a:tailEnd type="triangle"/>
          </a:ln>
        </p:spPr>
      </p:sp>
      <p:sp>
        <p:nvSpPr>
          <p:cNvPr id="7" name="Shape 5"/>
          <p:cNvSpPr/>
          <p:nvPr/>
        </p:nvSpPr>
        <p:spPr>
          <a:xfrm>
            <a:off x="2322576" y="2596896"/>
            <a:ext cx="2514600" cy="914400"/>
          </a:xfrm>
          <a:prstGeom prst="roundRect">
            <a:avLst>
              <a:gd name="adj" fmla="val 6000"/>
            </a:avLst>
          </a:prstGeom>
          <a:solidFill>
            <a:srgbClr val="FFFFFF"/>
          </a:solidFill>
          <a:ln w="12700">
            <a:solidFill>
              <a:srgbClr val="DDE3E6"/>
            </a:solidFill>
            <a:prstDash val="solid"/>
          </a:ln>
        </p:spPr>
      </p:sp>
      <p:sp>
        <p:nvSpPr>
          <p:cNvPr id="8" name="Text 6"/>
          <p:cNvSpPr txBox="1"/>
          <p:nvPr/>
        </p:nvSpPr>
        <p:spPr>
          <a:xfrm>
            <a:off x="2322576" y="2651760"/>
            <a:ext cx="2514600" cy="475488"/>
          </a:xfrm>
          <a:prstGeom prst="rect">
            <a:avLst/>
          </a:prstGeom>
          <a:noFill/>
          <a:ln/>
        </p:spPr>
        <p:txBody>
          <a:bodyPr wrap="square" lIns="0" tIns="0" rIns="0" bIns="0" rtlCol="0" anchor="ctr"/>
          <a:lstStyle/>
          <a:p>
            <a:pPr algn="ctr" indent="0" marL="0">
              <a:buNone/>
            </a:pPr>
            <a:r>
              <a:rPr lang="en-US" sz="1250" b="1" dirty="0">
                <a:solidFill>
                  <a:srgbClr val="10394A"/>
                </a:solidFill>
                <a:latin typeface="Calibri" pitchFamily="34" charset="0"/>
                <a:ea typeface="Calibri" pitchFamily="34" charset="-122"/>
                <a:cs typeface="Calibri" pitchFamily="34" charset="-120"/>
              </a:rPr>
              <a:t>Un perfil de demanda</a:t>
            </a:r>
            <a:endParaRPr lang="en-US" sz="1250" dirty="0"/>
          </a:p>
        </p:txBody>
      </p:sp>
      <p:sp>
        <p:nvSpPr>
          <p:cNvPr id="9" name="Text 7"/>
          <p:cNvSpPr txBox="1"/>
          <p:nvPr/>
        </p:nvSpPr>
        <p:spPr>
          <a:xfrm>
            <a:off x="2377440" y="3072384"/>
            <a:ext cx="2404872" cy="384048"/>
          </a:xfrm>
          <a:prstGeom prst="rect">
            <a:avLst/>
          </a:prstGeom>
          <a:noFill/>
          <a:ln/>
        </p:spPr>
        <p:txBody>
          <a:bodyPr wrap="square" lIns="0" tIns="0" rIns="0" bIns="0" rtlCol="0" anchor="t"/>
          <a:lstStyle/>
          <a:p>
            <a:pPr algn="ctr" indent="0" marL="0">
              <a:lnSpc>
                <a:spcPct val="105000"/>
              </a:lnSpc>
              <a:buNone/>
            </a:pPr>
            <a:r>
              <a:rPr lang="en-US" sz="950" dirty="0">
                <a:solidFill>
                  <a:srgbClr val="5F6B72"/>
                </a:solidFill>
                <a:latin typeface="Calibri" pitchFamily="34" charset="0"/>
                <a:ea typeface="Calibri" pitchFamily="34" charset="-122"/>
                <a:cs typeface="Calibri" pitchFamily="34" charset="-120"/>
              </a:rPr>
              <a:t>los mismos vehículos, a las mismas horas, con las mismas energías</a:t>
            </a:r>
            <a:endParaRPr lang="en-US" sz="950" dirty="0"/>
          </a:p>
        </p:txBody>
      </p:sp>
      <p:sp>
        <p:nvSpPr>
          <p:cNvPr id="10" name="Shape 8"/>
          <p:cNvSpPr/>
          <p:nvPr/>
        </p:nvSpPr>
        <p:spPr>
          <a:xfrm>
            <a:off x="4901184" y="3054096"/>
            <a:ext cx="310896" cy="0"/>
          </a:xfrm>
          <a:prstGeom prst="line">
            <a:avLst/>
          </a:prstGeom>
          <a:noFill/>
          <a:ln w="12700">
            <a:solidFill>
              <a:srgbClr val="5F6B72"/>
            </a:solidFill>
            <a:prstDash val="solid"/>
          </a:ln>
        </p:spPr>
      </p:sp>
      <p:sp>
        <p:nvSpPr>
          <p:cNvPr id="11" name="Shape 9"/>
          <p:cNvSpPr/>
          <p:nvPr/>
        </p:nvSpPr>
        <p:spPr>
          <a:xfrm>
            <a:off x="5212080" y="2167128"/>
            <a:ext cx="0" cy="1316736"/>
          </a:xfrm>
          <a:prstGeom prst="line">
            <a:avLst/>
          </a:prstGeom>
          <a:noFill/>
          <a:ln w="12700">
            <a:solidFill>
              <a:srgbClr val="5F6B72"/>
            </a:solidFill>
            <a:prstDash val="solid"/>
          </a:ln>
        </p:spPr>
      </p:sp>
      <p:sp>
        <p:nvSpPr>
          <p:cNvPr id="12" name="Shape 10"/>
          <p:cNvSpPr/>
          <p:nvPr/>
        </p:nvSpPr>
        <p:spPr>
          <a:xfrm>
            <a:off x="5212080" y="2167128"/>
            <a:ext cx="128016" cy="0"/>
          </a:xfrm>
          <a:prstGeom prst="line">
            <a:avLst/>
          </a:prstGeom>
          <a:noFill/>
          <a:ln w="12700">
            <a:solidFill>
              <a:srgbClr val="5F6B72"/>
            </a:solidFill>
            <a:prstDash val="solid"/>
            <a:tailEnd type="triangle"/>
          </a:ln>
        </p:spPr>
      </p:sp>
      <p:sp>
        <p:nvSpPr>
          <p:cNvPr id="13" name="Shape 11"/>
          <p:cNvSpPr/>
          <p:nvPr/>
        </p:nvSpPr>
        <p:spPr>
          <a:xfrm>
            <a:off x="5212080" y="3483864"/>
            <a:ext cx="128016" cy="0"/>
          </a:xfrm>
          <a:prstGeom prst="line">
            <a:avLst/>
          </a:prstGeom>
          <a:noFill/>
          <a:ln w="12700">
            <a:solidFill>
              <a:srgbClr val="5F6B72"/>
            </a:solidFill>
            <a:prstDash val="solid"/>
            <a:tailEnd type="triangle"/>
          </a:ln>
        </p:spPr>
      </p:sp>
      <p:sp>
        <p:nvSpPr>
          <p:cNvPr id="14" name="Shape 12"/>
          <p:cNvSpPr/>
          <p:nvPr/>
        </p:nvSpPr>
        <p:spPr>
          <a:xfrm>
            <a:off x="5340096" y="1892808"/>
            <a:ext cx="1874520" cy="548640"/>
          </a:xfrm>
          <a:prstGeom prst="roundRect">
            <a:avLst>
              <a:gd name="adj" fmla="val 10000"/>
            </a:avLst>
          </a:prstGeom>
          <a:solidFill>
            <a:srgbClr val="FFFFFF"/>
          </a:solidFill>
          <a:ln w="12700">
            <a:solidFill>
              <a:srgbClr val="DDE3E6"/>
            </a:solidFill>
            <a:prstDash val="solid"/>
          </a:ln>
        </p:spPr>
      </p:sp>
      <p:sp>
        <p:nvSpPr>
          <p:cNvPr id="15" name="Text 13"/>
          <p:cNvSpPr txBox="1"/>
          <p:nvPr/>
        </p:nvSpPr>
        <p:spPr>
          <a:xfrm>
            <a:off x="5340096" y="1892808"/>
            <a:ext cx="1874520" cy="548640"/>
          </a:xfrm>
          <a:prstGeom prst="rect">
            <a:avLst/>
          </a:prstGeom>
          <a:noFill/>
          <a:ln/>
        </p:spPr>
        <p:txBody>
          <a:bodyPr wrap="square" lIns="0" tIns="0" rIns="0" bIns="0" rtlCol="0" anchor="ctr"/>
          <a:lstStyle/>
          <a:p>
            <a:pPr algn="ctr" indent="0" marL="0">
              <a:buNone/>
            </a:pPr>
            <a:r>
              <a:rPr lang="en-US" sz="1250" b="1" dirty="0">
                <a:solidFill>
                  <a:srgbClr val="10394A"/>
                </a:solidFill>
                <a:latin typeface="Calibri" pitchFamily="34" charset="0"/>
                <a:ea typeface="Calibri" pitchFamily="34" charset="-122"/>
                <a:cs typeface="Calibri" pitchFamily="34" charset="-120"/>
              </a:rPr>
              <a:t>Versión A</a:t>
            </a:r>
            <a:endParaRPr lang="en-US" sz="1250" dirty="0"/>
          </a:p>
        </p:txBody>
      </p:sp>
      <p:sp>
        <p:nvSpPr>
          <p:cNvPr id="16" name="Shape 14"/>
          <p:cNvSpPr/>
          <p:nvPr/>
        </p:nvSpPr>
        <p:spPr>
          <a:xfrm>
            <a:off x="5340096" y="3209544"/>
            <a:ext cx="1874520" cy="548640"/>
          </a:xfrm>
          <a:prstGeom prst="roundRect">
            <a:avLst>
              <a:gd name="adj" fmla="val 10000"/>
            </a:avLst>
          </a:prstGeom>
          <a:solidFill>
            <a:srgbClr val="10394A"/>
          </a:solidFill>
          <a:ln w="12700">
            <a:solidFill>
              <a:srgbClr val="10394A"/>
            </a:solidFill>
            <a:prstDash val="solid"/>
          </a:ln>
        </p:spPr>
      </p:sp>
      <p:sp>
        <p:nvSpPr>
          <p:cNvPr id="17" name="Text 15"/>
          <p:cNvSpPr txBox="1"/>
          <p:nvPr/>
        </p:nvSpPr>
        <p:spPr>
          <a:xfrm>
            <a:off x="5340096" y="3209544"/>
            <a:ext cx="1874520"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Versión C</a:t>
            </a:r>
            <a:endParaRPr lang="en-US" sz="1250" dirty="0"/>
          </a:p>
        </p:txBody>
      </p:sp>
      <p:sp>
        <p:nvSpPr>
          <p:cNvPr id="18" name="Text 16"/>
          <p:cNvSpPr txBox="1"/>
          <p:nvPr/>
        </p:nvSpPr>
        <p:spPr>
          <a:xfrm>
            <a:off x="5340096" y="2487168"/>
            <a:ext cx="1874520" cy="402336"/>
          </a:xfrm>
          <a:prstGeom prst="rect">
            <a:avLst/>
          </a:prstGeom>
          <a:noFill/>
          <a:ln/>
        </p:spPr>
        <p:txBody>
          <a:bodyPr wrap="square" lIns="0" tIns="0" rIns="0" bIns="0" rtlCol="0" anchor="ctr"/>
          <a:lstStyle/>
          <a:p>
            <a:pPr algn="ctr" indent="0" marL="0">
              <a:buNone/>
            </a:pPr>
            <a:r>
              <a:rPr lang="en-US" sz="1000" i="1" dirty="0">
                <a:solidFill>
                  <a:srgbClr val="C8861E"/>
                </a:solidFill>
                <a:latin typeface="Calibri" pitchFamily="34" charset="0"/>
                <a:ea typeface="Calibri" pitchFamily="34" charset="-122"/>
                <a:cs typeface="Calibri" pitchFamily="34" charset="-120"/>
              </a:rPr>
              <a:t>misma demanda, distinto gestor</a:t>
            </a:r>
            <a:endParaRPr lang="en-US" sz="1000" dirty="0"/>
          </a:p>
        </p:txBody>
      </p:sp>
      <p:sp>
        <p:nvSpPr>
          <p:cNvPr id="19" name="Shape 17"/>
          <p:cNvSpPr/>
          <p:nvPr/>
        </p:nvSpPr>
        <p:spPr>
          <a:xfrm>
            <a:off x="7278624" y="2167128"/>
            <a:ext cx="374904" cy="0"/>
          </a:xfrm>
          <a:prstGeom prst="line">
            <a:avLst/>
          </a:prstGeom>
          <a:noFill/>
          <a:ln w="12700">
            <a:solidFill>
              <a:srgbClr val="5F6B72"/>
            </a:solidFill>
            <a:prstDash val="solid"/>
            <a:tailEnd type="triangle"/>
          </a:ln>
        </p:spPr>
      </p:sp>
      <p:sp>
        <p:nvSpPr>
          <p:cNvPr id="20" name="Shape 18"/>
          <p:cNvSpPr/>
          <p:nvPr/>
        </p:nvSpPr>
        <p:spPr>
          <a:xfrm>
            <a:off x="7278624" y="3483864"/>
            <a:ext cx="374904" cy="0"/>
          </a:xfrm>
          <a:prstGeom prst="line">
            <a:avLst/>
          </a:prstGeom>
          <a:noFill/>
          <a:ln w="12700">
            <a:solidFill>
              <a:srgbClr val="5F6B72"/>
            </a:solidFill>
            <a:prstDash val="solid"/>
            <a:tailEnd type="triangle"/>
          </a:ln>
        </p:spPr>
      </p:sp>
      <p:sp>
        <p:nvSpPr>
          <p:cNvPr id="21" name="Shape 19"/>
          <p:cNvSpPr/>
          <p:nvPr/>
        </p:nvSpPr>
        <p:spPr>
          <a:xfrm>
            <a:off x="7653528" y="2167128"/>
            <a:ext cx="0" cy="1316736"/>
          </a:xfrm>
          <a:prstGeom prst="line">
            <a:avLst/>
          </a:prstGeom>
          <a:noFill/>
          <a:ln w="12700">
            <a:solidFill>
              <a:srgbClr val="5F6B72"/>
            </a:solidFill>
            <a:prstDash val="solid"/>
          </a:ln>
        </p:spPr>
      </p:sp>
      <p:sp>
        <p:nvSpPr>
          <p:cNvPr id="22" name="Shape 20"/>
          <p:cNvSpPr/>
          <p:nvPr/>
        </p:nvSpPr>
        <p:spPr>
          <a:xfrm>
            <a:off x="7653528" y="3054096"/>
            <a:ext cx="128016" cy="0"/>
          </a:xfrm>
          <a:prstGeom prst="line">
            <a:avLst/>
          </a:prstGeom>
          <a:noFill/>
          <a:ln w="12700">
            <a:solidFill>
              <a:srgbClr val="5F6B72"/>
            </a:solidFill>
            <a:prstDash val="solid"/>
            <a:tailEnd type="triangle"/>
          </a:ln>
        </p:spPr>
      </p:sp>
      <p:sp>
        <p:nvSpPr>
          <p:cNvPr id="23" name="Shape 21"/>
          <p:cNvSpPr/>
          <p:nvPr/>
        </p:nvSpPr>
        <p:spPr>
          <a:xfrm>
            <a:off x="7781544" y="2596896"/>
            <a:ext cx="2057400" cy="914400"/>
          </a:xfrm>
          <a:prstGeom prst="roundRect">
            <a:avLst>
              <a:gd name="adj" fmla="val 6000"/>
            </a:avLst>
          </a:prstGeom>
          <a:solidFill>
            <a:srgbClr val="FFFFFF"/>
          </a:solidFill>
          <a:ln w="12700">
            <a:solidFill>
              <a:srgbClr val="DDE3E6"/>
            </a:solidFill>
            <a:prstDash val="solid"/>
          </a:ln>
        </p:spPr>
      </p:sp>
      <p:sp>
        <p:nvSpPr>
          <p:cNvPr id="24" name="Text 22"/>
          <p:cNvSpPr txBox="1"/>
          <p:nvPr/>
        </p:nvSpPr>
        <p:spPr>
          <a:xfrm>
            <a:off x="7781544" y="2651760"/>
            <a:ext cx="2057400" cy="475488"/>
          </a:xfrm>
          <a:prstGeom prst="rect">
            <a:avLst/>
          </a:prstGeom>
          <a:noFill/>
          <a:ln/>
        </p:spPr>
        <p:txBody>
          <a:bodyPr wrap="square" lIns="0" tIns="0" rIns="0" bIns="0" rtlCol="0" anchor="ctr"/>
          <a:lstStyle/>
          <a:p>
            <a:pPr algn="ctr" indent="0" marL="0">
              <a:buNone/>
            </a:pPr>
            <a:r>
              <a:rPr lang="en-US" sz="1250" b="1" dirty="0">
                <a:solidFill>
                  <a:srgbClr val="10394A"/>
                </a:solidFill>
                <a:latin typeface="Calibri" pitchFamily="34" charset="0"/>
                <a:ea typeface="Calibri" pitchFamily="34" charset="-122"/>
                <a:cs typeface="Calibri" pitchFamily="34" charset="-120"/>
              </a:rPr>
              <a:t>Diferencia del par</a:t>
            </a:r>
            <a:endParaRPr lang="en-US" sz="1250" dirty="0"/>
          </a:p>
        </p:txBody>
      </p:sp>
      <p:sp>
        <p:nvSpPr>
          <p:cNvPr id="25" name="Text 23"/>
          <p:cNvSpPr txBox="1"/>
          <p:nvPr/>
        </p:nvSpPr>
        <p:spPr>
          <a:xfrm>
            <a:off x="7836408" y="3072384"/>
            <a:ext cx="1947672" cy="384048"/>
          </a:xfrm>
          <a:prstGeom prst="rect">
            <a:avLst/>
          </a:prstGeom>
          <a:noFill/>
          <a:ln/>
        </p:spPr>
        <p:txBody>
          <a:bodyPr wrap="square" lIns="0" tIns="0" rIns="0" bIns="0" rtlCol="0" anchor="t"/>
          <a:lstStyle/>
          <a:p>
            <a:pPr algn="ctr" indent="0" marL="0">
              <a:lnSpc>
                <a:spcPct val="105000"/>
              </a:lnSpc>
              <a:buNone/>
            </a:pPr>
            <a:r>
              <a:rPr lang="en-US" sz="950" dirty="0">
                <a:solidFill>
                  <a:srgbClr val="5F6B72"/>
                </a:solidFill>
                <a:latin typeface="Calibri" pitchFamily="34" charset="0"/>
                <a:ea typeface="Calibri" pitchFamily="34" charset="-122"/>
                <a:cs typeface="Calibri" pitchFamily="34" charset="-120"/>
              </a:rPr>
              <a:t>C − A, en euros por semana</a:t>
            </a:r>
            <a:endParaRPr lang="en-US" sz="950" dirty="0"/>
          </a:p>
        </p:txBody>
      </p:sp>
      <p:sp>
        <p:nvSpPr>
          <p:cNvPr id="26" name="Text 24"/>
          <p:cNvSpPr txBox="1"/>
          <p:nvPr/>
        </p:nvSpPr>
        <p:spPr>
          <a:xfrm>
            <a:off x="10113264" y="2578608"/>
            <a:ext cx="1575511" cy="566928"/>
          </a:xfrm>
          <a:prstGeom prst="rect">
            <a:avLst/>
          </a:prstGeom>
          <a:noFill/>
          <a:ln/>
        </p:spPr>
        <p:txBody>
          <a:bodyPr wrap="square" lIns="0" tIns="0" rIns="0" bIns="0" rtlCol="0" anchor="ctr"/>
          <a:lstStyle/>
          <a:p>
            <a:pPr algn="l" indent="0" marL="0">
              <a:buNone/>
            </a:pPr>
            <a:r>
              <a:rPr lang="en-US" sz="3000" b="1" dirty="0">
                <a:solidFill>
                  <a:srgbClr val="C8861E"/>
                </a:solidFill>
                <a:latin typeface="Cambria" pitchFamily="34" charset="0"/>
                <a:ea typeface="Cambria" pitchFamily="34" charset="-122"/>
                <a:cs typeface="Cambria" pitchFamily="34" charset="-120"/>
              </a:rPr>
              <a:t>× 20</a:t>
            </a:r>
            <a:endParaRPr lang="en-US" sz="3000" dirty="0"/>
          </a:p>
        </p:txBody>
      </p:sp>
      <p:sp>
        <p:nvSpPr>
          <p:cNvPr id="27" name="Text 25"/>
          <p:cNvSpPr txBox="1"/>
          <p:nvPr/>
        </p:nvSpPr>
        <p:spPr>
          <a:xfrm>
            <a:off x="10149840" y="3127248"/>
            <a:ext cx="1575511" cy="310896"/>
          </a:xfrm>
          <a:prstGeom prst="rect">
            <a:avLst/>
          </a:prstGeom>
          <a:noFill/>
          <a:ln/>
        </p:spPr>
        <p:txBody>
          <a:bodyPr wrap="square" lIns="0" tIns="0" rIns="0" bIns="0" rtlCol="0" anchor="ctr"/>
          <a:lstStyle/>
          <a:p>
            <a:pPr algn="l" indent="0" marL="0">
              <a:buNone/>
            </a:pPr>
            <a:r>
              <a:rPr lang="en-US" sz="1000" dirty="0">
                <a:solidFill>
                  <a:srgbClr val="5F6B72"/>
                </a:solidFill>
                <a:latin typeface="Calibri" pitchFamily="34" charset="0"/>
                <a:ea typeface="Calibri" pitchFamily="34" charset="-122"/>
                <a:cs typeface="Calibri" pitchFamily="34" charset="-120"/>
              </a:rPr>
              <a:t>4 escenarios × 5 semillas</a:t>
            </a:r>
            <a:endParaRPr lang="en-US" sz="1000" dirty="0"/>
          </a:p>
        </p:txBody>
      </p:sp>
      <p:sp>
        <p:nvSpPr>
          <p:cNvPr id="28" name="Text 26"/>
          <p:cNvSpPr txBox="1"/>
          <p:nvPr/>
        </p:nvSpPr>
        <p:spPr>
          <a:xfrm>
            <a:off x="502920" y="3968496"/>
            <a:ext cx="11185855" cy="310896"/>
          </a:xfrm>
          <a:prstGeom prst="rect">
            <a:avLst/>
          </a:prstGeom>
          <a:noFill/>
          <a:ln/>
        </p:spPr>
        <p:txBody>
          <a:bodyPr wrap="square" lIns="0" tIns="0" rIns="0" bIns="0" rtlCol="0" anchor="ctr"/>
          <a:lstStyle/>
          <a:p>
            <a:pPr algn="ctr" indent="0" marL="0">
              <a:buNone/>
            </a:pPr>
            <a:r>
              <a:rPr lang="en-US" sz="1150" i="1" dirty="0">
                <a:solidFill>
                  <a:srgbClr val="5F6B72"/>
                </a:solidFill>
                <a:latin typeface="Calibri" pitchFamily="34" charset="0"/>
                <a:ea typeface="Calibri" pitchFamily="34" charset="-122"/>
                <a:cs typeface="Calibri" pitchFamily="34" charset="-120"/>
              </a:rPr>
              <a:t>El ruido de la demanda es común a los dos miembros del par y se cancela en la resta: el contraste se hace sobre las 20 diferencias, no sobre dos medias.</a:t>
            </a:r>
            <a:endParaRPr lang="en-US" sz="1150" dirty="0"/>
          </a:p>
        </p:txBody>
      </p:sp>
      <p:sp>
        <p:nvSpPr>
          <p:cNvPr id="29" name="Shape 27"/>
          <p:cNvSpPr/>
          <p:nvPr/>
        </p:nvSpPr>
        <p:spPr>
          <a:xfrm>
            <a:off x="502920" y="4590288"/>
            <a:ext cx="11185855" cy="0"/>
          </a:xfrm>
          <a:prstGeom prst="line">
            <a:avLst/>
          </a:prstGeom>
          <a:noFill/>
          <a:ln w="9525">
            <a:solidFill>
              <a:srgbClr val="DDE3E6"/>
            </a:solidFill>
            <a:prstDash val="solid"/>
          </a:ln>
        </p:spPr>
      </p:sp>
      <p:sp>
        <p:nvSpPr>
          <p:cNvPr id="30" name="Text 28"/>
          <p:cNvSpPr txBox="1"/>
          <p:nvPr/>
        </p:nvSpPr>
        <p:spPr>
          <a:xfrm>
            <a:off x="502920" y="4773168"/>
            <a:ext cx="2563292" cy="347472"/>
          </a:xfrm>
          <a:prstGeom prst="rect">
            <a:avLst/>
          </a:prstGeom>
          <a:noFill/>
          <a:ln/>
        </p:spPr>
        <p:txBody>
          <a:bodyPr wrap="square" lIns="0" tIns="0" rIns="0" bIns="0" rtlCol="0" anchor="ctr"/>
          <a:lstStyle/>
          <a:p>
            <a:pPr indent="0" marL="0">
              <a:buNone/>
            </a:pPr>
            <a:r>
              <a:rPr lang="en-US" sz="1500" b="1" dirty="0">
                <a:solidFill>
                  <a:srgbClr val="10394A"/>
                </a:solidFill>
                <a:latin typeface="Cambria" pitchFamily="34" charset="0"/>
                <a:ea typeface="Cambria" pitchFamily="34" charset="-122"/>
                <a:cs typeface="Cambria" pitchFamily="34" charset="-120"/>
              </a:rPr>
              <a:t>Pareado por semilla</a:t>
            </a:r>
            <a:endParaRPr lang="en-US" sz="1500" dirty="0"/>
          </a:p>
        </p:txBody>
      </p:sp>
      <p:sp>
        <p:nvSpPr>
          <p:cNvPr id="31" name="Text 29"/>
          <p:cNvSpPr txBox="1"/>
          <p:nvPr/>
        </p:nvSpPr>
        <p:spPr>
          <a:xfrm>
            <a:off x="502920" y="5157216"/>
            <a:ext cx="2563292" cy="1005840"/>
          </a:xfrm>
          <a:prstGeom prst="rect">
            <a:avLst/>
          </a:prstGeom>
          <a:noFill/>
          <a:ln/>
        </p:spPr>
        <p:txBody>
          <a:bodyPr wrap="square" lIns="0" tIns="0" rIns="0" bIns="0" rtlCol="0" anchor="t"/>
          <a:lstStyle/>
          <a:p>
            <a:pPr indent="0" marL="0">
              <a:lnSpc>
                <a:spcPct val="114000"/>
              </a:lnSpc>
              <a:buNone/>
            </a:pPr>
            <a:r>
              <a:rPr lang="en-US" sz="1200" dirty="0">
                <a:solidFill>
                  <a:srgbClr val="1C1C1C"/>
                </a:solidFill>
                <a:latin typeface="Calibri" pitchFamily="34" charset="0"/>
                <a:ea typeface="Calibri" pitchFamily="34" charset="-122"/>
                <a:cs typeface="Calibri" pitchFamily="34" charset="-120"/>
              </a:rPr>
              <a:t>La semilla n genera exactamente el mismo perfil de demanda en todas las versiones</a:t>
            </a:r>
            <a:endParaRPr lang="en-US" sz="1200" dirty="0"/>
          </a:p>
        </p:txBody>
      </p:sp>
      <p:sp>
        <p:nvSpPr>
          <p:cNvPr id="32" name="Text 30"/>
          <p:cNvSpPr txBox="1"/>
          <p:nvPr/>
        </p:nvSpPr>
        <p:spPr>
          <a:xfrm>
            <a:off x="3377108" y="4773168"/>
            <a:ext cx="2563292" cy="347472"/>
          </a:xfrm>
          <a:prstGeom prst="rect">
            <a:avLst/>
          </a:prstGeom>
          <a:noFill/>
          <a:ln/>
        </p:spPr>
        <p:txBody>
          <a:bodyPr wrap="square" lIns="0" tIns="0" rIns="0" bIns="0" rtlCol="0" anchor="ctr"/>
          <a:lstStyle/>
          <a:p>
            <a:pPr indent="0" marL="0">
              <a:buNone/>
            </a:pPr>
            <a:r>
              <a:rPr lang="en-US" sz="1500" b="1" dirty="0">
                <a:solidFill>
                  <a:srgbClr val="10394A"/>
                </a:solidFill>
                <a:latin typeface="Cambria" pitchFamily="34" charset="0"/>
                <a:ea typeface="Cambria" pitchFamily="34" charset="-122"/>
                <a:cs typeface="Cambria" pitchFamily="34" charset="-120"/>
              </a:rPr>
              <a:t>Test de Wilcoxon</a:t>
            </a:r>
            <a:endParaRPr lang="en-US" sz="1500" dirty="0"/>
          </a:p>
        </p:txBody>
      </p:sp>
      <p:sp>
        <p:nvSpPr>
          <p:cNvPr id="33" name="Text 31"/>
          <p:cNvSpPr txBox="1"/>
          <p:nvPr/>
        </p:nvSpPr>
        <p:spPr>
          <a:xfrm>
            <a:off x="3377108" y="5157216"/>
            <a:ext cx="2563292" cy="1005840"/>
          </a:xfrm>
          <a:prstGeom prst="rect">
            <a:avLst/>
          </a:prstGeom>
          <a:noFill/>
          <a:ln/>
        </p:spPr>
        <p:txBody>
          <a:bodyPr wrap="square" lIns="0" tIns="0" rIns="0" bIns="0" rtlCol="0" anchor="t"/>
          <a:lstStyle/>
          <a:p>
            <a:pPr indent="0" marL="0">
              <a:lnSpc>
                <a:spcPct val="114000"/>
              </a:lnSpc>
              <a:buNone/>
            </a:pPr>
            <a:r>
              <a:rPr lang="en-US" sz="1200" dirty="0">
                <a:solidFill>
                  <a:srgbClr val="1C1C1C"/>
                </a:solidFill>
                <a:latin typeface="Calibri" pitchFamily="34" charset="0"/>
                <a:ea typeface="Calibri" pitchFamily="34" charset="-122"/>
                <a:cs typeface="Calibri" pitchFamily="34" charset="-120"/>
              </a:rPr>
              <a:t>Rangos con signo, no medias: tres semillas nubladas llegaban a dominarlas</a:t>
            </a:r>
            <a:endParaRPr lang="en-US" sz="1200" dirty="0"/>
          </a:p>
        </p:txBody>
      </p:sp>
      <p:sp>
        <p:nvSpPr>
          <p:cNvPr id="34" name="Text 32"/>
          <p:cNvSpPr txBox="1"/>
          <p:nvPr/>
        </p:nvSpPr>
        <p:spPr>
          <a:xfrm>
            <a:off x="6251296" y="4773168"/>
            <a:ext cx="2563292" cy="347472"/>
          </a:xfrm>
          <a:prstGeom prst="rect">
            <a:avLst/>
          </a:prstGeom>
          <a:noFill/>
          <a:ln/>
        </p:spPr>
        <p:txBody>
          <a:bodyPr wrap="square" lIns="0" tIns="0" rIns="0" bIns="0" rtlCol="0" anchor="ctr"/>
          <a:lstStyle/>
          <a:p>
            <a:pPr indent="0" marL="0">
              <a:buNone/>
            </a:pPr>
            <a:r>
              <a:rPr lang="en-US" sz="1500" b="1" dirty="0">
                <a:solidFill>
                  <a:srgbClr val="10394A"/>
                </a:solidFill>
                <a:latin typeface="Cambria" pitchFamily="34" charset="0"/>
                <a:ea typeface="Cambria" pitchFamily="34" charset="-122"/>
                <a:cs typeface="Cambria" pitchFamily="34" charset="-120"/>
              </a:rPr>
              <a:t>Umbral de relevancia</a:t>
            </a:r>
            <a:endParaRPr lang="en-US" sz="1500" dirty="0"/>
          </a:p>
        </p:txBody>
      </p:sp>
      <p:sp>
        <p:nvSpPr>
          <p:cNvPr id="35" name="Text 33"/>
          <p:cNvSpPr txBox="1"/>
          <p:nvPr/>
        </p:nvSpPr>
        <p:spPr>
          <a:xfrm>
            <a:off x="6251296" y="5157216"/>
            <a:ext cx="2563292" cy="1005840"/>
          </a:xfrm>
          <a:prstGeom prst="rect">
            <a:avLst/>
          </a:prstGeom>
          <a:noFill/>
          <a:ln/>
        </p:spPr>
        <p:txBody>
          <a:bodyPr wrap="square" lIns="0" tIns="0" rIns="0" bIns="0" rtlCol="0" anchor="t"/>
          <a:lstStyle/>
          <a:p>
            <a:pPr indent="0" marL="0">
              <a:lnSpc>
                <a:spcPct val="114000"/>
              </a:lnSpc>
              <a:buNone/>
            </a:pPr>
            <a:r>
              <a:rPr lang="en-US" sz="1200" dirty="0">
                <a:solidFill>
                  <a:srgbClr val="1C1C1C"/>
                </a:solidFill>
                <a:latin typeface="Calibri" pitchFamily="34" charset="0"/>
                <a:ea typeface="Calibri" pitchFamily="34" charset="-122"/>
                <a:cs typeface="Calibri" pitchFamily="34" charset="-120"/>
              </a:rPr>
              <a:t>9,33 €/semana, la dispersión de la propia referencia. Fijado antes de simular</a:t>
            </a:r>
            <a:endParaRPr lang="en-US" sz="1200" dirty="0"/>
          </a:p>
        </p:txBody>
      </p:sp>
      <p:sp>
        <p:nvSpPr>
          <p:cNvPr id="36" name="Text 34"/>
          <p:cNvSpPr txBox="1"/>
          <p:nvPr/>
        </p:nvSpPr>
        <p:spPr>
          <a:xfrm>
            <a:off x="9125483" y="4773168"/>
            <a:ext cx="2563292" cy="347472"/>
          </a:xfrm>
          <a:prstGeom prst="rect">
            <a:avLst/>
          </a:prstGeom>
          <a:noFill/>
          <a:ln/>
        </p:spPr>
        <p:txBody>
          <a:bodyPr wrap="square" lIns="0" tIns="0" rIns="0" bIns="0" rtlCol="0" anchor="ctr"/>
          <a:lstStyle/>
          <a:p>
            <a:pPr indent="0" marL="0">
              <a:buNone/>
            </a:pPr>
            <a:r>
              <a:rPr lang="en-US" sz="1500" b="1" dirty="0">
                <a:solidFill>
                  <a:srgbClr val="10394A"/>
                </a:solidFill>
                <a:latin typeface="Cambria" pitchFamily="34" charset="0"/>
                <a:ea typeface="Cambria" pitchFamily="34" charset="-122"/>
                <a:cs typeface="Cambria" pitchFamily="34" charset="-120"/>
              </a:rPr>
              <a:t>Oráculo</a:t>
            </a:r>
            <a:endParaRPr lang="en-US" sz="1500" dirty="0"/>
          </a:p>
        </p:txBody>
      </p:sp>
      <p:sp>
        <p:nvSpPr>
          <p:cNvPr id="37" name="Text 35"/>
          <p:cNvSpPr txBox="1"/>
          <p:nvPr/>
        </p:nvSpPr>
        <p:spPr>
          <a:xfrm>
            <a:off x="9125483" y="5157216"/>
            <a:ext cx="2563292" cy="1005840"/>
          </a:xfrm>
          <a:prstGeom prst="rect">
            <a:avLst/>
          </a:prstGeom>
          <a:noFill/>
          <a:ln/>
        </p:spPr>
        <p:txBody>
          <a:bodyPr wrap="square" lIns="0" tIns="0" rIns="0" bIns="0" rtlCol="0" anchor="t"/>
          <a:lstStyle/>
          <a:p>
            <a:pPr indent="0" marL="0">
              <a:lnSpc>
                <a:spcPct val="114000"/>
              </a:lnSpc>
              <a:buNone/>
            </a:pPr>
            <a:r>
              <a:rPr lang="en-US" sz="1200" dirty="0">
                <a:solidFill>
                  <a:srgbClr val="1C1C1C"/>
                </a:solidFill>
                <a:latin typeface="Calibri" pitchFamily="34" charset="0"/>
                <a:ea typeface="Calibri" pitchFamily="34" charset="-122"/>
                <a:cs typeface="Calibri" pitchFamily="34" charset="-120"/>
              </a:rPr>
              <a:t>La misma tanda con la previsión perfecta: es la cota superior, no una versión</a:t>
            </a:r>
            <a:endParaRPr lang="en-US" sz="1200" dirty="0"/>
          </a:p>
        </p:txBody>
      </p:sp>
      <p:sp>
        <p:nvSpPr>
          <p:cNvPr id="38" name="Text 36"/>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Versión A: la referencia ya es una heurística madura</a:t>
            </a:r>
            <a:endParaRPr lang="en-US" sz="2600" dirty="0"/>
          </a:p>
        </p:txBody>
      </p:sp>
      <p:sp>
        <p:nvSpPr>
          <p:cNvPr id="4" name="Text 2"/>
          <p:cNvSpPr txBox="1"/>
          <p:nvPr/>
        </p:nvSpPr>
        <p:spPr>
          <a:xfrm>
            <a:off x="502920" y="1536192"/>
            <a:ext cx="11185855" cy="274320"/>
          </a:xfrm>
          <a:prstGeom prst="rect">
            <a:avLst/>
          </a:prstGeom>
          <a:noFill/>
          <a:ln/>
        </p:spPr>
        <p:txBody>
          <a:bodyPr wrap="square" lIns="0" tIns="0" rIns="0" bIns="0" rtlCol="0" anchor="ctr"/>
          <a:lstStyle/>
          <a:p>
            <a:pPr indent="0" marL="0">
              <a:buNone/>
            </a:pPr>
            <a:r>
              <a:rPr lang="en-US" sz="1050" b="1" spc="140" kern="0" dirty="0">
                <a:solidFill>
                  <a:srgbClr val="C8861E"/>
                </a:solidFill>
                <a:latin typeface="Calibri" pitchFamily="34" charset="0"/>
                <a:ea typeface="Calibri" pitchFamily="34" charset="-122"/>
                <a:cs typeface="Calibri" pitchFamily="34" charset="-120"/>
              </a:rPr>
              <a:t>VERSIÓN A · heurística de referencia, adaptada del TFM previo del grupo</a:t>
            </a:r>
            <a:endParaRPr lang="en-US" sz="1050" dirty="0"/>
          </a:p>
        </p:txBody>
      </p:sp>
      <p:sp>
        <p:nvSpPr>
          <p:cNvPr id="5" name="Text 3"/>
          <p:cNvSpPr txBox="1"/>
          <p:nvPr/>
        </p:nvSpPr>
        <p:spPr>
          <a:xfrm>
            <a:off x="502920" y="2039112"/>
            <a:ext cx="4480560" cy="45720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Reparto dinámico por estado de carga</a:t>
            </a:r>
            <a:endParaRPr lang="en-US" sz="1600" dirty="0"/>
          </a:p>
        </p:txBody>
      </p:sp>
      <p:sp>
        <p:nvSpPr>
          <p:cNvPr id="6" name="Text 4"/>
          <p:cNvSpPr txBox="1"/>
          <p:nvPr/>
        </p:nvSpPr>
        <p:spPr>
          <a:xfrm>
            <a:off x="5166360" y="2039112"/>
            <a:ext cx="6522415" cy="457200"/>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80/20, 60/40 y 30/70 entre batería y electrolizador según el SOC</a:t>
            </a:r>
            <a:endParaRPr lang="en-US" sz="1350" dirty="0"/>
          </a:p>
        </p:txBody>
      </p:sp>
      <p:sp>
        <p:nvSpPr>
          <p:cNvPr id="7" name="Shape 5"/>
          <p:cNvSpPr/>
          <p:nvPr/>
        </p:nvSpPr>
        <p:spPr>
          <a:xfrm>
            <a:off x="502920" y="2752344"/>
            <a:ext cx="11185855" cy="0"/>
          </a:xfrm>
          <a:prstGeom prst="line">
            <a:avLst/>
          </a:prstGeom>
          <a:noFill/>
          <a:ln w="9525">
            <a:solidFill>
              <a:srgbClr val="DDE3E6"/>
            </a:solidFill>
            <a:prstDash val="solid"/>
          </a:ln>
        </p:spPr>
      </p:sp>
      <p:sp>
        <p:nvSpPr>
          <p:cNvPr id="8" name="Text 6"/>
          <p:cNvSpPr txBox="1"/>
          <p:nvPr/>
        </p:nvSpPr>
        <p:spPr>
          <a:xfrm>
            <a:off x="502920" y="2953512"/>
            <a:ext cx="4480560" cy="45720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Tiempo mínimo de funcionamiento</a:t>
            </a:r>
            <a:endParaRPr lang="en-US" sz="1600" dirty="0"/>
          </a:p>
        </p:txBody>
      </p:sp>
      <p:sp>
        <p:nvSpPr>
          <p:cNvPr id="9" name="Text 7"/>
          <p:cNvSpPr txBox="1"/>
          <p:nvPr/>
        </p:nvSpPr>
        <p:spPr>
          <a:xfrm>
            <a:off x="5166360" y="2953512"/>
            <a:ext cx="6522415" cy="457200"/>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2 h con histéresis y anti-rebote en electrolizador y pila</a:t>
            </a:r>
            <a:endParaRPr lang="en-US" sz="1350" dirty="0"/>
          </a:p>
        </p:txBody>
      </p:sp>
      <p:sp>
        <p:nvSpPr>
          <p:cNvPr id="10" name="Shape 8"/>
          <p:cNvSpPr/>
          <p:nvPr/>
        </p:nvSpPr>
        <p:spPr>
          <a:xfrm>
            <a:off x="502920" y="3666744"/>
            <a:ext cx="11185855" cy="0"/>
          </a:xfrm>
          <a:prstGeom prst="line">
            <a:avLst/>
          </a:prstGeom>
          <a:noFill/>
          <a:ln w="9525">
            <a:solidFill>
              <a:srgbClr val="DDE3E6"/>
            </a:solidFill>
            <a:prstDash val="solid"/>
          </a:ln>
        </p:spPr>
      </p:sp>
      <p:sp>
        <p:nvSpPr>
          <p:cNvPr id="11" name="Text 9"/>
          <p:cNvSpPr txBox="1"/>
          <p:nvPr/>
        </p:nvSpPr>
        <p:spPr>
          <a:xfrm>
            <a:off x="502920" y="3867912"/>
            <a:ext cx="4480560" cy="45720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Gestión de las dos presiones</a:t>
            </a:r>
            <a:endParaRPr lang="en-US" sz="1600" dirty="0"/>
          </a:p>
        </p:txBody>
      </p:sp>
      <p:sp>
        <p:nvSpPr>
          <p:cNvPr id="12" name="Text 10"/>
          <p:cNvSpPr txBox="1"/>
          <p:nvPr/>
        </p:nvSpPr>
        <p:spPr>
          <a:xfrm>
            <a:off x="5166360" y="3867912"/>
            <a:ext cx="6522415" cy="457200"/>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Tanque tampón, compresor y tanque surtidor con sus umbrales</a:t>
            </a:r>
            <a:endParaRPr lang="en-US" sz="1350" dirty="0"/>
          </a:p>
        </p:txBody>
      </p:sp>
      <p:sp>
        <p:nvSpPr>
          <p:cNvPr id="13" name="Shape 11"/>
          <p:cNvSpPr/>
          <p:nvPr/>
        </p:nvSpPr>
        <p:spPr>
          <a:xfrm>
            <a:off x="502920" y="4581144"/>
            <a:ext cx="11185855" cy="0"/>
          </a:xfrm>
          <a:prstGeom prst="line">
            <a:avLst/>
          </a:prstGeom>
          <a:noFill/>
          <a:ln w="9525">
            <a:solidFill>
              <a:srgbClr val="DDE3E6"/>
            </a:solidFill>
            <a:prstDash val="solid"/>
          </a:ln>
        </p:spPr>
      </p:sp>
      <p:sp>
        <p:nvSpPr>
          <p:cNvPr id="14" name="Text 12"/>
          <p:cNvSpPr txBox="1"/>
          <p:nvPr/>
        </p:nvSpPr>
        <p:spPr>
          <a:xfrm>
            <a:off x="502920" y="4782312"/>
            <a:ext cx="4480560" cy="457200"/>
          </a:xfrm>
          <a:prstGeom prst="rect">
            <a:avLst/>
          </a:prstGeom>
          <a:noFill/>
          <a:ln/>
        </p:spPr>
        <p:txBody>
          <a:bodyPr wrap="square" lIns="0" tIns="0" rIns="0" bIns="0" rtlCol="0" anchor="ctr"/>
          <a:lstStyle/>
          <a:p>
            <a:pPr indent="0" marL="0">
              <a:buNone/>
            </a:pPr>
            <a:r>
              <a:rPr lang="en-US" sz="1600" b="1" dirty="0">
                <a:solidFill>
                  <a:srgbClr val="10394A"/>
                </a:solidFill>
                <a:latin typeface="Cambria" pitchFamily="34" charset="0"/>
                <a:ea typeface="Cambria" pitchFamily="34" charset="-122"/>
                <a:cs typeface="Cambria" pitchFamily="34" charset="-120"/>
              </a:rPr>
              <a:t>Decisión económica de producir</a:t>
            </a:r>
            <a:endParaRPr lang="en-US" sz="1600" dirty="0"/>
          </a:p>
        </p:txBody>
      </p:sp>
      <p:sp>
        <p:nvSpPr>
          <p:cNvPr id="15" name="Text 13"/>
          <p:cNvSpPr txBox="1"/>
          <p:nvPr/>
        </p:nvSpPr>
        <p:spPr>
          <a:xfrm>
            <a:off x="5166360" y="4782312"/>
            <a:ext cx="6522415" cy="457200"/>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Compara el coste del kilogramo producido con su precio de reposición</a:t>
            </a:r>
            <a:endParaRPr lang="en-US" sz="1350" dirty="0"/>
          </a:p>
        </p:txBody>
      </p:sp>
      <p:sp>
        <p:nvSpPr>
          <p:cNvPr id="16" name="Shape 14"/>
          <p:cNvSpPr/>
          <p:nvPr/>
        </p:nvSpPr>
        <p:spPr>
          <a:xfrm>
            <a:off x="502920" y="5532120"/>
            <a:ext cx="11185855" cy="566928"/>
          </a:xfrm>
          <a:prstGeom prst="roundRect">
            <a:avLst>
              <a:gd name="adj" fmla="val 9677"/>
            </a:avLst>
          </a:prstGeom>
          <a:solidFill>
            <a:srgbClr val="10394A"/>
          </a:solidFill>
          <a:ln/>
        </p:spPr>
      </p:sp>
      <p:sp>
        <p:nvSpPr>
          <p:cNvPr id="17" name="Text 15"/>
          <p:cNvSpPr txBox="1"/>
          <p:nvPr/>
        </p:nvSpPr>
        <p:spPr>
          <a:xfrm>
            <a:off x="777240" y="555040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No es una regla ingenua construida para perder: es el punto de partida contra el que hay que medirse.</a:t>
            </a:r>
            <a:endParaRPr lang="en-US" sz="1350" dirty="0"/>
          </a:p>
        </p:txBody>
      </p:sp>
      <p:sp>
        <p:nvSpPr>
          <p:cNvPr id="18" name="Text 16"/>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Versión B: la previsión mejora sistemáticamente el servicio de hidrógeno</a:t>
            </a:r>
            <a:endParaRPr lang="en-US" sz="2600" dirty="0"/>
          </a:p>
        </p:txBody>
      </p:sp>
      <p:sp>
        <p:nvSpPr>
          <p:cNvPr id="4" name="Text 2"/>
          <p:cNvSpPr txBox="1"/>
          <p:nvPr/>
        </p:nvSpPr>
        <p:spPr>
          <a:xfrm>
            <a:off x="502920" y="1536192"/>
            <a:ext cx="11185855" cy="274320"/>
          </a:xfrm>
          <a:prstGeom prst="rect">
            <a:avLst/>
          </a:prstGeom>
          <a:noFill/>
          <a:ln/>
        </p:spPr>
        <p:txBody>
          <a:bodyPr wrap="square" lIns="0" tIns="0" rIns="0" bIns="0" rtlCol="0" anchor="ctr"/>
          <a:lstStyle/>
          <a:p>
            <a:pPr indent="0" marL="0">
              <a:buNone/>
            </a:pPr>
            <a:r>
              <a:rPr lang="en-US" sz="1050" b="1" spc="140" kern="0" dirty="0">
                <a:solidFill>
                  <a:srgbClr val="C8861E"/>
                </a:solidFill>
                <a:latin typeface="Calibri" pitchFamily="34" charset="0"/>
                <a:ea typeface="Calibri" pitchFamily="34" charset="-122"/>
                <a:cs typeface="Calibri" pitchFamily="34" charset="-120"/>
              </a:rPr>
              <a:t>VERSIÓN B · las dos previsiones inyectadas en las reglas de A</a:t>
            </a:r>
            <a:endParaRPr lang="en-US" sz="1050" dirty="0"/>
          </a:p>
        </p:txBody>
      </p:sp>
      <p:sp>
        <p:nvSpPr>
          <p:cNvPr id="5" name="Text 3"/>
          <p:cNvSpPr txBox="1"/>
          <p:nvPr/>
        </p:nvSpPr>
        <p:spPr>
          <a:xfrm>
            <a:off x="502920" y="1947672"/>
            <a:ext cx="11185855" cy="310896"/>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 La previsión solar desplaza el reparto cuando anticipa una caída del excedente</a:t>
            </a:r>
            <a:endParaRPr lang="en-US" sz="1350" dirty="0"/>
          </a:p>
        </p:txBody>
      </p:sp>
      <p:sp>
        <p:nvSpPr>
          <p:cNvPr id="6" name="Text 4"/>
          <p:cNvSpPr txBox="1"/>
          <p:nvPr/>
        </p:nvSpPr>
        <p:spPr>
          <a:xfrm>
            <a:off x="502920" y="2276856"/>
            <a:ext cx="11185855" cy="310896"/>
          </a:xfrm>
          <a:prstGeom prst="rect">
            <a:avLst/>
          </a:prstGeom>
          <a:noFill/>
          <a:ln/>
        </p:spPr>
        <p:txBody>
          <a:bodyPr wrap="square" lIns="0" tIns="0" rIns="0" bIns="0" rtlCol="0" anchor="ctr"/>
          <a:lstStyle/>
          <a:p>
            <a:pPr indent="0" marL="0">
              <a:buNone/>
            </a:pPr>
            <a:r>
              <a:rPr lang="en-US" sz="1350" dirty="0">
                <a:solidFill>
                  <a:srgbClr val="1C1C1C"/>
                </a:solidFill>
                <a:latin typeface="Calibri" pitchFamily="34" charset="0"/>
                <a:ea typeface="Calibri" pitchFamily="34" charset="-122"/>
                <a:cs typeface="Calibri" pitchFamily="34" charset="-120"/>
              </a:rPr>
              <a:t>— La previsión de precio gobierna un arbitraje de batería dimensionado por margen económico</a:t>
            </a:r>
            <a:endParaRPr lang="en-US" sz="1350" dirty="0"/>
          </a:p>
        </p:txBody>
      </p:sp>
      <p:sp>
        <p:nvSpPr>
          <p:cNvPr id="7" name="Text 5"/>
          <p:cNvSpPr txBox="1"/>
          <p:nvPr/>
        </p:nvSpPr>
        <p:spPr>
          <a:xfrm>
            <a:off x="502920" y="2788920"/>
            <a:ext cx="3545738" cy="566928"/>
          </a:xfrm>
          <a:prstGeom prst="rect">
            <a:avLst/>
          </a:prstGeom>
          <a:noFill/>
          <a:ln/>
        </p:spPr>
        <p:txBody>
          <a:bodyPr wrap="square" lIns="0" tIns="0" rIns="0" bIns="0" rtlCol="0" anchor="ctr"/>
          <a:lstStyle/>
          <a:p>
            <a:pPr indent="0" marL="0">
              <a:buNone/>
            </a:pPr>
            <a:r>
              <a:rPr lang="en-US" sz="3800" b="1" dirty="0">
                <a:solidFill>
                  <a:srgbClr val="C8861E"/>
                </a:solidFill>
                <a:latin typeface="Cambria" pitchFamily="34" charset="0"/>
                <a:ea typeface="Cambria" pitchFamily="34" charset="-122"/>
                <a:cs typeface="Cambria" pitchFamily="34" charset="-120"/>
              </a:rPr>
              <a:t>39 / 40</a:t>
            </a:r>
            <a:endParaRPr lang="en-US" sz="3800" dirty="0"/>
          </a:p>
        </p:txBody>
      </p:sp>
      <p:sp>
        <p:nvSpPr>
          <p:cNvPr id="8" name="Text 6"/>
          <p:cNvSpPr txBox="1"/>
          <p:nvPr/>
        </p:nvSpPr>
        <p:spPr>
          <a:xfrm>
            <a:off x="502920" y="3337560"/>
            <a:ext cx="354573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pares con el tanque de alta más lleno que la heurística</a:t>
            </a:r>
            <a:endParaRPr lang="en-US" sz="1200" dirty="0"/>
          </a:p>
        </p:txBody>
      </p:sp>
      <p:sp>
        <p:nvSpPr>
          <p:cNvPr id="9" name="Text 7"/>
          <p:cNvSpPr txBox="1"/>
          <p:nvPr/>
        </p:nvSpPr>
        <p:spPr>
          <a:xfrm>
            <a:off x="4322978" y="2788920"/>
            <a:ext cx="3545738" cy="566928"/>
          </a:xfrm>
          <a:prstGeom prst="rect">
            <a:avLst/>
          </a:prstGeom>
          <a:noFill/>
          <a:ln/>
        </p:spPr>
        <p:txBody>
          <a:bodyPr wrap="square" lIns="0" tIns="0" rIns="0" bIns="0" rtlCol="0" anchor="ctr"/>
          <a:lstStyle/>
          <a:p>
            <a:pPr indent="0" marL="0">
              <a:buNone/>
            </a:pPr>
            <a:r>
              <a:rPr lang="en-US" sz="3800" b="1" dirty="0">
                <a:solidFill>
                  <a:srgbClr val="C8861E"/>
                </a:solidFill>
                <a:latin typeface="Cambria" pitchFamily="34" charset="0"/>
                <a:ea typeface="Cambria" pitchFamily="34" charset="-122"/>
                <a:cs typeface="Cambria" pitchFamily="34" charset="-120"/>
              </a:rPr>
              <a:t>× 10</a:t>
            </a:r>
            <a:endParaRPr lang="en-US" sz="3800" dirty="0"/>
          </a:p>
        </p:txBody>
      </p:sp>
      <p:sp>
        <p:nvSpPr>
          <p:cNvPr id="10" name="Text 8"/>
          <p:cNvSpPr txBox="1"/>
          <p:nvPr/>
        </p:nvSpPr>
        <p:spPr>
          <a:xfrm>
            <a:off x="4322978" y="3337560"/>
            <a:ext cx="354573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escala la mejora al pasar de la previsión real a la perfecta</a:t>
            </a:r>
            <a:endParaRPr lang="en-US" sz="1200" dirty="0"/>
          </a:p>
        </p:txBody>
      </p:sp>
      <p:sp>
        <p:nvSpPr>
          <p:cNvPr id="11" name="Text 9"/>
          <p:cNvSpPr txBox="1"/>
          <p:nvPr/>
        </p:nvSpPr>
        <p:spPr>
          <a:xfrm>
            <a:off x="8143037" y="2788920"/>
            <a:ext cx="3545738" cy="566928"/>
          </a:xfrm>
          <a:prstGeom prst="rect">
            <a:avLst/>
          </a:prstGeom>
          <a:noFill/>
          <a:ln/>
        </p:spPr>
        <p:txBody>
          <a:bodyPr wrap="square" lIns="0" tIns="0" rIns="0" bIns="0" rtlCol="0" anchor="ctr"/>
          <a:lstStyle/>
          <a:p>
            <a:pPr indent="0" marL="0">
              <a:buNone/>
            </a:pPr>
            <a:r>
              <a:rPr lang="en-US" sz="3800" b="1" dirty="0">
                <a:solidFill>
                  <a:srgbClr val="C8861E"/>
                </a:solidFill>
                <a:latin typeface="Cambria" pitchFamily="34" charset="0"/>
                <a:ea typeface="Cambria" pitchFamily="34" charset="-122"/>
                <a:cs typeface="Cambria" pitchFamily="34" charset="-120"/>
              </a:rPr>
              <a:t>− 18,9 pts</a:t>
            </a:r>
            <a:endParaRPr lang="en-US" sz="3800" dirty="0"/>
          </a:p>
        </p:txBody>
      </p:sp>
      <p:sp>
        <p:nvSpPr>
          <p:cNvPr id="12" name="Text 10"/>
          <p:cNvSpPr txBox="1"/>
          <p:nvPr/>
        </p:nvSpPr>
        <p:spPr>
          <a:xfrm>
            <a:off x="8143037" y="3337560"/>
            <a:ext cx="3545738"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de tiempo en nivel crítico con oráculo, en el día nublado</a:t>
            </a:r>
            <a:endParaRPr lang="en-US" sz="1200" dirty="0"/>
          </a:p>
        </p:txBody>
      </p:sp>
      <p:sp>
        <p:nvSpPr>
          <p:cNvPr id="13" name="Text 11"/>
          <p:cNvSpPr txBox="1"/>
          <p:nvPr/>
        </p:nvSpPr>
        <p:spPr>
          <a:xfrm>
            <a:off x="502920" y="4434840"/>
            <a:ext cx="11185855" cy="411480"/>
          </a:xfrm>
          <a:prstGeom prst="rect">
            <a:avLst/>
          </a:prstGeom>
          <a:noFill/>
          <a:ln/>
        </p:spPr>
        <p:txBody>
          <a:bodyPr wrap="square" lIns="0" tIns="0" rIns="0" bIns="0" rtlCol="0" anchor="ctr"/>
          <a:lstStyle/>
          <a:p>
            <a:pPr indent="0" marL="0">
              <a:buNone/>
            </a:pPr>
            <a:r>
              <a:rPr lang="en-US" sz="1200" i="1" dirty="0">
                <a:solidFill>
                  <a:srgbClr val="5F6B72"/>
                </a:solidFill>
                <a:latin typeface="Calibri" pitchFamily="34" charset="0"/>
                <a:ea typeface="Calibri" pitchFamily="34" charset="-122"/>
                <a:cs typeface="Calibri" pitchFamily="34" charset="-120"/>
              </a:rPr>
              <a:t>En coste empata con la heurística: −0,13 €/día sobre un recibo diario de ≈45 €, no significativo, y tampoco gana con previsión perfecta.</a:t>
            </a:r>
            <a:endParaRPr lang="en-US" sz="1200" dirty="0"/>
          </a:p>
        </p:txBody>
      </p:sp>
      <p:sp>
        <p:nvSpPr>
          <p:cNvPr id="14" name="Shape 12"/>
          <p:cNvSpPr/>
          <p:nvPr/>
        </p:nvSpPr>
        <p:spPr>
          <a:xfrm>
            <a:off x="502920" y="5029200"/>
            <a:ext cx="11185855" cy="841248"/>
          </a:xfrm>
          <a:prstGeom prst="roundRect">
            <a:avLst>
              <a:gd name="adj" fmla="val 6522"/>
            </a:avLst>
          </a:prstGeom>
          <a:solidFill>
            <a:srgbClr val="10394A"/>
          </a:solidFill>
          <a:ln/>
        </p:spPr>
      </p:sp>
      <p:sp>
        <p:nvSpPr>
          <p:cNvPr id="15" name="Text 13"/>
          <p:cNvSpPr txBox="1"/>
          <p:nvPr/>
        </p:nvSpPr>
        <p:spPr>
          <a:xfrm>
            <a:off x="777240" y="5047488"/>
            <a:ext cx="10637215" cy="80467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De ese empate sale la regla de diseño que se aplica después: la acción disparada por una previsión debe estar condicionada, y su magnitud salir del margen económico disponible, no de una constante.</a:t>
            </a:r>
            <a:endParaRPr lang="en-US" sz="1350" dirty="0"/>
          </a:p>
        </p:txBody>
      </p:sp>
      <p:sp>
        <p:nvSpPr>
          <p:cNvPr id="16" name="Text 14"/>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La batería estaba al 85 % mientras el electrolizador compraba red</a:t>
            </a:r>
            <a:endParaRPr lang="en-US" sz="2600" dirty="0"/>
          </a:p>
        </p:txBody>
      </p:sp>
      <p:pic>
        <p:nvPicPr>
          <p:cNvPr id="4" name="Image 0" descr="img/fig_res_destino_import.png">    </p:cNvPr>
          <p:cNvPicPr>
            <a:picLocks noChangeAspect="1"/>
          </p:cNvPicPr>
          <p:nvPr/>
        </p:nvPicPr>
        <p:blipFill>
          <a:blip r:embed="rId1"/>
          <a:stretch>
            <a:fillRect/>
          </a:stretch>
        </p:blipFill>
        <p:spPr>
          <a:xfrm>
            <a:off x="502920" y="1755291"/>
            <a:ext cx="6035040" cy="3448003"/>
          </a:xfrm>
          <a:prstGeom prst="rect">
            <a:avLst/>
          </a:prstGeom>
        </p:spPr>
      </p:pic>
      <p:sp>
        <p:nvSpPr>
          <p:cNvPr id="5" name="Text 2"/>
          <p:cNvSpPr txBox="1"/>
          <p:nvPr/>
        </p:nvSpPr>
        <p:spPr>
          <a:xfrm>
            <a:off x="6858000" y="1627632"/>
            <a:ext cx="4846320" cy="566928"/>
          </a:xfrm>
          <a:prstGeom prst="rect">
            <a:avLst/>
          </a:prstGeom>
          <a:noFill/>
          <a:ln/>
        </p:spPr>
        <p:txBody>
          <a:bodyPr wrap="square" lIns="0" tIns="0" rIns="0" bIns="0" rtlCol="0" anchor="ctr"/>
          <a:lstStyle/>
          <a:p>
            <a:pPr indent="0" marL="0">
              <a:buNone/>
            </a:pPr>
            <a:r>
              <a:rPr lang="en-US" sz="3200" b="1" dirty="0">
                <a:solidFill>
                  <a:srgbClr val="C8861E"/>
                </a:solidFill>
                <a:latin typeface="Cambria" pitchFamily="34" charset="0"/>
                <a:ea typeface="Cambria" pitchFamily="34" charset="-122"/>
                <a:cs typeface="Cambria" pitchFamily="34" charset="-120"/>
              </a:rPr>
              <a:t>76 %</a:t>
            </a:r>
            <a:endParaRPr lang="en-US" sz="3200" dirty="0"/>
          </a:p>
        </p:txBody>
      </p:sp>
      <p:sp>
        <p:nvSpPr>
          <p:cNvPr id="6" name="Text 3"/>
          <p:cNvSpPr txBox="1"/>
          <p:nvPr/>
        </p:nvSpPr>
        <p:spPr>
          <a:xfrm>
            <a:off x="6858000" y="2176272"/>
            <a:ext cx="4846320"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de la importación semanal va al electrolizador: 1 006 de 1 321 kWh</a:t>
            </a:r>
            <a:endParaRPr lang="en-US" sz="1200" dirty="0"/>
          </a:p>
        </p:txBody>
      </p:sp>
      <p:sp>
        <p:nvSpPr>
          <p:cNvPr id="7" name="Text 4"/>
          <p:cNvSpPr txBox="1"/>
          <p:nvPr/>
        </p:nvSpPr>
        <p:spPr>
          <a:xfrm>
            <a:off x="6858000" y="2999232"/>
            <a:ext cx="4846320" cy="566928"/>
          </a:xfrm>
          <a:prstGeom prst="rect">
            <a:avLst/>
          </a:prstGeom>
          <a:noFill/>
          <a:ln/>
        </p:spPr>
        <p:txBody>
          <a:bodyPr wrap="square" lIns="0" tIns="0" rIns="0" bIns="0" rtlCol="0" anchor="ctr"/>
          <a:lstStyle/>
          <a:p>
            <a:pPr indent="0" marL="0">
              <a:buNone/>
            </a:pPr>
            <a:r>
              <a:rPr lang="en-US" sz="3200" b="1" dirty="0">
                <a:solidFill>
                  <a:srgbClr val="C8861E"/>
                </a:solidFill>
                <a:latin typeface="Cambria" pitchFamily="34" charset="0"/>
                <a:ea typeface="Cambria" pitchFamily="34" charset="-122"/>
                <a:cs typeface="Cambria" pitchFamily="34" charset="-120"/>
              </a:rPr>
              <a:t>121,5 €/MWh</a:t>
            </a:r>
            <a:endParaRPr lang="en-US" sz="3200" dirty="0"/>
          </a:p>
        </p:txBody>
      </p:sp>
      <p:sp>
        <p:nvSpPr>
          <p:cNvPr id="8" name="Text 5"/>
          <p:cNvSpPr txBox="1"/>
          <p:nvPr/>
        </p:nvSpPr>
        <p:spPr>
          <a:xfrm>
            <a:off x="6858000" y="3547872"/>
            <a:ext cx="4846320"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precio ponderado al que compra esa energía</a:t>
            </a:r>
            <a:endParaRPr lang="en-US" sz="1200" dirty="0"/>
          </a:p>
        </p:txBody>
      </p:sp>
      <p:sp>
        <p:nvSpPr>
          <p:cNvPr id="9" name="Text 6"/>
          <p:cNvSpPr txBox="1"/>
          <p:nvPr/>
        </p:nvSpPr>
        <p:spPr>
          <a:xfrm>
            <a:off x="6858000" y="4370832"/>
            <a:ext cx="4846320" cy="566928"/>
          </a:xfrm>
          <a:prstGeom prst="rect">
            <a:avLst/>
          </a:prstGeom>
          <a:noFill/>
          <a:ln/>
        </p:spPr>
        <p:txBody>
          <a:bodyPr wrap="square" lIns="0" tIns="0" rIns="0" bIns="0" rtlCol="0" anchor="ctr"/>
          <a:lstStyle/>
          <a:p>
            <a:pPr indent="0" marL="0">
              <a:buNone/>
            </a:pPr>
            <a:r>
              <a:rPr lang="en-US" sz="3200" b="1" dirty="0">
                <a:solidFill>
                  <a:srgbClr val="C8861E"/>
                </a:solidFill>
                <a:latin typeface="Cambria" pitchFamily="34" charset="0"/>
                <a:ea typeface="Cambria" pitchFamily="34" charset="-122"/>
                <a:cs typeface="Cambria" pitchFamily="34" charset="-120"/>
              </a:rPr>
              <a:t>85 %</a:t>
            </a:r>
            <a:endParaRPr lang="en-US" sz="3200" dirty="0"/>
          </a:p>
        </p:txBody>
      </p:sp>
      <p:sp>
        <p:nvSpPr>
          <p:cNvPr id="10" name="Text 7"/>
          <p:cNvSpPr txBox="1"/>
          <p:nvPr/>
        </p:nvSpPr>
        <p:spPr>
          <a:xfrm>
            <a:off x="6858000" y="4919472"/>
            <a:ext cx="4846320" cy="713232"/>
          </a:xfrm>
          <a:prstGeom prst="rect">
            <a:avLst/>
          </a:prstGeom>
          <a:noFill/>
          <a:ln/>
        </p:spPr>
        <p:txBody>
          <a:bodyPr wrap="square" lIns="0" tIns="0" rIns="0" bIns="0" rtlCol="0" anchor="t"/>
          <a:lstStyle/>
          <a:p>
            <a:pPr indent="0" marL="0">
              <a:lnSpc>
                <a:spcPct val="110000"/>
              </a:lnSpc>
              <a:buNone/>
            </a:pPr>
            <a:r>
              <a:rPr lang="en-US" sz="1200" dirty="0">
                <a:solidFill>
                  <a:srgbClr val="5F6B72"/>
                </a:solidFill>
                <a:latin typeface="Calibri" pitchFamily="34" charset="0"/>
                <a:ea typeface="Calibri" pitchFamily="34" charset="-122"/>
                <a:cs typeface="Calibri" pitchFamily="34" charset="-120"/>
              </a:rPr>
              <a:t>estado de carga medio de la batería en esos mismos instantes; nunca baja del 69 %</a:t>
            </a:r>
            <a:endParaRPr lang="en-US" sz="1200" dirty="0"/>
          </a:p>
        </p:txBody>
      </p:sp>
      <p:sp>
        <p:nvSpPr>
          <p:cNvPr id="11" name="Shape 8"/>
          <p:cNvSpPr/>
          <p:nvPr/>
        </p:nvSpPr>
        <p:spPr>
          <a:xfrm>
            <a:off x="502920" y="5623560"/>
            <a:ext cx="11185855" cy="566928"/>
          </a:xfrm>
          <a:prstGeom prst="roundRect">
            <a:avLst>
              <a:gd name="adj" fmla="val 9677"/>
            </a:avLst>
          </a:prstGeom>
          <a:solidFill>
            <a:srgbClr val="10394A"/>
          </a:solidFill>
          <a:ln/>
        </p:spPr>
      </p:sp>
      <p:sp>
        <p:nvSpPr>
          <p:cNvPr id="12" name="Text 9"/>
          <p:cNvSpPr txBox="1"/>
          <p:nvPr/>
        </p:nvSpPr>
        <p:spPr>
          <a:xfrm>
            <a:off x="777240" y="564184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La información necesaria ya estaba en las entradas de la Versión A: ninguna previsión hacía falta para ver esto.</a:t>
            </a:r>
            <a:endParaRPr lang="en-US" sz="1350" dirty="0"/>
          </a:p>
        </p:txBody>
      </p:sp>
      <p:sp>
        <p:nvSpPr>
          <p:cNvPr id="13" name="Text 10"/>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Versión C: separar de dónde sale la energía de cuándo conviene producir</a:t>
            </a:r>
            <a:endParaRPr lang="en-US" sz="2600" dirty="0"/>
          </a:p>
        </p:txBody>
      </p:sp>
      <p:pic>
        <p:nvPicPr>
          <p:cNvPr id="4" name="Image 0" descr="img/ems_logica_C.png">    </p:cNvPr>
          <p:cNvPicPr>
            <a:picLocks noChangeAspect="1"/>
          </p:cNvPicPr>
          <p:nvPr/>
        </p:nvPicPr>
        <p:blipFill>
          <a:blip r:embed="rId1"/>
          <a:stretch>
            <a:fillRect/>
          </a:stretch>
        </p:blipFill>
        <p:spPr>
          <a:xfrm>
            <a:off x="754380" y="1536192"/>
            <a:ext cx="6217920" cy="3886200"/>
          </a:xfrm>
          <a:prstGeom prst="rect">
            <a:avLst/>
          </a:prstGeom>
        </p:spPr>
      </p:pic>
      <p:sp>
        <p:nvSpPr>
          <p:cNvPr id="5" name="Text 2"/>
          <p:cNvSpPr txBox="1"/>
          <p:nvPr/>
        </p:nvSpPr>
        <p:spPr>
          <a:xfrm>
            <a:off x="7498080" y="1536192"/>
            <a:ext cx="4206240" cy="274320"/>
          </a:xfrm>
          <a:prstGeom prst="rect">
            <a:avLst/>
          </a:prstGeom>
          <a:noFill/>
          <a:ln/>
        </p:spPr>
        <p:txBody>
          <a:bodyPr wrap="square" lIns="0" tIns="0" rIns="0" bIns="0" rtlCol="0" anchor="ctr"/>
          <a:lstStyle/>
          <a:p>
            <a:pPr indent="0" marL="0">
              <a:buNone/>
            </a:pPr>
            <a:r>
              <a:rPr lang="en-US" sz="1000" b="1" spc="140" kern="0" dirty="0">
                <a:solidFill>
                  <a:srgbClr val="C8861E"/>
                </a:solidFill>
                <a:latin typeface="Calibri" pitchFamily="34" charset="0"/>
                <a:ea typeface="Calibri" pitchFamily="34" charset="-122"/>
                <a:cs typeface="Calibri" pitchFamily="34" charset="-120"/>
              </a:rPr>
              <a:t>VERSIÓN C · dos cambios, cada uno con su interruptor</a:t>
            </a:r>
            <a:endParaRPr lang="en-US" sz="1000" dirty="0"/>
          </a:p>
        </p:txBody>
      </p:sp>
      <p:sp>
        <p:nvSpPr>
          <p:cNvPr id="6" name="Text 3"/>
          <p:cNvSpPr txBox="1"/>
          <p:nvPr/>
        </p:nvSpPr>
        <p:spPr>
          <a:xfrm>
            <a:off x="7498080" y="1993392"/>
            <a:ext cx="320040" cy="320040"/>
          </a:xfrm>
          <a:prstGeom prst="rect">
            <a:avLst/>
          </a:prstGeom>
          <a:noFill/>
          <a:ln/>
        </p:spPr>
        <p:txBody>
          <a:bodyPr wrap="square" lIns="0" tIns="0" rIns="0" bIns="0" rtlCol="0" anchor="ctr"/>
          <a:lstStyle/>
          <a:p>
            <a:pPr indent="0" marL="0">
              <a:buNone/>
            </a:pPr>
            <a:r>
              <a:rPr lang="en-US" sz="1700" b="1" dirty="0">
                <a:solidFill>
                  <a:srgbClr val="C8861E"/>
                </a:solidFill>
                <a:latin typeface="Cambria" pitchFamily="34" charset="0"/>
                <a:ea typeface="Cambria" pitchFamily="34" charset="-122"/>
                <a:cs typeface="Cambria" pitchFamily="34" charset="-120"/>
              </a:rPr>
              <a:t>1</a:t>
            </a:r>
            <a:endParaRPr lang="en-US" sz="1700" dirty="0"/>
          </a:p>
        </p:txBody>
      </p:sp>
      <p:sp>
        <p:nvSpPr>
          <p:cNvPr id="7" name="Text 4"/>
          <p:cNvSpPr txBox="1"/>
          <p:nvPr/>
        </p:nvSpPr>
        <p:spPr>
          <a:xfrm>
            <a:off x="7863840" y="1993392"/>
            <a:ext cx="3840480" cy="320040"/>
          </a:xfrm>
          <a:prstGeom prst="rect">
            <a:avLst/>
          </a:prstGeom>
          <a:noFill/>
          <a:ln/>
        </p:spPr>
        <p:txBody>
          <a:bodyPr wrap="square" lIns="0" tIns="0" rIns="0" bIns="0" rtlCol="0" anchor="ctr"/>
          <a:lstStyle/>
          <a:p>
            <a:pPr indent="0" marL="0">
              <a:buNone/>
            </a:pPr>
            <a:r>
              <a:rPr lang="en-US" sz="1400" b="1" dirty="0">
                <a:solidFill>
                  <a:srgbClr val="10394A"/>
                </a:solidFill>
                <a:latin typeface="Calibri" pitchFamily="34" charset="0"/>
                <a:ea typeface="Calibri" pitchFamily="34" charset="-122"/>
                <a:cs typeface="Calibri" pitchFamily="34" charset="-120"/>
              </a:rPr>
              <a:t>La batería alimenta al electrolizador</a:t>
            </a:r>
            <a:endParaRPr lang="en-US" sz="1400" dirty="0"/>
          </a:p>
        </p:txBody>
      </p:sp>
      <p:sp>
        <p:nvSpPr>
          <p:cNvPr id="8" name="Text 5"/>
          <p:cNvSpPr txBox="1"/>
          <p:nvPr/>
        </p:nvSpPr>
        <p:spPr>
          <a:xfrm>
            <a:off x="7863840" y="2340864"/>
            <a:ext cx="3840480" cy="1161288"/>
          </a:xfrm>
          <a:prstGeom prst="rect">
            <a:avLst/>
          </a:prstGeom>
          <a:noFill/>
          <a:ln/>
        </p:spPr>
        <p:txBody>
          <a:bodyPr wrap="square" lIns="0" tIns="0" rIns="0" bIns="0" rtlCol="0" anchor="t"/>
          <a:lstStyle/>
          <a:p>
            <a:pPr indent="0" marL="0">
              <a:lnSpc>
                <a:spcPct val="112000"/>
              </a:lnSpc>
              <a:buNone/>
            </a:pPr>
            <a:r>
              <a:rPr lang="en-US" sz="1150" dirty="0">
                <a:solidFill>
                  <a:srgbClr val="5F6B72"/>
                </a:solidFill>
                <a:latin typeface="Calibri" pitchFamily="34" charset="0"/>
                <a:ea typeface="Calibri" pitchFamily="34" charset="-122"/>
                <a:cs typeface="Calibri" pitchFamily="34" charset="-120"/>
              </a:rPr>
              <a:t>Diez líneas: la carga que crea la decisión de producir H₂ se ofrece a la batería antes que a la red, con el SOC por encima del 60 %</a:t>
            </a:r>
            <a:endParaRPr lang="en-US" sz="1150" dirty="0"/>
          </a:p>
        </p:txBody>
      </p:sp>
      <p:sp>
        <p:nvSpPr>
          <p:cNvPr id="9" name="Text 6"/>
          <p:cNvSpPr txBox="1"/>
          <p:nvPr/>
        </p:nvSpPr>
        <p:spPr>
          <a:xfrm>
            <a:off x="7498080" y="3593592"/>
            <a:ext cx="320040" cy="320040"/>
          </a:xfrm>
          <a:prstGeom prst="rect">
            <a:avLst/>
          </a:prstGeom>
          <a:noFill/>
          <a:ln/>
        </p:spPr>
        <p:txBody>
          <a:bodyPr wrap="square" lIns="0" tIns="0" rIns="0" bIns="0" rtlCol="0" anchor="ctr"/>
          <a:lstStyle/>
          <a:p>
            <a:pPr indent="0" marL="0">
              <a:buNone/>
            </a:pPr>
            <a:r>
              <a:rPr lang="en-US" sz="1700" b="1" dirty="0">
                <a:solidFill>
                  <a:srgbClr val="C8861E"/>
                </a:solidFill>
                <a:latin typeface="Cambria" pitchFamily="34" charset="0"/>
                <a:ea typeface="Cambria" pitchFamily="34" charset="-122"/>
                <a:cs typeface="Cambria" pitchFamily="34" charset="-120"/>
              </a:rPr>
              <a:t>2</a:t>
            </a:r>
            <a:endParaRPr lang="en-US" sz="1700" dirty="0"/>
          </a:p>
        </p:txBody>
      </p:sp>
      <p:sp>
        <p:nvSpPr>
          <p:cNvPr id="10" name="Text 7"/>
          <p:cNvSpPr txBox="1"/>
          <p:nvPr/>
        </p:nvSpPr>
        <p:spPr>
          <a:xfrm>
            <a:off x="7863840" y="3593592"/>
            <a:ext cx="3840480" cy="320040"/>
          </a:xfrm>
          <a:prstGeom prst="rect">
            <a:avLst/>
          </a:prstGeom>
          <a:noFill/>
          <a:ln/>
        </p:spPr>
        <p:txBody>
          <a:bodyPr wrap="square" lIns="0" tIns="0" rIns="0" bIns="0" rtlCol="0" anchor="ctr"/>
          <a:lstStyle/>
          <a:p>
            <a:pPr indent="0" marL="0">
              <a:buNone/>
            </a:pPr>
            <a:r>
              <a:rPr lang="en-US" sz="1400" b="1" dirty="0">
                <a:solidFill>
                  <a:srgbClr val="10394A"/>
                </a:solidFill>
                <a:latin typeface="Calibri" pitchFamily="34" charset="0"/>
                <a:ea typeface="Calibri" pitchFamily="34" charset="-122"/>
                <a:cs typeface="Calibri" pitchFamily="34" charset="-120"/>
              </a:rPr>
              <a:t>Planificador de orden de mérito a 24 h</a:t>
            </a:r>
            <a:endParaRPr lang="en-US" sz="1400" dirty="0"/>
          </a:p>
        </p:txBody>
      </p:sp>
      <p:sp>
        <p:nvSpPr>
          <p:cNvPr id="11" name="Text 8"/>
          <p:cNvSpPr txBox="1"/>
          <p:nvPr/>
        </p:nvSpPr>
        <p:spPr>
          <a:xfrm>
            <a:off x="7863840" y="3941064"/>
            <a:ext cx="3840480" cy="1161288"/>
          </a:xfrm>
          <a:prstGeom prst="rect">
            <a:avLst/>
          </a:prstGeom>
          <a:noFill/>
          <a:ln/>
        </p:spPr>
        <p:txBody>
          <a:bodyPr wrap="square" lIns="0" tIns="0" rIns="0" bIns="0" rtlCol="0" anchor="t"/>
          <a:lstStyle/>
          <a:p>
            <a:pPr indent="0" marL="0">
              <a:lnSpc>
                <a:spcPct val="112000"/>
              </a:lnSpc>
              <a:buNone/>
            </a:pPr>
            <a:r>
              <a:rPr lang="en-US" sz="1150" dirty="0">
                <a:solidFill>
                  <a:srgbClr val="5F6B72"/>
                </a:solidFill>
                <a:latin typeface="Calibri" pitchFamily="34" charset="0"/>
                <a:ea typeface="Calibri" pitchFamily="34" charset="-122"/>
                <a:cs typeface="Calibri" pitchFamily="34" charset="-120"/>
              </a:rPr>
              <a:t>Se estima el H₂ que falta y el excedente previsto; se produce si la hora actual está entre las n más baratas del horizonte</a:t>
            </a:r>
            <a:endParaRPr lang="en-US" sz="1150" dirty="0"/>
          </a:p>
        </p:txBody>
      </p:sp>
      <p:sp>
        <p:nvSpPr>
          <p:cNvPr id="12" name="Shape 9"/>
          <p:cNvSpPr/>
          <p:nvPr/>
        </p:nvSpPr>
        <p:spPr>
          <a:xfrm>
            <a:off x="502920" y="5623560"/>
            <a:ext cx="11185855" cy="566928"/>
          </a:xfrm>
          <a:prstGeom prst="roundRect">
            <a:avLst>
              <a:gd name="adj" fmla="val 9677"/>
            </a:avLst>
          </a:prstGeom>
          <a:solidFill>
            <a:srgbClr val="10394A"/>
          </a:solidFill>
          <a:ln/>
        </p:spPr>
      </p:sp>
      <p:sp>
        <p:nvSpPr>
          <p:cNvPr id="13" name="Text 10"/>
          <p:cNvSpPr txBox="1"/>
          <p:nvPr/>
        </p:nvSpPr>
        <p:spPr>
          <a:xfrm>
            <a:off x="777240" y="564184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El planificador solo usa el ORDEN de los precios: es invariante a cualquier transformación monótona de la previsión.</a:t>
            </a:r>
            <a:endParaRPr lang="en-US" sz="1350" dirty="0"/>
          </a:p>
        </p:txBody>
      </p:sp>
      <p:sp>
        <p:nvSpPr>
          <p:cNvPr id="14" name="Text 11"/>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Versión C: −13,9 % de coste semanal, en los veinte pares evaluados</a:t>
            </a:r>
            <a:endParaRPr lang="en-US" sz="2600" dirty="0"/>
          </a:p>
        </p:txBody>
      </p:sp>
      <p:pic>
        <p:nvPicPr>
          <p:cNvPr id="4" name="Image 0" descr="img/fig_res_coste_escenario.png">    </p:cNvPr>
          <p:cNvPicPr>
            <a:picLocks noChangeAspect="1"/>
          </p:cNvPicPr>
          <p:nvPr/>
        </p:nvPicPr>
        <p:blipFill>
          <a:blip r:embed="rId1"/>
          <a:stretch>
            <a:fillRect/>
          </a:stretch>
        </p:blipFill>
        <p:spPr>
          <a:xfrm>
            <a:off x="502920" y="2115312"/>
            <a:ext cx="5943600" cy="2773680"/>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29400" y="1536192"/>
          <a:ext cx="5056632" cy="914400"/>
        </p:xfrm>
        <a:graphic>
          <a:graphicData uri="http://schemas.openxmlformats.org/drawingml/2006/table">
            <a:tbl>
              <a:tblPr/>
              <a:tblGrid>
                <a:gridCol w="2286000"/>
                <a:gridCol w="1856232"/>
                <a:gridCol w="91440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Métrica (C − A, 7 días, 20 pares)</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1039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Diferencia</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1039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Gana</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10394A"/>
                    </a:solidFill>
                  </a:tcPr>
                </a:tc>
              </a:tr>
              <a:tr h="502920">
                <a:tc>
                  <a:txBody>
                    <a:bodyPr/>
                    <a:lstStyle/>
                    <a:p>
                      <a:pPr algn="l" indent="0" marL="0">
                        <a:buNone/>
                      </a:pPr>
                      <a:r>
                        <a:rPr lang="en-US" sz="1200" b="1" dirty="0">
                          <a:solidFill>
                            <a:srgbClr val="1C1C1C"/>
                          </a:solidFill>
                          <a:latin typeface="Calibri" pitchFamily="34" charset="0"/>
                          <a:ea typeface="Calibri" pitchFamily="34" charset="-122"/>
                          <a:cs typeface="Calibri" pitchFamily="34" charset="-120"/>
                        </a:rPr>
                        <a:t>Coste total con hidrógeno</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8861E"/>
                          </a:solidFill>
                          <a:latin typeface="Calibri" pitchFamily="34" charset="0"/>
                          <a:ea typeface="Calibri" pitchFamily="34" charset="-122"/>
                          <a:cs typeface="Calibri" pitchFamily="34" charset="-120"/>
                        </a:rPr>
                        <a:t>− 52,3 €  (− 13,9 %)</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C1C1C"/>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r h="502920">
                <a:tc>
                  <a:txBody>
                    <a:bodyPr/>
                    <a:lstStyle/>
                    <a:p>
                      <a:pPr algn="l" indent="0" marL="0">
                        <a:buNone/>
                      </a:pPr>
                      <a:r>
                        <a:rPr lang="en-US" sz="1200" dirty="0">
                          <a:solidFill>
                            <a:srgbClr val="1C1C1C"/>
                          </a:solidFill>
                          <a:latin typeface="Calibri" pitchFamily="34" charset="0"/>
                          <a:ea typeface="Calibri" pitchFamily="34" charset="-122"/>
                          <a:cs typeface="Calibri" pitchFamily="34" charset="-120"/>
                        </a:rPr>
                        <a:t>Energía importada de la red</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1F5F7"/>
                    </a:solidFill>
                  </a:tcPr>
                </a:tc>
                <a:tc>
                  <a:txBody>
                    <a:bodyPr/>
                    <a:lstStyle/>
                    <a:p>
                      <a:pPr algn="r" indent="0" marL="0">
                        <a:buNone/>
                      </a:pPr>
                      <a:r>
                        <a:rPr lang="en-US" sz="1200" dirty="0">
                          <a:solidFill>
                            <a:srgbClr val="1C1C1C"/>
                          </a:solidFill>
                          <a:latin typeface="Calibri" pitchFamily="34" charset="0"/>
                          <a:ea typeface="Calibri" pitchFamily="34" charset="-122"/>
                          <a:cs typeface="Calibri" pitchFamily="34" charset="-120"/>
                        </a:rPr>
                        <a:t>− 717 kWh  (− 54 %)</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1F5F7"/>
                    </a:solidFill>
                  </a:tcPr>
                </a:tc>
                <a:tc>
                  <a:txBody>
                    <a:bodyPr/>
                    <a:lstStyle/>
                    <a:p>
                      <a:pPr algn="r" indent="0" marL="0">
                        <a:buNone/>
                      </a:pPr>
                      <a:r>
                        <a:rPr lang="en-US" sz="1200" dirty="0">
                          <a:solidFill>
                            <a:srgbClr val="1C1C1C"/>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1F5F7"/>
                    </a:solidFill>
                  </a:tcPr>
                </a:tc>
              </a:tr>
              <a:tr h="502920">
                <a:tc>
                  <a:txBody>
                    <a:bodyPr/>
                    <a:lstStyle/>
                    <a:p>
                      <a:pPr algn="l" indent="0" marL="0">
                        <a:buNone/>
                      </a:pPr>
                      <a:r>
                        <a:rPr lang="en-US" sz="1200" dirty="0">
                          <a:solidFill>
                            <a:srgbClr val="1C1C1C"/>
                          </a:solidFill>
                          <a:latin typeface="Calibri" pitchFamily="34" charset="0"/>
                          <a:ea typeface="Calibri" pitchFamily="34" charset="-122"/>
                          <a:cs typeface="Calibri" pitchFamily="34" charset="-120"/>
                        </a:rPr>
                        <a:t>Autosuficiencia</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1C1C"/>
                          </a:solidFill>
                          <a:latin typeface="Calibri" pitchFamily="34" charset="0"/>
                          <a:ea typeface="Calibri" pitchFamily="34" charset="-122"/>
                          <a:cs typeface="Calibri" pitchFamily="34" charset="-120"/>
                        </a:rPr>
                        <a:t>+ 6,7 pts  (87,7 → 94,3 %)</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1C1C"/>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73152" marR="73152" marT="73152" marB="73152" anchor="ctr">
                    <a:lnL w="12700" cap="flat" cmpd="sng" algn="ctr">
                      <a:solidFill>
                        <a:srgbClr val="DDE3E6"/>
                      </a:solidFill>
                      <a:prstDash val="solid"/>
                      <a:round/>
                      <a:headEnd type="none" w="med" len="med"/>
                      <a:tailEnd type="none" w="med" len="med"/>
                    </a:lnL>
                    <a:lnR w="12700" cap="flat" cmpd="sng" algn="ctr">
                      <a:solidFill>
                        <a:srgbClr val="DDE3E6"/>
                      </a:solidFill>
                      <a:prstDash val="solid"/>
                      <a:round/>
                      <a:headEnd type="none" w="med" len="med"/>
                      <a:tailEnd type="none" w="med" len="med"/>
                    </a:lnR>
                    <a:lnT w="12700" cap="flat" cmpd="sng" algn="ctr">
                      <a:solidFill>
                        <a:srgbClr val="DDE3E6"/>
                      </a:solidFill>
                      <a:prstDash val="solid"/>
                      <a:round/>
                      <a:headEnd type="none" w="med" len="med"/>
                      <a:tailEnd type="none" w="med" len="med"/>
                    </a:lnT>
                    <a:lnB w="12700" cap="flat" cmpd="sng" algn="ctr">
                      <a:solidFill>
                        <a:srgbClr val="DDE3E6"/>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629400" y="3822192"/>
            <a:ext cx="5056632" cy="457200"/>
          </a:xfrm>
          <a:prstGeom prst="rect">
            <a:avLst/>
          </a:prstGeom>
          <a:noFill/>
          <a:ln/>
        </p:spPr>
        <p:txBody>
          <a:bodyPr wrap="square" lIns="0" tIns="0" rIns="0" bIns="0" rtlCol="0" anchor="ctr"/>
          <a:lstStyle/>
          <a:p>
            <a:pPr indent="0" marL="0">
              <a:lnSpc>
                <a:spcPct val="110000"/>
              </a:lnSpc>
              <a:buNone/>
            </a:pPr>
            <a:r>
              <a:rPr lang="en-US" sz="1150" i="1" dirty="0">
                <a:solidFill>
                  <a:srgbClr val="5F6B72"/>
                </a:solidFill>
                <a:latin typeface="Calibri" pitchFamily="34" charset="0"/>
                <a:ea typeface="Calibri" pitchFamily="34" charset="-122"/>
                <a:cs typeface="Calibri" pitchFamily="34" charset="-120"/>
              </a:rPr>
              <a:t>20 de 20 pares, p por debajo de una diezmilésima · cinco veces el umbral de relevancia fijado antes de simular</a:t>
            </a:r>
            <a:endParaRPr lang="en-US" sz="1150" dirty="0"/>
          </a:p>
        </p:txBody>
      </p:sp>
      <p:sp>
        <p:nvSpPr>
          <p:cNvPr id="7" name="Shape 3"/>
          <p:cNvSpPr/>
          <p:nvPr/>
        </p:nvSpPr>
        <p:spPr>
          <a:xfrm>
            <a:off x="502920" y="5623560"/>
            <a:ext cx="11185855" cy="566928"/>
          </a:xfrm>
          <a:prstGeom prst="roundRect">
            <a:avLst>
              <a:gd name="adj" fmla="val 9677"/>
            </a:avLst>
          </a:prstGeom>
          <a:solidFill>
            <a:srgbClr val="10394A"/>
          </a:solidFill>
          <a:ln/>
        </p:spPr>
      </p:sp>
      <p:sp>
        <p:nvSpPr>
          <p:cNvPr id="8" name="Text 4"/>
          <p:cNvSpPr txBox="1"/>
          <p:nvPr/>
        </p:nvSpPr>
        <p:spPr>
          <a:xfrm>
            <a:off x="777240" y="564184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El precio de la mejora: la batería cicla ×2,2 y el hidrógeno no servido pasa de 0,82 a 3,07 kg/semana en el escenario nublado.</a:t>
            </a:r>
            <a:endParaRPr lang="en-US" sz="1350" dirty="0"/>
          </a:p>
        </p:txBody>
      </p:sp>
      <p:sp>
        <p:nvSpPr>
          <p:cNvPr id="9" name="Text 5"/>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LOS TRES EMS  ·  5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Y la mejora se puede atribuir pieza a pieza</a:t>
            </a:r>
            <a:endParaRPr lang="en-US" sz="2600" dirty="0"/>
          </a:p>
        </p:txBody>
      </p:sp>
      <p:sp>
        <p:nvSpPr>
          <p:cNvPr id="4" name="Text 2"/>
          <p:cNvSpPr txBox="1"/>
          <p:nvPr/>
        </p:nvSpPr>
        <p:spPr>
          <a:xfrm>
            <a:off x="502920" y="1581912"/>
            <a:ext cx="1554480" cy="777240"/>
          </a:xfrm>
          <a:prstGeom prst="rect">
            <a:avLst/>
          </a:prstGeom>
          <a:noFill/>
          <a:ln/>
        </p:spPr>
        <p:txBody>
          <a:bodyPr wrap="square" lIns="0" tIns="0" rIns="0" bIns="0" rtlCol="0" anchor="ctr"/>
          <a:lstStyle/>
          <a:p>
            <a:pPr indent="0" marL="0">
              <a:buNone/>
            </a:pPr>
            <a:r>
              <a:rPr lang="en-US" sz="1500" b="1" dirty="0">
                <a:solidFill>
                  <a:srgbClr val="10394A"/>
                </a:solidFill>
                <a:latin typeface="Calibri" pitchFamily="34" charset="0"/>
                <a:ea typeface="Calibri" pitchFamily="34" charset="-122"/>
                <a:cs typeface="Calibri" pitchFamily="34" charset="-120"/>
              </a:rPr>
              <a:t>A → C0</a:t>
            </a:r>
            <a:endParaRPr lang="en-US" sz="1500" dirty="0"/>
          </a:p>
        </p:txBody>
      </p:sp>
      <p:sp>
        <p:nvSpPr>
          <p:cNvPr id="5" name="Text 3"/>
          <p:cNvSpPr txBox="1"/>
          <p:nvPr/>
        </p:nvSpPr>
        <p:spPr>
          <a:xfrm>
            <a:off x="2148840" y="1581912"/>
            <a:ext cx="5486400" cy="402336"/>
          </a:xfrm>
          <a:prstGeom prst="rect">
            <a:avLst/>
          </a:prstGeom>
          <a:noFill/>
          <a:ln/>
        </p:spPr>
        <p:txBody>
          <a:bodyPr wrap="square" lIns="0" tIns="0" rIns="0" bIns="0" rtlCol="0" anchor="ctr"/>
          <a:lstStyle/>
          <a:p>
            <a:pPr indent="0" marL="0">
              <a:buNone/>
            </a:pPr>
            <a:r>
              <a:rPr lang="en-US" sz="1500" b="1" dirty="0">
                <a:solidFill>
                  <a:srgbClr val="1C1C1C"/>
                </a:solidFill>
                <a:latin typeface="Calibri" pitchFamily="34" charset="0"/>
                <a:ea typeface="Calibri" pitchFamily="34" charset="-122"/>
                <a:cs typeface="Calibri" pitchFamily="34" charset="-120"/>
              </a:rPr>
              <a:t>Alimentar el electrolizador desde la batería</a:t>
            </a:r>
            <a:endParaRPr lang="en-US" sz="1500" dirty="0"/>
          </a:p>
        </p:txBody>
      </p:sp>
      <p:sp>
        <p:nvSpPr>
          <p:cNvPr id="6" name="Text 4"/>
          <p:cNvSpPr txBox="1"/>
          <p:nvPr/>
        </p:nvSpPr>
        <p:spPr>
          <a:xfrm>
            <a:off x="2148840" y="1965960"/>
            <a:ext cx="5486400" cy="384048"/>
          </a:xfrm>
          <a:prstGeom prst="rect">
            <a:avLst/>
          </a:prstGeom>
          <a:noFill/>
          <a:ln/>
        </p:spPr>
        <p:txBody>
          <a:bodyPr wrap="square" lIns="0" tIns="0" rIns="0" bIns="0" rtlCol="0" anchor="ctr"/>
          <a:lstStyle/>
          <a:p>
            <a:pPr indent="0" marL="0">
              <a:buNone/>
            </a:pPr>
            <a:r>
              <a:rPr lang="en-US" sz="1200" dirty="0">
                <a:solidFill>
                  <a:srgbClr val="5F6B72"/>
                </a:solidFill>
                <a:latin typeface="Calibri" pitchFamily="34" charset="0"/>
                <a:ea typeface="Calibri" pitchFamily="34" charset="-122"/>
                <a:cs typeface="Calibri" pitchFamily="34" charset="-120"/>
              </a:rPr>
              <a:t>20/20 pares · el 90 % del ahorro</a:t>
            </a:r>
            <a:endParaRPr lang="en-US" sz="1200" dirty="0"/>
          </a:p>
        </p:txBody>
      </p:sp>
      <p:sp>
        <p:nvSpPr>
          <p:cNvPr id="7" name="Text 5"/>
          <p:cNvSpPr txBox="1"/>
          <p:nvPr/>
        </p:nvSpPr>
        <p:spPr>
          <a:xfrm>
            <a:off x="7498080" y="1581912"/>
            <a:ext cx="4206240" cy="777240"/>
          </a:xfrm>
          <a:prstGeom prst="rect">
            <a:avLst/>
          </a:prstGeom>
          <a:noFill/>
          <a:ln/>
        </p:spPr>
        <p:txBody>
          <a:bodyPr wrap="square" lIns="0" tIns="0" rIns="0" bIns="0" rtlCol="0" anchor="ctr"/>
          <a:lstStyle/>
          <a:p>
            <a:pPr algn="r" indent="0" marL="0">
              <a:buNone/>
            </a:pPr>
            <a:r>
              <a:rPr lang="en-US" sz="3200" b="1" dirty="0">
                <a:solidFill>
                  <a:srgbClr val="C8861E"/>
                </a:solidFill>
                <a:latin typeface="Cambria" pitchFamily="34" charset="0"/>
                <a:ea typeface="Cambria" pitchFamily="34" charset="-122"/>
                <a:cs typeface="Cambria" pitchFamily="34" charset="-120"/>
              </a:rPr>
              <a:t>− 47,1 €</a:t>
            </a:r>
            <a:endParaRPr lang="en-US" sz="3200" dirty="0"/>
          </a:p>
        </p:txBody>
      </p:sp>
      <p:sp>
        <p:nvSpPr>
          <p:cNvPr id="8" name="Shape 6"/>
          <p:cNvSpPr/>
          <p:nvPr/>
        </p:nvSpPr>
        <p:spPr>
          <a:xfrm>
            <a:off x="502920" y="2496312"/>
            <a:ext cx="11185855" cy="0"/>
          </a:xfrm>
          <a:prstGeom prst="line">
            <a:avLst/>
          </a:prstGeom>
          <a:noFill/>
          <a:ln w="9525">
            <a:solidFill>
              <a:srgbClr val="DDE3E6"/>
            </a:solidFill>
            <a:prstDash val="solid"/>
          </a:ln>
        </p:spPr>
      </p:sp>
      <p:sp>
        <p:nvSpPr>
          <p:cNvPr id="9" name="Text 7"/>
          <p:cNvSpPr txBox="1"/>
          <p:nvPr/>
        </p:nvSpPr>
        <p:spPr>
          <a:xfrm>
            <a:off x="502920" y="2697480"/>
            <a:ext cx="1554480" cy="777240"/>
          </a:xfrm>
          <a:prstGeom prst="rect">
            <a:avLst/>
          </a:prstGeom>
          <a:noFill/>
          <a:ln/>
        </p:spPr>
        <p:txBody>
          <a:bodyPr wrap="square" lIns="0" tIns="0" rIns="0" bIns="0" rtlCol="0" anchor="ctr"/>
          <a:lstStyle/>
          <a:p>
            <a:pPr indent="0" marL="0">
              <a:buNone/>
            </a:pPr>
            <a:r>
              <a:rPr lang="en-US" sz="1500" b="1" dirty="0">
                <a:solidFill>
                  <a:srgbClr val="10394A"/>
                </a:solidFill>
                <a:latin typeface="Calibri" pitchFamily="34" charset="0"/>
                <a:ea typeface="Calibri" pitchFamily="34" charset="-122"/>
                <a:cs typeface="Calibri" pitchFamily="34" charset="-120"/>
              </a:rPr>
              <a:t>C0 → Cp</a:t>
            </a:r>
            <a:endParaRPr lang="en-US" sz="1500" dirty="0"/>
          </a:p>
        </p:txBody>
      </p:sp>
      <p:sp>
        <p:nvSpPr>
          <p:cNvPr id="10" name="Text 8"/>
          <p:cNvSpPr txBox="1"/>
          <p:nvPr/>
        </p:nvSpPr>
        <p:spPr>
          <a:xfrm>
            <a:off x="2148840" y="2697480"/>
            <a:ext cx="5486400" cy="402336"/>
          </a:xfrm>
          <a:prstGeom prst="rect">
            <a:avLst/>
          </a:prstGeom>
          <a:noFill/>
          <a:ln/>
        </p:spPr>
        <p:txBody>
          <a:bodyPr wrap="square" lIns="0" tIns="0" rIns="0" bIns="0" rtlCol="0" anchor="ctr"/>
          <a:lstStyle/>
          <a:p>
            <a:pPr indent="0" marL="0">
              <a:buNone/>
            </a:pPr>
            <a:r>
              <a:rPr lang="en-US" sz="1500" b="1" dirty="0">
                <a:solidFill>
                  <a:srgbClr val="1C1C1C"/>
                </a:solidFill>
                <a:latin typeface="Calibri" pitchFamily="34" charset="0"/>
                <a:ea typeface="Calibri" pitchFamily="34" charset="-122"/>
                <a:cs typeface="Calibri" pitchFamily="34" charset="-120"/>
              </a:rPr>
              <a:t>Añadir la programación de las horas</a:t>
            </a:r>
            <a:endParaRPr lang="en-US" sz="1500" dirty="0"/>
          </a:p>
        </p:txBody>
      </p:sp>
      <p:sp>
        <p:nvSpPr>
          <p:cNvPr id="11" name="Text 9"/>
          <p:cNvSpPr txBox="1"/>
          <p:nvPr/>
        </p:nvSpPr>
        <p:spPr>
          <a:xfrm>
            <a:off x="2148840" y="3081528"/>
            <a:ext cx="5486400" cy="384048"/>
          </a:xfrm>
          <a:prstGeom prst="rect">
            <a:avLst/>
          </a:prstGeom>
          <a:noFill/>
          <a:ln/>
        </p:spPr>
        <p:txBody>
          <a:bodyPr wrap="square" lIns="0" tIns="0" rIns="0" bIns="0" rtlCol="0" anchor="ctr"/>
          <a:lstStyle/>
          <a:p>
            <a:pPr indent="0" marL="0">
              <a:buNone/>
            </a:pPr>
            <a:r>
              <a:rPr lang="en-US" sz="1200" dirty="0">
                <a:solidFill>
                  <a:srgbClr val="5F6B72"/>
                </a:solidFill>
                <a:latin typeface="Calibri" pitchFamily="34" charset="0"/>
                <a:ea typeface="Calibri" pitchFamily="34" charset="-122"/>
                <a:cs typeface="Calibri" pitchFamily="34" charset="-120"/>
              </a:rPr>
              <a:t>19/20 · significativa, bajo el umbral de relevancia</a:t>
            </a:r>
            <a:endParaRPr lang="en-US" sz="1200" dirty="0"/>
          </a:p>
        </p:txBody>
      </p:sp>
      <p:sp>
        <p:nvSpPr>
          <p:cNvPr id="12" name="Text 10"/>
          <p:cNvSpPr txBox="1"/>
          <p:nvPr/>
        </p:nvSpPr>
        <p:spPr>
          <a:xfrm>
            <a:off x="7498080" y="2697480"/>
            <a:ext cx="4206240" cy="777240"/>
          </a:xfrm>
          <a:prstGeom prst="rect">
            <a:avLst/>
          </a:prstGeom>
          <a:noFill/>
          <a:ln/>
        </p:spPr>
        <p:txBody>
          <a:bodyPr wrap="square" lIns="0" tIns="0" rIns="0" bIns="0" rtlCol="0" anchor="ctr"/>
          <a:lstStyle/>
          <a:p>
            <a:pPr algn="r" indent="0" marL="0">
              <a:buNone/>
            </a:pPr>
            <a:r>
              <a:rPr lang="en-US" sz="3200" b="1" dirty="0">
                <a:solidFill>
                  <a:srgbClr val="C8861E"/>
                </a:solidFill>
                <a:latin typeface="Cambria" pitchFamily="34" charset="0"/>
                <a:ea typeface="Cambria" pitchFamily="34" charset="-122"/>
                <a:cs typeface="Cambria" pitchFamily="34" charset="-120"/>
              </a:rPr>
              <a:t>− 5,1 €</a:t>
            </a:r>
            <a:endParaRPr lang="en-US" sz="3200" dirty="0"/>
          </a:p>
        </p:txBody>
      </p:sp>
      <p:sp>
        <p:nvSpPr>
          <p:cNvPr id="13" name="Shape 11"/>
          <p:cNvSpPr/>
          <p:nvPr/>
        </p:nvSpPr>
        <p:spPr>
          <a:xfrm>
            <a:off x="502920" y="3611880"/>
            <a:ext cx="11185855" cy="0"/>
          </a:xfrm>
          <a:prstGeom prst="line">
            <a:avLst/>
          </a:prstGeom>
          <a:noFill/>
          <a:ln w="9525">
            <a:solidFill>
              <a:srgbClr val="DDE3E6"/>
            </a:solidFill>
            <a:prstDash val="solid"/>
          </a:ln>
        </p:spPr>
      </p:sp>
      <p:sp>
        <p:nvSpPr>
          <p:cNvPr id="14" name="Text 12"/>
          <p:cNvSpPr txBox="1"/>
          <p:nvPr/>
        </p:nvSpPr>
        <p:spPr>
          <a:xfrm>
            <a:off x="502920" y="3813048"/>
            <a:ext cx="1554480" cy="777240"/>
          </a:xfrm>
          <a:prstGeom prst="rect">
            <a:avLst/>
          </a:prstGeom>
          <a:noFill/>
          <a:ln/>
        </p:spPr>
        <p:txBody>
          <a:bodyPr wrap="square" lIns="0" tIns="0" rIns="0" bIns="0" rtlCol="0" anchor="ctr"/>
          <a:lstStyle/>
          <a:p>
            <a:pPr indent="0" marL="0">
              <a:buNone/>
            </a:pPr>
            <a:r>
              <a:rPr lang="en-US" sz="1500" b="1" dirty="0">
                <a:solidFill>
                  <a:srgbClr val="10394A"/>
                </a:solidFill>
                <a:latin typeface="Calibri" pitchFamily="34" charset="0"/>
                <a:ea typeface="Calibri" pitchFamily="34" charset="-122"/>
                <a:cs typeface="Calibri" pitchFamily="34" charset="-120"/>
              </a:rPr>
              <a:t>Cp → C</a:t>
            </a:r>
            <a:endParaRPr lang="en-US" sz="1500" dirty="0"/>
          </a:p>
        </p:txBody>
      </p:sp>
      <p:sp>
        <p:nvSpPr>
          <p:cNvPr id="15" name="Text 13"/>
          <p:cNvSpPr txBox="1"/>
          <p:nvPr/>
        </p:nvSpPr>
        <p:spPr>
          <a:xfrm>
            <a:off x="2148840" y="3813048"/>
            <a:ext cx="5486400" cy="402336"/>
          </a:xfrm>
          <a:prstGeom prst="rect">
            <a:avLst/>
          </a:prstGeom>
          <a:noFill/>
          <a:ln/>
        </p:spPr>
        <p:txBody>
          <a:bodyPr wrap="square" lIns="0" tIns="0" rIns="0" bIns="0" rtlCol="0" anchor="ctr"/>
          <a:lstStyle/>
          <a:p>
            <a:pPr indent="0" marL="0">
              <a:buNone/>
            </a:pPr>
            <a:r>
              <a:rPr lang="en-US" sz="1500" b="1" dirty="0">
                <a:solidFill>
                  <a:srgbClr val="1C1C1C"/>
                </a:solidFill>
                <a:latin typeface="Calibri" pitchFamily="34" charset="0"/>
                <a:ea typeface="Calibri" pitchFamily="34" charset="-122"/>
                <a:cs typeface="Calibri" pitchFamily="34" charset="-120"/>
              </a:rPr>
              <a:t>Añadir la red neuronal de precio</a:t>
            </a:r>
            <a:endParaRPr lang="en-US" sz="1500" dirty="0"/>
          </a:p>
        </p:txBody>
      </p:sp>
      <p:sp>
        <p:nvSpPr>
          <p:cNvPr id="16" name="Text 14"/>
          <p:cNvSpPr txBox="1"/>
          <p:nvPr/>
        </p:nvSpPr>
        <p:spPr>
          <a:xfrm>
            <a:off x="2148840" y="4197096"/>
            <a:ext cx="5486400" cy="384048"/>
          </a:xfrm>
          <a:prstGeom prst="rect">
            <a:avLst/>
          </a:prstGeom>
          <a:noFill/>
          <a:ln/>
        </p:spPr>
        <p:txBody>
          <a:bodyPr wrap="square" lIns="0" tIns="0" rIns="0" bIns="0" rtlCol="0" anchor="ctr"/>
          <a:lstStyle/>
          <a:p>
            <a:pPr indent="0" marL="0">
              <a:buNone/>
            </a:pPr>
            <a:r>
              <a:rPr lang="en-US" sz="1200" dirty="0">
                <a:solidFill>
                  <a:srgbClr val="5F6B72"/>
                </a:solidFill>
                <a:latin typeface="Calibri" pitchFamily="34" charset="0"/>
                <a:ea typeface="Calibri" pitchFamily="34" charset="-122"/>
                <a:cs typeface="Calibri" pitchFamily="34" charset="-120"/>
              </a:rPr>
              <a:t>idénticas a precisión de máquina en los 40 indicadores</a:t>
            </a:r>
            <a:endParaRPr lang="en-US" sz="1200" dirty="0"/>
          </a:p>
        </p:txBody>
      </p:sp>
      <p:sp>
        <p:nvSpPr>
          <p:cNvPr id="17" name="Text 15"/>
          <p:cNvSpPr txBox="1"/>
          <p:nvPr/>
        </p:nvSpPr>
        <p:spPr>
          <a:xfrm>
            <a:off x="7498080" y="3813048"/>
            <a:ext cx="4206240" cy="777240"/>
          </a:xfrm>
          <a:prstGeom prst="rect">
            <a:avLst/>
          </a:prstGeom>
          <a:noFill/>
          <a:ln/>
        </p:spPr>
        <p:txBody>
          <a:bodyPr wrap="square" lIns="0" tIns="0" rIns="0" bIns="0" rtlCol="0" anchor="ctr"/>
          <a:lstStyle/>
          <a:p>
            <a:pPr algn="r" indent="0" marL="0">
              <a:buNone/>
            </a:pPr>
            <a:r>
              <a:rPr lang="en-US" sz="3200" b="1" dirty="0">
                <a:solidFill>
                  <a:srgbClr val="5F6B72"/>
                </a:solidFill>
                <a:latin typeface="Cambria" pitchFamily="34" charset="0"/>
                <a:ea typeface="Cambria" pitchFamily="34" charset="-122"/>
                <a:cs typeface="Cambria" pitchFamily="34" charset="-120"/>
              </a:rPr>
              <a:t>0,00 €</a:t>
            </a:r>
            <a:endParaRPr lang="en-US" sz="3200" dirty="0"/>
          </a:p>
        </p:txBody>
      </p:sp>
      <p:sp>
        <p:nvSpPr>
          <p:cNvPr id="18" name="Text 16"/>
          <p:cNvSpPr txBox="1"/>
          <p:nvPr/>
        </p:nvSpPr>
        <p:spPr>
          <a:xfrm>
            <a:off x="502920" y="4956048"/>
            <a:ext cx="11185855" cy="365760"/>
          </a:xfrm>
          <a:prstGeom prst="rect">
            <a:avLst/>
          </a:prstGeom>
          <a:noFill/>
          <a:ln/>
        </p:spPr>
        <p:txBody>
          <a:bodyPr wrap="square" lIns="0" tIns="0" rIns="0" bIns="0" rtlCol="0" anchor="ctr"/>
          <a:lstStyle/>
          <a:p>
            <a:pPr indent="0" marL="0">
              <a:buNone/>
            </a:pPr>
            <a:r>
              <a:rPr lang="en-US" sz="1150" i="1" dirty="0">
                <a:solidFill>
                  <a:srgbClr val="5F6B72"/>
                </a:solidFill>
                <a:latin typeface="Calibri" pitchFamily="34" charset="0"/>
                <a:ea typeface="Calibri" pitchFamily="34" charset="-122"/>
                <a:cs typeface="Calibri" pitchFamily="34" charset="-120"/>
              </a:rPr>
              <a:t>C₀ = solo el cambio 1 (batería → electrolizador)   ·   C_p = C₀ + planificador con el precio ya publicado   ·   C = versión completa, con la LSTM en el tramo no publicado</a:t>
            </a:r>
            <a:endParaRPr lang="en-US" sz="1150" dirty="0"/>
          </a:p>
        </p:txBody>
      </p:sp>
      <p:sp>
        <p:nvSpPr>
          <p:cNvPr id="19" name="Shape 17"/>
          <p:cNvSpPr/>
          <p:nvPr/>
        </p:nvSpPr>
        <p:spPr>
          <a:xfrm>
            <a:off x="502920" y="5440680"/>
            <a:ext cx="11185855" cy="566928"/>
          </a:xfrm>
          <a:prstGeom prst="roundRect">
            <a:avLst>
              <a:gd name="adj" fmla="val 9677"/>
            </a:avLst>
          </a:prstGeom>
          <a:solidFill>
            <a:srgbClr val="10394A"/>
          </a:solidFill>
          <a:ln/>
        </p:spPr>
      </p:sp>
      <p:sp>
        <p:nvSpPr>
          <p:cNvPr id="20" name="Text 18"/>
          <p:cNvSpPr txBox="1"/>
          <p:nvPr/>
        </p:nvSpPr>
        <p:spPr>
          <a:xfrm>
            <a:off x="777240" y="5458968"/>
            <a:ext cx="10637215" cy="530352"/>
          </a:xfrm>
          <a:prstGeom prst="rect">
            <a:avLst/>
          </a:prstGeom>
          <a:noFill/>
          <a:ln/>
        </p:spPr>
        <p:txBody>
          <a:bodyPr wrap="square" lIns="0" tIns="0" rIns="0" bIns="0" rtlCol="0" anchor="ctr"/>
          <a:lstStyle/>
          <a:p>
            <a:pPr indent="0" marL="0">
              <a:lnSpc>
                <a:spcPct val="112000"/>
              </a:lnSpc>
              <a:buNone/>
            </a:pPr>
            <a:r>
              <a:rPr lang="en-US" sz="1350" dirty="0">
                <a:solidFill>
                  <a:srgbClr val="FFFFFF"/>
                </a:solidFill>
                <a:latin typeface="Calibri" pitchFamily="34" charset="0"/>
                <a:ea typeface="Calibri" pitchFamily="34" charset="-122"/>
                <a:cs typeface="Calibri" pitchFamily="34" charset="-120"/>
              </a:rPr>
              <a:t>El mercado diario publica a las 13:00 el precio del día siguiente: entre 11 y 35 horas del horizonte no hay nada que predecir.</a:t>
            </a:r>
            <a:endParaRPr lang="en-US" sz="1350" dirty="0"/>
          </a:p>
        </p:txBody>
      </p:sp>
      <p:sp>
        <p:nvSpPr>
          <p:cNvPr id="21" name="Text 19"/>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5F6B72"/>
                </a:solidFill>
                <a:latin typeface="Calibri" pitchFamily="34" charset="0"/>
                <a:ea typeface="Calibri" pitchFamily="34" charset="-122"/>
                <a:cs typeface="Calibri" pitchFamily="34" charset="-120"/>
              </a:rPr>
              <a:t>LIMITACIONES  ·  6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10394A"/>
                </a:solidFill>
                <a:latin typeface="Cambria" pitchFamily="34" charset="0"/>
                <a:ea typeface="Cambria" pitchFamily="34" charset="-122"/>
                <a:cs typeface="Cambria" pitchFamily="34" charset="-120"/>
              </a:rPr>
              <a:t>Limitaciones</a:t>
            </a:r>
            <a:endParaRPr lang="en-US" sz="2600" dirty="0"/>
          </a:p>
        </p:txBody>
      </p:sp>
      <p:sp>
        <p:nvSpPr>
          <p:cNvPr id="4" name="Text 2"/>
          <p:cNvSpPr txBox="1"/>
          <p:nvPr/>
        </p:nvSpPr>
        <p:spPr>
          <a:xfrm>
            <a:off x="502920" y="1536192"/>
            <a:ext cx="2103120" cy="365760"/>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Modelo físico</a:t>
            </a:r>
            <a:endParaRPr lang="en-US" sz="1700" dirty="0"/>
          </a:p>
        </p:txBody>
      </p:sp>
      <p:sp>
        <p:nvSpPr>
          <p:cNvPr id="5" name="Text 3"/>
          <p:cNvSpPr txBox="1"/>
          <p:nvPr/>
        </p:nvSpPr>
        <p:spPr>
          <a:xfrm>
            <a:off x="2788920" y="1536192"/>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Los tanques usan gas ideal: a 600 bar sobrestima ≈45 % la masa, la autonomía simulada es optimista</a:t>
            </a:r>
            <a:endParaRPr lang="en-US" sz="1300" dirty="0"/>
          </a:p>
        </p:txBody>
      </p:sp>
      <p:sp>
        <p:nvSpPr>
          <p:cNvPr id="6" name="Text 4"/>
          <p:cNvSpPr txBox="1"/>
          <p:nvPr/>
        </p:nvSpPr>
        <p:spPr>
          <a:xfrm>
            <a:off x="2788920" y="1993392"/>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La pila de combustible no arranca en ninguna simulación: el modo isla queda sin ejercitar</a:t>
            </a:r>
            <a:endParaRPr lang="en-US" sz="1300" dirty="0"/>
          </a:p>
        </p:txBody>
      </p:sp>
      <p:sp>
        <p:nvSpPr>
          <p:cNvPr id="7" name="Shape 5"/>
          <p:cNvSpPr/>
          <p:nvPr/>
        </p:nvSpPr>
        <p:spPr>
          <a:xfrm>
            <a:off x="502920" y="2770632"/>
            <a:ext cx="11185855" cy="0"/>
          </a:xfrm>
          <a:prstGeom prst="line">
            <a:avLst/>
          </a:prstGeom>
          <a:noFill/>
          <a:ln w="9525">
            <a:solidFill>
              <a:srgbClr val="DDE3E6"/>
            </a:solidFill>
            <a:prstDash val="solid"/>
          </a:ln>
        </p:spPr>
      </p:sp>
      <p:sp>
        <p:nvSpPr>
          <p:cNvPr id="8" name="Text 6"/>
          <p:cNvSpPr txBox="1"/>
          <p:nvPr/>
        </p:nvSpPr>
        <p:spPr>
          <a:xfrm>
            <a:off x="502920" y="3017520"/>
            <a:ext cx="2103120" cy="365760"/>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Datos</a:t>
            </a:r>
            <a:endParaRPr lang="en-US" sz="1700" dirty="0"/>
          </a:p>
        </p:txBody>
      </p:sp>
      <p:sp>
        <p:nvSpPr>
          <p:cNvPr id="9" name="Text 7"/>
          <p:cNvSpPr txBox="1"/>
          <p:nvPr/>
        </p:nvSpPr>
        <p:spPr>
          <a:xfrm>
            <a:off x="2788920" y="3017520"/>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La irradiancia procede de un reanálisis, no de piranómetro ni de previsión meteorológica operativa</a:t>
            </a:r>
            <a:endParaRPr lang="en-US" sz="1300" dirty="0"/>
          </a:p>
        </p:txBody>
      </p:sp>
      <p:sp>
        <p:nvSpPr>
          <p:cNvPr id="10" name="Text 8"/>
          <p:cNvSpPr txBox="1"/>
          <p:nvPr/>
        </p:nvSpPr>
        <p:spPr>
          <a:xfrm>
            <a:off x="2788920" y="3474720"/>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La demanda de hidrógeno se aproxima por analogía con la de vehículos eléctricos</a:t>
            </a:r>
            <a:endParaRPr lang="en-US" sz="1300" dirty="0"/>
          </a:p>
        </p:txBody>
      </p:sp>
      <p:sp>
        <p:nvSpPr>
          <p:cNvPr id="11" name="Shape 9"/>
          <p:cNvSpPr/>
          <p:nvPr/>
        </p:nvSpPr>
        <p:spPr>
          <a:xfrm>
            <a:off x="502920" y="4251960"/>
            <a:ext cx="11185855" cy="0"/>
          </a:xfrm>
          <a:prstGeom prst="line">
            <a:avLst/>
          </a:prstGeom>
          <a:noFill/>
          <a:ln w="9525">
            <a:solidFill>
              <a:srgbClr val="DDE3E6"/>
            </a:solidFill>
            <a:prstDash val="solid"/>
          </a:ln>
        </p:spPr>
      </p:sp>
      <p:sp>
        <p:nvSpPr>
          <p:cNvPr id="12" name="Text 10"/>
          <p:cNvSpPr txBox="1"/>
          <p:nvPr/>
        </p:nvSpPr>
        <p:spPr>
          <a:xfrm>
            <a:off x="502920" y="4498848"/>
            <a:ext cx="2103120" cy="365760"/>
          </a:xfrm>
          <a:prstGeom prst="rect">
            <a:avLst/>
          </a:prstGeom>
          <a:noFill/>
          <a:ln/>
        </p:spPr>
        <p:txBody>
          <a:bodyPr wrap="square" lIns="0" tIns="0" rIns="0" bIns="0" rtlCol="0" anchor="t"/>
          <a:lstStyle/>
          <a:p>
            <a:pPr indent="0" marL="0">
              <a:buNone/>
            </a:pPr>
            <a:r>
              <a:rPr lang="en-US" sz="1700" b="1" dirty="0">
                <a:solidFill>
                  <a:srgbClr val="10394A"/>
                </a:solidFill>
                <a:latin typeface="Cambria" pitchFamily="34" charset="0"/>
                <a:ea typeface="Cambria" pitchFamily="34" charset="-122"/>
                <a:cs typeface="Cambria" pitchFamily="34" charset="-120"/>
              </a:rPr>
              <a:t>Alcance</a:t>
            </a:r>
            <a:endParaRPr lang="en-US" sz="1700" dirty="0"/>
          </a:p>
        </p:txBody>
      </p:sp>
      <p:sp>
        <p:nvSpPr>
          <p:cNvPr id="13" name="Text 11"/>
          <p:cNvSpPr txBox="1"/>
          <p:nvPr/>
        </p:nvSpPr>
        <p:spPr>
          <a:xfrm>
            <a:off x="2788920" y="4498848"/>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El coste no incluye peajes ni cargos: las cifras son comparativas, no de facturación</a:t>
            </a:r>
            <a:endParaRPr lang="en-US" sz="1300" dirty="0"/>
          </a:p>
        </p:txBody>
      </p:sp>
      <p:sp>
        <p:nvSpPr>
          <p:cNvPr id="14" name="Text 12"/>
          <p:cNvSpPr txBox="1"/>
          <p:nvPr/>
        </p:nvSpPr>
        <p:spPr>
          <a:xfrm>
            <a:off x="2788920" y="4956048"/>
            <a:ext cx="8899855" cy="438912"/>
          </a:xfrm>
          <a:prstGeom prst="rect">
            <a:avLst/>
          </a:prstGeom>
          <a:noFill/>
          <a:ln/>
        </p:spPr>
        <p:txBody>
          <a:bodyPr wrap="square" lIns="0" tIns="0" rIns="0" bIns="0" rtlCol="0" anchor="ctr"/>
          <a:lstStyle/>
          <a:p>
            <a:pPr indent="0" marL="0">
              <a:buNone/>
            </a:pPr>
            <a:r>
              <a:rPr lang="en-US" sz="1300" dirty="0">
                <a:solidFill>
                  <a:srgbClr val="1C1C1C"/>
                </a:solidFill>
                <a:latin typeface="Calibri" pitchFamily="34" charset="0"/>
                <a:ea typeface="Calibri" pitchFamily="34" charset="-122"/>
                <a:cs typeface="Calibri" pitchFamily="34" charset="-120"/>
              </a:rPr>
              <a:t>— La referencia es una implementación concreta, no un algoritmo de referencia establecido</a:t>
            </a:r>
            <a:endParaRPr lang="en-US" sz="1300" dirty="0"/>
          </a:p>
        </p:txBody>
      </p:sp>
      <p:sp>
        <p:nvSpPr>
          <p:cNvPr id="15" name="Text 13"/>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A8B4B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394A"/>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000" b="1" spc="220" kern="0" dirty="0">
                <a:solidFill>
                  <a:srgbClr val="C8861E"/>
                </a:solidFill>
                <a:latin typeface="Calibri" pitchFamily="34" charset="0"/>
                <a:ea typeface="Calibri" pitchFamily="34" charset="-122"/>
                <a:cs typeface="Calibri" pitchFamily="34" charset="-120"/>
              </a:rPr>
              <a:t>CONCLUSIONES  ·  7 de 7</a:t>
            </a:r>
            <a:endParaRPr lang="en-US" sz="1000" dirty="0"/>
          </a:p>
        </p:txBody>
      </p:sp>
      <p:sp>
        <p:nvSpPr>
          <p:cNvPr id="3" name="Text 1"/>
          <p:cNvSpPr txBox="1"/>
          <p:nvPr/>
        </p:nvSpPr>
        <p:spPr>
          <a:xfrm>
            <a:off x="502920" y="585216"/>
            <a:ext cx="11185855" cy="786384"/>
          </a:xfrm>
          <a:prstGeom prst="rect">
            <a:avLst/>
          </a:prstGeom>
          <a:noFill/>
          <a:ln/>
        </p:spPr>
        <p:txBody>
          <a:bodyPr wrap="square" lIns="0" tIns="0" rIns="0" bIns="0" rtlCol="0" anchor="t"/>
          <a:lstStyle/>
          <a:p>
            <a:pPr indent="0" marL="0">
              <a:lnSpc>
                <a:spcPct val="100000"/>
              </a:lnSpc>
              <a:buNone/>
            </a:pPr>
            <a:r>
              <a:rPr lang="en-US" sz="2600" b="1" dirty="0">
                <a:solidFill>
                  <a:srgbClr val="FFFFFF"/>
                </a:solidFill>
                <a:latin typeface="Cambria" pitchFamily="34" charset="0"/>
                <a:ea typeface="Cambria" pitchFamily="34" charset="-122"/>
                <a:cs typeface="Cambria" pitchFamily="34" charset="-120"/>
              </a:rPr>
              <a:t>Conclusiones</a:t>
            </a:r>
            <a:endParaRPr lang="en-US" sz="2600" dirty="0"/>
          </a:p>
        </p:txBody>
      </p:sp>
      <p:sp>
        <p:nvSpPr>
          <p:cNvPr id="4" name="Text 2"/>
          <p:cNvSpPr txBox="1"/>
          <p:nvPr/>
        </p:nvSpPr>
        <p:spPr>
          <a:xfrm>
            <a:off x="502920" y="1627632"/>
            <a:ext cx="411480" cy="411480"/>
          </a:xfrm>
          <a:prstGeom prst="rect">
            <a:avLst/>
          </a:prstGeom>
          <a:noFill/>
          <a:ln/>
        </p:spPr>
        <p:txBody>
          <a:bodyPr wrap="square" lIns="0" tIns="0" rIns="0" bIns="0" rtlCol="0" anchor="ctr"/>
          <a:lstStyle/>
          <a:p>
            <a:pPr indent="0" marL="0">
              <a:buNone/>
            </a:pPr>
            <a:r>
              <a:rPr lang="en-US" sz="2200" b="1" dirty="0">
                <a:solidFill>
                  <a:srgbClr val="C8861E"/>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960120" y="1627632"/>
            <a:ext cx="10728655"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Dos modelos de previsión validados y corregidos</a:t>
            </a:r>
            <a:endParaRPr lang="en-US" sz="1900" dirty="0"/>
          </a:p>
        </p:txBody>
      </p:sp>
      <p:sp>
        <p:nvSpPr>
          <p:cNvPr id="6" name="Text 4"/>
          <p:cNvSpPr txBox="1"/>
          <p:nvPr/>
        </p:nvSpPr>
        <p:spPr>
          <a:xfrm>
            <a:off x="960120" y="2048256"/>
            <a:ext cx="10728655" cy="502920"/>
          </a:xfrm>
          <a:prstGeom prst="rect">
            <a:avLst/>
          </a:prstGeom>
          <a:noFill/>
          <a:ln/>
        </p:spPr>
        <p:txBody>
          <a:bodyPr wrap="square" lIns="0" tIns="0" rIns="0" bIns="0" rtlCol="0" anchor="t"/>
          <a:lstStyle/>
          <a:p>
            <a:pPr indent="0" marL="0">
              <a:buNone/>
            </a:pPr>
            <a:r>
              <a:rPr lang="en-US" sz="1300" dirty="0">
                <a:solidFill>
                  <a:srgbClr val="A9C2D0"/>
                </a:solidFill>
                <a:latin typeface="Calibri" pitchFamily="34" charset="0"/>
                <a:ea typeface="Calibri" pitchFamily="34" charset="-122"/>
                <a:cs typeface="Calibri" pitchFamily="34" charset="-120"/>
              </a:rPr>
              <a:t>Ninguno bate solo a su línea base; la ponderación con el naive sí, y es lo que se despliega</a:t>
            </a:r>
            <a:endParaRPr lang="en-US" sz="1300" dirty="0"/>
          </a:p>
        </p:txBody>
      </p:sp>
      <p:sp>
        <p:nvSpPr>
          <p:cNvPr id="7" name="Text 5"/>
          <p:cNvSpPr txBox="1"/>
          <p:nvPr/>
        </p:nvSpPr>
        <p:spPr>
          <a:xfrm>
            <a:off x="502920" y="2761488"/>
            <a:ext cx="411480" cy="411480"/>
          </a:xfrm>
          <a:prstGeom prst="rect">
            <a:avLst/>
          </a:prstGeom>
          <a:noFill/>
          <a:ln/>
        </p:spPr>
        <p:txBody>
          <a:bodyPr wrap="square" lIns="0" tIns="0" rIns="0" bIns="0" rtlCol="0" anchor="ctr"/>
          <a:lstStyle/>
          <a:p>
            <a:pPr indent="0" marL="0">
              <a:buNone/>
            </a:pPr>
            <a:r>
              <a:rPr lang="en-US" sz="2200" b="1" dirty="0">
                <a:solidFill>
                  <a:srgbClr val="C8861E"/>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960120" y="2761488"/>
            <a:ext cx="10728655"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Tres gestores comparados sobre la misma instalación</a:t>
            </a:r>
            <a:endParaRPr lang="en-US" sz="1900" dirty="0"/>
          </a:p>
        </p:txBody>
      </p:sp>
      <p:sp>
        <p:nvSpPr>
          <p:cNvPr id="9" name="Text 7"/>
          <p:cNvSpPr txBox="1"/>
          <p:nvPr/>
        </p:nvSpPr>
        <p:spPr>
          <a:xfrm>
            <a:off x="960120" y="3182112"/>
            <a:ext cx="10728655" cy="502920"/>
          </a:xfrm>
          <a:prstGeom prst="rect">
            <a:avLst/>
          </a:prstGeom>
          <a:noFill/>
          <a:ln/>
        </p:spPr>
        <p:txBody>
          <a:bodyPr wrap="square" lIns="0" tIns="0" rIns="0" bIns="0" rtlCol="0" anchor="t"/>
          <a:lstStyle/>
          <a:p>
            <a:pPr indent="0" marL="0">
              <a:buNone/>
            </a:pPr>
            <a:r>
              <a:rPr lang="en-US" sz="1300" dirty="0">
                <a:solidFill>
                  <a:srgbClr val="A9C2D0"/>
                </a:solidFill>
                <a:latin typeface="Calibri" pitchFamily="34" charset="0"/>
                <a:ea typeface="Calibri" pitchFamily="34" charset="-122"/>
                <a:cs typeface="Calibri" pitchFamily="34" charset="-120"/>
              </a:rPr>
              <a:t>B mejora el servicio de hidrógeno; C reduce un 13,9 % el coste semanal en los veinte casos</a:t>
            </a:r>
            <a:endParaRPr lang="en-US" sz="1300" dirty="0"/>
          </a:p>
        </p:txBody>
      </p:sp>
      <p:sp>
        <p:nvSpPr>
          <p:cNvPr id="10" name="Text 8"/>
          <p:cNvSpPr txBox="1"/>
          <p:nvPr/>
        </p:nvSpPr>
        <p:spPr>
          <a:xfrm>
            <a:off x="502920" y="3895344"/>
            <a:ext cx="411480" cy="411480"/>
          </a:xfrm>
          <a:prstGeom prst="rect">
            <a:avLst/>
          </a:prstGeom>
          <a:noFill/>
          <a:ln/>
        </p:spPr>
        <p:txBody>
          <a:bodyPr wrap="square" lIns="0" tIns="0" rIns="0" bIns="0" rtlCol="0" anchor="ctr"/>
          <a:lstStyle/>
          <a:p>
            <a:pPr indent="0" marL="0">
              <a:buNone/>
            </a:pPr>
            <a:r>
              <a:rPr lang="en-US" sz="2200" b="1" dirty="0">
                <a:solidFill>
                  <a:srgbClr val="C8861E"/>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960120" y="3895344"/>
            <a:ext cx="10728655" cy="4114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Una cadena de medida que atribuye la mejora</a:t>
            </a:r>
            <a:endParaRPr lang="en-US" sz="1900" dirty="0"/>
          </a:p>
        </p:txBody>
      </p:sp>
      <p:sp>
        <p:nvSpPr>
          <p:cNvPr id="12" name="Text 10"/>
          <p:cNvSpPr txBox="1"/>
          <p:nvPr/>
        </p:nvSpPr>
        <p:spPr>
          <a:xfrm>
            <a:off x="960120" y="4315968"/>
            <a:ext cx="10728655" cy="502920"/>
          </a:xfrm>
          <a:prstGeom prst="rect">
            <a:avLst/>
          </a:prstGeom>
          <a:noFill/>
          <a:ln/>
        </p:spPr>
        <p:txBody>
          <a:bodyPr wrap="square" lIns="0" tIns="0" rIns="0" bIns="0" rtlCol="0" anchor="t"/>
          <a:lstStyle/>
          <a:p>
            <a:pPr indent="0" marL="0">
              <a:buNone/>
            </a:pPr>
            <a:r>
              <a:rPr lang="en-US" sz="1300" dirty="0">
                <a:solidFill>
                  <a:srgbClr val="A9C2D0"/>
                </a:solidFill>
                <a:latin typeface="Calibri" pitchFamily="34" charset="0"/>
                <a:ea typeface="Calibri" pitchFamily="34" charset="-122"/>
                <a:cs typeface="Calibri" pitchFamily="34" charset="-120"/>
              </a:rPr>
              <a:t>47,1 € del uso de la batería, 5,1 de la programación, 0,00 de la red de precio</a:t>
            </a:r>
            <a:endParaRPr lang="en-US" sz="1300" dirty="0"/>
          </a:p>
        </p:txBody>
      </p:sp>
      <p:sp>
        <p:nvSpPr>
          <p:cNvPr id="13" name="Shape 11"/>
          <p:cNvSpPr/>
          <p:nvPr/>
        </p:nvSpPr>
        <p:spPr>
          <a:xfrm>
            <a:off x="502920" y="5029200"/>
            <a:ext cx="11185855" cy="749808"/>
          </a:xfrm>
          <a:prstGeom prst="roundRect">
            <a:avLst>
              <a:gd name="adj" fmla="val 7317"/>
            </a:avLst>
          </a:prstGeom>
          <a:solidFill>
            <a:srgbClr val="1C4E63"/>
          </a:solidFill>
          <a:ln/>
        </p:spPr>
      </p:sp>
      <p:sp>
        <p:nvSpPr>
          <p:cNvPr id="14" name="Text 12"/>
          <p:cNvSpPr txBox="1"/>
          <p:nvPr/>
        </p:nvSpPr>
        <p:spPr>
          <a:xfrm>
            <a:off x="777240" y="5065776"/>
            <a:ext cx="10637215" cy="676656"/>
          </a:xfrm>
          <a:prstGeom prst="rect">
            <a:avLst/>
          </a:prstGeom>
          <a:noFill/>
          <a:ln/>
        </p:spPr>
        <p:txBody>
          <a:bodyPr wrap="square" lIns="0" tIns="0" rIns="0" bIns="0" rtlCol="0" anchor="ctr"/>
          <a:lstStyle/>
          <a:p>
            <a:pPr indent="0" marL="0">
              <a:lnSpc>
                <a:spcPct val="110000"/>
              </a:lnSpc>
              <a:buNone/>
            </a:pPr>
            <a:r>
              <a:rPr lang="en-US" sz="1250" dirty="0">
                <a:solidFill>
                  <a:srgbClr val="C4D6E0"/>
                </a:solidFill>
                <a:latin typeface="Calibri" pitchFamily="34" charset="0"/>
                <a:ea typeface="Calibri" pitchFamily="34" charset="-122"/>
                <a:cs typeface="Calibri" pitchFamily="34" charset="-120"/>
              </a:rPr>
              <a:t>Líneas futuras: aislar la previsión solar · objetivo de inventario del tanque previo al día nublado · modelo de degradación de la batería · control predictivo a 48 h, donde el mercado ya no está publicado</a:t>
            </a:r>
            <a:endParaRPr lang="en-US" sz="1250" dirty="0"/>
          </a:p>
        </p:txBody>
      </p:sp>
      <p:sp>
        <p:nvSpPr>
          <p:cNvPr id="15" name="Text 13"/>
          <p:cNvSpPr txBox="1"/>
          <p:nvPr/>
        </p:nvSpPr>
        <p:spPr>
          <a:xfrm>
            <a:off x="502920" y="5943600"/>
            <a:ext cx="11185855" cy="384048"/>
          </a:xfrm>
          <a:prstGeom prst="rect">
            <a:avLst/>
          </a:prstGeom>
          <a:noFill/>
          <a:ln/>
        </p:spPr>
        <p:txBody>
          <a:bodyPr wrap="square" lIns="0" tIns="0" rIns="0" bIns="0" rtlCol="0" anchor="ctr"/>
          <a:lstStyle/>
          <a:p>
            <a:pPr algn="ctr" indent="0" marL="0">
              <a:buNone/>
            </a:pPr>
            <a:r>
              <a:rPr lang="en-US" sz="1600" b="1" i="1" dirty="0">
                <a:solidFill>
                  <a:srgbClr val="FFFFFF"/>
                </a:solidFill>
                <a:latin typeface="Cambria" pitchFamily="34" charset="0"/>
                <a:ea typeface="Cambria" pitchFamily="34" charset="-122"/>
                <a:cs typeface="Cambria" pitchFamily="34" charset="-120"/>
              </a:rPr>
              <a:t>Muchas gracias por su atención</a:t>
            </a:r>
            <a:endParaRPr lang="en-US" sz="1600" dirty="0"/>
          </a:p>
        </p:txBody>
      </p:sp>
      <p:sp>
        <p:nvSpPr>
          <p:cNvPr id="16" name="Text 14"/>
          <p:cNvSpPr txBox="1"/>
          <p:nvPr/>
        </p:nvSpPr>
        <p:spPr>
          <a:xfrm>
            <a:off x="11140135" y="6327648"/>
            <a:ext cx="548640" cy="256032"/>
          </a:xfrm>
          <a:prstGeom prst="rect">
            <a:avLst/>
          </a:prstGeom>
          <a:noFill/>
          <a:ln/>
        </p:spPr>
        <p:txBody>
          <a:bodyPr wrap="square" lIns="0" tIns="0" rIns="0" bIns="0" rtlCol="0" anchor="ctr"/>
          <a:lstStyle/>
          <a:p>
            <a:pPr algn="r" indent="0" marL="0">
              <a:buNone/>
            </a:pPr>
            <a:r>
              <a:rPr lang="en-US" sz="900" dirty="0">
                <a:solidFill>
                  <a:srgbClr val="6B87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394A"/>
        </a:solidFill>
      </p:bgPr>
    </p:bg>
    <p:spTree>
      <p:nvGrpSpPr>
        <p:cNvPr id="1" name=""/>
        <p:cNvGrpSpPr/>
        <p:nvPr/>
      </p:nvGrpSpPr>
      <p:grpSpPr>
        <a:xfrm>
          <a:off x="0" y="0"/>
          <a:ext cx="0" cy="0"/>
          <a:chOff x="0" y="0"/>
          <a:chExt cx="0" cy="0"/>
        </a:xfrm>
      </p:grpSpPr>
      <p:sp>
        <p:nvSpPr>
          <p:cNvPr id="2" name="Text 0"/>
          <p:cNvSpPr txBox="1"/>
          <p:nvPr/>
        </p:nvSpPr>
        <p:spPr>
          <a:xfrm>
            <a:off x="502920" y="2743200"/>
            <a:ext cx="11185855" cy="82296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Diapositivas de reserva</a:t>
            </a:r>
            <a:endParaRPr lang="en-US" sz="3400" dirty="0"/>
          </a:p>
        </p:txBody>
      </p:sp>
      <p:sp>
        <p:nvSpPr>
          <p:cNvPr id="3" name="Text 1"/>
          <p:cNvSpPr txBox="1"/>
          <p:nvPr/>
        </p:nvSpPr>
        <p:spPr>
          <a:xfrm>
            <a:off x="1097280" y="3703320"/>
            <a:ext cx="9997135" cy="640080"/>
          </a:xfrm>
          <a:prstGeom prst="rect">
            <a:avLst/>
          </a:prstGeom>
          <a:noFill/>
          <a:ln/>
        </p:spPr>
        <p:txBody>
          <a:bodyPr wrap="square" lIns="0" tIns="0" rIns="0" bIns="0" rtlCol="0" anchor="ctr"/>
          <a:lstStyle/>
          <a:p>
            <a:pPr algn="ctr" indent="0" marL="0">
              <a:lnSpc>
                <a:spcPct val="120000"/>
              </a:lnSpc>
              <a:buNone/>
            </a:pPr>
            <a:r>
              <a:rPr lang="en-US" sz="1300" dirty="0">
                <a:solidFill>
                  <a:srgbClr val="A9C2D0"/>
                </a:solidFill>
                <a:latin typeface="Calibri" pitchFamily="34" charset="0"/>
                <a:ea typeface="Calibri" pitchFamily="34" charset="-122"/>
                <a:cs typeface="Calibri" pitchFamily="34" charset="-120"/>
              </a:rPr>
              <a:t>R1 semana completa con la Versión C   ·   R2 día nublado hora a hora   ·   R3 nivel del tanque en la semana nublada   ·   R4 predicción de precio en los cuatro días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3657600" cy="237744"/>
          </a:xfrm>
          <a:prstGeom prst="rect">
            <a:avLst/>
          </a:prstGeom>
          <a:noFill/>
          <a:ln/>
        </p:spPr>
        <p:txBody>
          <a:bodyPr wrap="square" lIns="0" tIns="0" rIns="0" bIns="0" rtlCol="0" anchor="ctr"/>
          <a:lstStyle/>
          <a:p>
            <a:pPr indent="0" marL="0">
              <a:buNone/>
            </a:pPr>
            <a:r>
              <a:rPr lang="en-US" sz="1000" b="1" spc="220" kern="0" dirty="0">
                <a:solidFill>
                  <a:srgbClr val="C8861E"/>
                </a:solidFill>
                <a:latin typeface="Calibri" pitchFamily="34" charset="0"/>
                <a:ea typeface="Calibri" pitchFamily="34" charset="-122"/>
                <a:cs typeface="Calibri" pitchFamily="34" charset="-120"/>
              </a:rPr>
              <a:t>RESERVA R1</a:t>
            </a:r>
            <a:endParaRPr lang="en-US" sz="1000" dirty="0"/>
          </a:p>
        </p:txBody>
      </p:sp>
      <p:sp>
        <p:nvSpPr>
          <p:cNvPr id="3" name="Text 1"/>
          <p:cNvSpPr txBox="1"/>
          <p:nvPr/>
        </p:nvSpPr>
        <p:spPr>
          <a:xfrm>
            <a:off x="502920" y="640080"/>
            <a:ext cx="3794760" cy="1371600"/>
          </a:xfrm>
          <a:prstGeom prst="rect">
            <a:avLst/>
          </a:prstGeom>
          <a:noFill/>
          <a:ln/>
        </p:spPr>
        <p:txBody>
          <a:bodyPr wrap="square" lIns="0" tIns="0" rIns="0" bIns="0" rtlCol="0" anchor="t"/>
          <a:lstStyle/>
          <a:p>
            <a:pPr indent="0" marL="0">
              <a:lnSpc>
                <a:spcPct val="105000"/>
              </a:lnSpc>
              <a:buNone/>
            </a:pPr>
            <a:r>
              <a:rPr lang="en-US" sz="2300" b="1" dirty="0">
                <a:solidFill>
                  <a:srgbClr val="10394A"/>
                </a:solidFill>
                <a:latin typeface="Cambria" pitchFamily="34" charset="0"/>
                <a:ea typeface="Cambria" pitchFamily="34" charset="-122"/>
                <a:cs typeface="Cambria" pitchFamily="34" charset="-120"/>
              </a:rPr>
              <a:t>Una semana completa con la Versión C</a:t>
            </a:r>
            <a:endParaRPr lang="en-US" sz="2300" dirty="0"/>
          </a:p>
        </p:txBody>
      </p:sp>
      <p:sp>
        <p:nvSpPr>
          <p:cNvPr id="4" name="Text 2"/>
          <p:cNvSpPr txBox="1"/>
          <p:nvPr/>
        </p:nvSpPr>
        <p:spPr>
          <a:xfrm>
            <a:off x="502920" y="2103120"/>
            <a:ext cx="3794760" cy="548640"/>
          </a:xfrm>
          <a:prstGeom prst="rect">
            <a:avLst/>
          </a:prstGeom>
          <a:noFill/>
          <a:ln/>
        </p:spPr>
        <p:txBody>
          <a:bodyPr wrap="square" lIns="0" tIns="0" rIns="0" bIns="0" rtlCol="0" anchor="t"/>
          <a:lstStyle/>
          <a:p>
            <a:pPr indent="0" marL="0">
              <a:buNone/>
            </a:pPr>
            <a:r>
              <a:rPr lang="en-US" sz="1250" i="1" dirty="0">
                <a:solidFill>
                  <a:srgbClr val="5F6B72"/>
                </a:solidFill>
                <a:latin typeface="Calibri" pitchFamily="34" charset="0"/>
                <a:ea typeface="Calibri" pitchFamily="34" charset="-122"/>
                <a:cs typeface="Calibri" pitchFamily="34" charset="-120"/>
              </a:rPr>
              <a:t>Escenario laborable soleado, semilla 1</a:t>
            </a:r>
            <a:endParaRPr lang="en-US" sz="1250" dirty="0"/>
          </a:p>
        </p:txBody>
      </p:sp>
      <p:sp>
        <p:nvSpPr>
          <p:cNvPr id="5" name="Shape 3"/>
          <p:cNvSpPr/>
          <p:nvPr/>
        </p:nvSpPr>
        <p:spPr>
          <a:xfrm>
            <a:off x="502920" y="2743200"/>
            <a:ext cx="3794760" cy="0"/>
          </a:xfrm>
          <a:prstGeom prst="line">
            <a:avLst/>
          </a:prstGeom>
          <a:noFill/>
          <a:ln w="9525">
            <a:solidFill>
              <a:srgbClr val="DDE3E6"/>
            </a:solidFill>
            <a:prstDash val="solid"/>
          </a:ln>
        </p:spPr>
      </p:sp>
      <p:sp>
        <p:nvSpPr>
          <p:cNvPr id="6" name="Text 4"/>
          <p:cNvSpPr txBox="1"/>
          <p:nvPr/>
        </p:nvSpPr>
        <p:spPr>
          <a:xfrm>
            <a:off x="502920" y="2926080"/>
            <a:ext cx="3794760" cy="3017520"/>
          </a:xfrm>
          <a:prstGeom prst="rect">
            <a:avLst/>
          </a:prstGeom>
          <a:noFill/>
          <a:ln/>
        </p:spPr>
        <p:txBody>
          <a:bodyPr wrap="square" lIns="0" tIns="0" rIns="0" bIns="0" rtlCol="0" anchor="t"/>
          <a:lstStyle/>
          <a:p>
            <a:pPr indent="0" marL="0">
              <a:lnSpc>
                <a:spcPct val="118000"/>
              </a:lnSpc>
              <a:buNone/>
            </a:pPr>
            <a:r>
              <a:rPr lang="en-US" sz="1200" dirty="0">
                <a:solidFill>
                  <a:srgbClr val="1C1C1C"/>
                </a:solidFill>
                <a:latin typeface="Calibri" pitchFamily="34" charset="0"/>
                <a:ea typeface="Calibri" pitchFamily="34" charset="-122"/>
                <a:cs typeface="Calibri" pitchFamily="34" charset="-120"/>
              </a:rPr>
              <a:t>Potencias en el bus de alterna · precio horario · SOC con la reserva del 60 % · nivel de los dos tanques con la zona crítica sombreada.</a:t>
            </a:r>
            <a:endParaRPr lang="en-US" sz="1200" dirty="0"/>
          </a:p>
        </p:txBody>
      </p:sp>
      <p:pic>
        <p:nvPicPr>
          <p:cNvPr id="7" name="Image 0" descr="img/fig_res_panorama.png">    </p:cNvPr>
          <p:cNvPicPr>
            <a:picLocks noChangeAspect="1"/>
          </p:cNvPicPr>
          <p:nvPr/>
        </p:nvPicPr>
        <p:blipFill>
          <a:blip r:embed="rId1"/>
          <a:stretch>
            <a:fillRect/>
          </a:stretch>
        </p:blipFill>
        <p:spPr>
          <a:xfrm>
            <a:off x="4712377" y="640080"/>
            <a:ext cx="6973181" cy="5577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3657600" cy="237744"/>
          </a:xfrm>
          <a:prstGeom prst="rect">
            <a:avLst/>
          </a:prstGeom>
          <a:noFill/>
          <a:ln/>
        </p:spPr>
        <p:txBody>
          <a:bodyPr wrap="square" lIns="0" tIns="0" rIns="0" bIns="0" rtlCol="0" anchor="ctr"/>
          <a:lstStyle/>
          <a:p>
            <a:pPr indent="0" marL="0">
              <a:buNone/>
            </a:pPr>
            <a:r>
              <a:rPr lang="en-US" sz="1000" b="1" spc="220" kern="0" dirty="0">
                <a:solidFill>
                  <a:srgbClr val="C8861E"/>
                </a:solidFill>
                <a:latin typeface="Calibri" pitchFamily="34" charset="0"/>
                <a:ea typeface="Calibri" pitchFamily="34" charset="-122"/>
                <a:cs typeface="Calibri" pitchFamily="34" charset="-120"/>
              </a:rPr>
              <a:t>RESERVA R2</a:t>
            </a:r>
            <a:endParaRPr lang="en-US" sz="1000" dirty="0"/>
          </a:p>
        </p:txBody>
      </p:sp>
      <p:sp>
        <p:nvSpPr>
          <p:cNvPr id="3" name="Text 1"/>
          <p:cNvSpPr txBox="1"/>
          <p:nvPr/>
        </p:nvSpPr>
        <p:spPr>
          <a:xfrm>
            <a:off x="502920" y="640080"/>
            <a:ext cx="3794760" cy="1371600"/>
          </a:xfrm>
          <a:prstGeom prst="rect">
            <a:avLst/>
          </a:prstGeom>
          <a:noFill/>
          <a:ln/>
        </p:spPr>
        <p:txBody>
          <a:bodyPr wrap="square" lIns="0" tIns="0" rIns="0" bIns="0" rtlCol="0" anchor="t"/>
          <a:lstStyle/>
          <a:p>
            <a:pPr indent="0" marL="0">
              <a:lnSpc>
                <a:spcPct val="105000"/>
              </a:lnSpc>
              <a:buNone/>
            </a:pPr>
            <a:r>
              <a:rPr lang="en-US" sz="2300" b="1" dirty="0">
                <a:solidFill>
                  <a:srgbClr val="10394A"/>
                </a:solidFill>
                <a:latin typeface="Cambria" pitchFamily="34" charset="0"/>
                <a:ea typeface="Cambria" pitchFamily="34" charset="-122"/>
                <a:cs typeface="Cambria" pitchFamily="34" charset="-120"/>
              </a:rPr>
              <a:t>Un día del escenario nublado, hora a hora</a:t>
            </a:r>
            <a:endParaRPr lang="en-US" sz="2300" dirty="0"/>
          </a:p>
        </p:txBody>
      </p:sp>
      <p:sp>
        <p:nvSpPr>
          <p:cNvPr id="4" name="Text 2"/>
          <p:cNvSpPr txBox="1"/>
          <p:nvPr/>
        </p:nvSpPr>
        <p:spPr>
          <a:xfrm>
            <a:off x="502920" y="2103120"/>
            <a:ext cx="3794760" cy="548640"/>
          </a:xfrm>
          <a:prstGeom prst="rect">
            <a:avLst/>
          </a:prstGeom>
          <a:noFill/>
          <a:ln/>
        </p:spPr>
        <p:txBody>
          <a:bodyPr wrap="square" lIns="0" tIns="0" rIns="0" bIns="0" rtlCol="0" anchor="t"/>
          <a:lstStyle/>
          <a:p>
            <a:pPr indent="0" marL="0">
              <a:buNone/>
            </a:pPr>
            <a:r>
              <a:rPr lang="en-US" sz="1250" i="1" dirty="0">
                <a:solidFill>
                  <a:srgbClr val="5F6B72"/>
                </a:solidFill>
                <a:latin typeface="Calibri" pitchFamily="34" charset="0"/>
                <a:ea typeface="Calibri" pitchFamily="34" charset="-122"/>
                <a:cs typeface="Calibri" pitchFamily="34" charset="-120"/>
              </a:rPr>
              <a:t>Misma semilla, Versión A frente a Versión C</a:t>
            </a:r>
            <a:endParaRPr lang="en-US" sz="1250" dirty="0"/>
          </a:p>
        </p:txBody>
      </p:sp>
      <p:sp>
        <p:nvSpPr>
          <p:cNvPr id="5" name="Shape 3"/>
          <p:cNvSpPr/>
          <p:nvPr/>
        </p:nvSpPr>
        <p:spPr>
          <a:xfrm>
            <a:off x="502920" y="2743200"/>
            <a:ext cx="3794760" cy="0"/>
          </a:xfrm>
          <a:prstGeom prst="line">
            <a:avLst/>
          </a:prstGeom>
          <a:noFill/>
          <a:ln w="9525">
            <a:solidFill>
              <a:srgbClr val="DDE3E6"/>
            </a:solidFill>
            <a:prstDash val="solid"/>
          </a:ln>
        </p:spPr>
      </p:sp>
      <p:sp>
        <p:nvSpPr>
          <p:cNvPr id="6" name="Text 4"/>
          <p:cNvSpPr txBox="1"/>
          <p:nvPr/>
        </p:nvSpPr>
        <p:spPr>
          <a:xfrm>
            <a:off x="502920" y="2926080"/>
            <a:ext cx="3794760" cy="3017520"/>
          </a:xfrm>
          <a:prstGeom prst="rect">
            <a:avLst/>
          </a:prstGeom>
          <a:noFill/>
          <a:ln/>
        </p:spPr>
        <p:txBody>
          <a:bodyPr wrap="square" lIns="0" tIns="0" rIns="0" bIns="0" rtlCol="0" anchor="t"/>
          <a:lstStyle/>
          <a:p>
            <a:pPr indent="0" marL="0">
              <a:lnSpc>
                <a:spcPct val="118000"/>
              </a:lnSpc>
              <a:buNone/>
            </a:pPr>
            <a:r>
              <a:rPr lang="en-US" sz="1200" dirty="0">
                <a:solidFill>
                  <a:srgbClr val="1C1C1C"/>
                </a:solidFill>
                <a:latin typeface="Calibri" pitchFamily="34" charset="0"/>
                <a:ea typeface="Calibri" pitchFamily="34" charset="-122"/>
                <a:cs typeface="Calibri" pitchFamily="34" charset="-120"/>
              </a:rPr>
              <a:t>En C la batería baja hasta la reserva alimentando al electrolizador y la importación desaparece; en A la batería se mantiene llena y el electrolizador consume red.</a:t>
            </a:r>
            <a:endParaRPr lang="en-US" sz="1200" dirty="0"/>
          </a:p>
        </p:txBody>
      </p:sp>
      <p:pic>
        <p:nvPicPr>
          <p:cNvPr id="7" name="Image 0" descr="img/fig_res_dia_nublado.png">    </p:cNvPr>
          <p:cNvPicPr>
            <a:picLocks noChangeAspect="1"/>
          </p:cNvPicPr>
          <p:nvPr/>
        </p:nvPicPr>
        <p:blipFill>
          <a:blip r:embed="rId1"/>
          <a:stretch>
            <a:fillRect/>
          </a:stretch>
        </p:blipFill>
        <p:spPr>
          <a:xfrm>
            <a:off x="4712818" y="640080"/>
            <a:ext cx="6972300" cy="5577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3657600" cy="237744"/>
          </a:xfrm>
          <a:prstGeom prst="rect">
            <a:avLst/>
          </a:prstGeom>
          <a:noFill/>
          <a:ln/>
        </p:spPr>
        <p:txBody>
          <a:bodyPr wrap="square" lIns="0" tIns="0" rIns="0" bIns="0" rtlCol="0" anchor="ctr"/>
          <a:lstStyle/>
          <a:p>
            <a:pPr indent="0" marL="0">
              <a:buNone/>
            </a:pPr>
            <a:r>
              <a:rPr lang="en-US" sz="1000" b="1" spc="220" kern="0" dirty="0">
                <a:solidFill>
                  <a:srgbClr val="C8861E"/>
                </a:solidFill>
                <a:latin typeface="Calibri" pitchFamily="34" charset="0"/>
                <a:ea typeface="Calibri" pitchFamily="34" charset="-122"/>
                <a:cs typeface="Calibri" pitchFamily="34" charset="-120"/>
              </a:rPr>
              <a:t>RESERVA R3</a:t>
            </a:r>
            <a:endParaRPr lang="en-US" sz="1000" dirty="0"/>
          </a:p>
        </p:txBody>
      </p:sp>
      <p:sp>
        <p:nvSpPr>
          <p:cNvPr id="3" name="Text 1"/>
          <p:cNvSpPr txBox="1"/>
          <p:nvPr/>
        </p:nvSpPr>
        <p:spPr>
          <a:xfrm>
            <a:off x="502920" y="585216"/>
            <a:ext cx="11185855" cy="457200"/>
          </a:xfrm>
          <a:prstGeom prst="rect">
            <a:avLst/>
          </a:prstGeom>
          <a:noFill/>
          <a:ln/>
        </p:spPr>
        <p:txBody>
          <a:bodyPr wrap="square" lIns="0" tIns="0" rIns="0" bIns="0" rtlCol="0" anchor="ctr"/>
          <a:lstStyle/>
          <a:p>
            <a:pPr indent="0" marL="0">
              <a:buNone/>
            </a:pPr>
            <a:r>
              <a:rPr lang="en-US" sz="2400" b="1" dirty="0">
                <a:solidFill>
                  <a:srgbClr val="10394A"/>
                </a:solidFill>
                <a:latin typeface="Cambria" pitchFamily="34" charset="0"/>
                <a:ea typeface="Cambria" pitchFamily="34" charset="-122"/>
                <a:cs typeface="Cambria" pitchFamily="34" charset="-120"/>
              </a:rPr>
              <a:t>Nivel del tanque de alta en la semana nublada</a:t>
            </a:r>
            <a:endParaRPr lang="en-US" sz="2400" dirty="0"/>
          </a:p>
        </p:txBody>
      </p:sp>
      <p:sp>
        <p:nvSpPr>
          <p:cNvPr id="4" name="Text 2"/>
          <p:cNvSpPr txBox="1"/>
          <p:nvPr/>
        </p:nvSpPr>
        <p:spPr>
          <a:xfrm>
            <a:off x="502920" y="1060704"/>
            <a:ext cx="11185855" cy="292608"/>
          </a:xfrm>
          <a:prstGeom prst="rect">
            <a:avLst/>
          </a:prstGeom>
          <a:noFill/>
          <a:ln/>
        </p:spPr>
        <p:txBody>
          <a:bodyPr wrap="square" lIns="0" tIns="0" rIns="0" bIns="0" rtlCol="0" anchor="ctr"/>
          <a:lstStyle/>
          <a:p>
            <a:pPr indent="0" marL="0">
              <a:buNone/>
            </a:pPr>
            <a:r>
              <a:rPr lang="en-US" sz="1250" i="1" dirty="0">
                <a:solidFill>
                  <a:srgbClr val="5F6B72"/>
                </a:solidFill>
                <a:latin typeface="Calibri" pitchFamily="34" charset="0"/>
                <a:ea typeface="Calibri" pitchFamily="34" charset="-122"/>
                <a:cs typeface="Calibri" pitchFamily="34" charset="-120"/>
              </a:rPr>
              <a:t>Misma semilla, con la zona crítica sombreada</a:t>
            </a:r>
            <a:endParaRPr lang="en-US" sz="1250" dirty="0"/>
          </a:p>
        </p:txBody>
      </p:sp>
      <p:pic>
        <p:nvPicPr>
          <p:cNvPr id="5" name="Image 0" descr="img/fig_res_tanque_nublado.png">    </p:cNvPr>
          <p:cNvPicPr>
            <a:picLocks noChangeAspect="1"/>
          </p:cNvPicPr>
          <p:nvPr/>
        </p:nvPicPr>
        <p:blipFill>
          <a:blip r:embed="rId1"/>
          <a:stretch>
            <a:fillRect/>
          </a:stretch>
        </p:blipFill>
        <p:spPr>
          <a:xfrm>
            <a:off x="952348" y="1463040"/>
            <a:ext cx="10287000" cy="4114800"/>
          </a:xfrm>
          <a:prstGeom prst="rect">
            <a:avLst/>
          </a:prstGeom>
        </p:spPr>
      </p:pic>
      <p:sp>
        <p:nvSpPr>
          <p:cNvPr id="6" name="Text 3"/>
          <p:cNvSpPr txBox="1"/>
          <p:nvPr/>
        </p:nvSpPr>
        <p:spPr>
          <a:xfrm>
            <a:off x="502920" y="5687568"/>
            <a:ext cx="11185855" cy="548640"/>
          </a:xfrm>
          <a:prstGeom prst="rect">
            <a:avLst/>
          </a:prstGeom>
          <a:noFill/>
          <a:ln/>
        </p:spPr>
        <p:txBody>
          <a:bodyPr wrap="square" lIns="0" tIns="0" rIns="0" bIns="0" rtlCol="0" anchor="ctr"/>
          <a:lstStyle/>
          <a:p>
            <a:pPr indent="0" marL="0">
              <a:lnSpc>
                <a:spcPct val="110000"/>
              </a:lnSpc>
              <a:buNone/>
            </a:pPr>
            <a:r>
              <a:rPr lang="en-US" sz="1150" dirty="0">
                <a:solidFill>
                  <a:srgbClr val="5F6B72"/>
                </a:solidFill>
                <a:latin typeface="Calibri" pitchFamily="34" charset="0"/>
                <a:ea typeface="Calibri" pitchFamily="34" charset="-122"/>
                <a:cs typeface="Calibri" pitchFamily="34" charset="-120"/>
              </a:rPr>
              <a:t>C pasa más tiempo en la zona crítica que A: es la contrapartida del ahorro, y está valorada dentro de la métrica de coste. El nivel baja de cero porque los integradores de los tanques tienen desactivada la saturación de salida: ese tramo negativo ES el indicador de hidrógeno no servido, y se valora a 8 €/kg dentro del coste total.</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3657600" cy="237744"/>
          </a:xfrm>
          <a:prstGeom prst="rect">
            <a:avLst/>
          </a:prstGeom>
          <a:noFill/>
          <a:ln/>
        </p:spPr>
        <p:txBody>
          <a:bodyPr wrap="square" lIns="0" tIns="0" rIns="0" bIns="0" rtlCol="0" anchor="ctr"/>
          <a:lstStyle/>
          <a:p>
            <a:pPr indent="0" marL="0">
              <a:buNone/>
            </a:pPr>
            <a:r>
              <a:rPr lang="en-US" sz="1000" b="1" spc="220" kern="0" dirty="0">
                <a:solidFill>
                  <a:srgbClr val="C8861E"/>
                </a:solidFill>
                <a:latin typeface="Calibri" pitchFamily="34" charset="0"/>
                <a:ea typeface="Calibri" pitchFamily="34" charset="-122"/>
                <a:cs typeface="Calibri" pitchFamily="34" charset="-120"/>
              </a:rPr>
              <a:t>RESERVA R4</a:t>
            </a:r>
            <a:endParaRPr lang="en-US" sz="1000" dirty="0"/>
          </a:p>
        </p:txBody>
      </p:sp>
      <p:sp>
        <p:nvSpPr>
          <p:cNvPr id="3" name="Text 1"/>
          <p:cNvSpPr txBox="1"/>
          <p:nvPr/>
        </p:nvSpPr>
        <p:spPr>
          <a:xfrm>
            <a:off x="502920" y="640080"/>
            <a:ext cx="3794760" cy="1371600"/>
          </a:xfrm>
          <a:prstGeom prst="rect">
            <a:avLst/>
          </a:prstGeom>
          <a:noFill/>
          <a:ln/>
        </p:spPr>
        <p:txBody>
          <a:bodyPr wrap="square" lIns="0" tIns="0" rIns="0" bIns="0" rtlCol="0" anchor="t"/>
          <a:lstStyle/>
          <a:p>
            <a:pPr indent="0" marL="0">
              <a:lnSpc>
                <a:spcPct val="105000"/>
              </a:lnSpc>
              <a:buNone/>
            </a:pPr>
            <a:r>
              <a:rPr lang="en-US" sz="2300" b="1" dirty="0">
                <a:solidFill>
                  <a:srgbClr val="10394A"/>
                </a:solidFill>
                <a:latin typeface="Cambria" pitchFamily="34" charset="0"/>
                <a:ea typeface="Cambria" pitchFamily="34" charset="-122"/>
                <a:cs typeface="Cambria" pitchFamily="34" charset="-120"/>
              </a:rPr>
              <a:t>Predicción de precio en los cuatro días de campaña</a:t>
            </a:r>
            <a:endParaRPr lang="en-US" sz="2300" dirty="0"/>
          </a:p>
        </p:txBody>
      </p:sp>
      <p:sp>
        <p:nvSpPr>
          <p:cNvPr id="4" name="Text 2"/>
          <p:cNvSpPr txBox="1"/>
          <p:nvPr/>
        </p:nvSpPr>
        <p:spPr>
          <a:xfrm>
            <a:off x="502920" y="2103120"/>
            <a:ext cx="3794760" cy="548640"/>
          </a:xfrm>
          <a:prstGeom prst="rect">
            <a:avLst/>
          </a:prstGeom>
          <a:noFill/>
          <a:ln/>
        </p:spPr>
        <p:txBody>
          <a:bodyPr wrap="square" lIns="0" tIns="0" rIns="0" bIns="0" rtlCol="0" anchor="t"/>
          <a:lstStyle/>
          <a:p>
            <a:pPr indent="0" marL="0">
              <a:buNone/>
            </a:pPr>
            <a:r>
              <a:rPr lang="en-US" sz="1250" i="1" dirty="0">
                <a:solidFill>
                  <a:srgbClr val="5F6B72"/>
                </a:solidFill>
                <a:latin typeface="Calibri" pitchFamily="34" charset="0"/>
                <a:ea typeface="Calibri" pitchFamily="34" charset="-122"/>
                <a:cs typeface="Calibri" pitchFamily="34" charset="-120"/>
              </a:rPr>
              <a:t>LSTM frente a precio real y a la persistencia lag-24</a:t>
            </a:r>
            <a:endParaRPr lang="en-US" sz="1250" dirty="0"/>
          </a:p>
        </p:txBody>
      </p:sp>
      <p:sp>
        <p:nvSpPr>
          <p:cNvPr id="5" name="Shape 3"/>
          <p:cNvSpPr/>
          <p:nvPr/>
        </p:nvSpPr>
        <p:spPr>
          <a:xfrm>
            <a:off x="502920" y="2743200"/>
            <a:ext cx="3794760" cy="0"/>
          </a:xfrm>
          <a:prstGeom prst="line">
            <a:avLst/>
          </a:prstGeom>
          <a:noFill/>
          <a:ln w="9525">
            <a:solidFill>
              <a:srgbClr val="DDE3E6"/>
            </a:solidFill>
            <a:prstDash val="solid"/>
          </a:ln>
        </p:spPr>
      </p:sp>
      <p:sp>
        <p:nvSpPr>
          <p:cNvPr id="6" name="Text 4"/>
          <p:cNvSpPr txBox="1"/>
          <p:nvPr/>
        </p:nvSpPr>
        <p:spPr>
          <a:xfrm>
            <a:off x="502920" y="2926080"/>
            <a:ext cx="3794760" cy="3017520"/>
          </a:xfrm>
          <a:prstGeom prst="rect">
            <a:avLst/>
          </a:prstGeom>
          <a:noFill/>
          <a:ln/>
        </p:spPr>
        <p:txBody>
          <a:bodyPr wrap="square" lIns="0" tIns="0" rIns="0" bIns="0" rtlCol="0" anchor="t"/>
          <a:lstStyle/>
          <a:p>
            <a:pPr indent="0" marL="0">
              <a:lnSpc>
                <a:spcPct val="118000"/>
              </a:lnSpc>
              <a:buNone/>
            </a:pPr>
            <a:r>
              <a:rPr lang="en-US" sz="1200" dirty="0">
                <a:solidFill>
                  <a:srgbClr val="1C1C1C"/>
                </a:solidFill>
                <a:latin typeface="Calibri" pitchFamily="34" charset="0"/>
                <a:ea typeface="Calibri" pitchFamily="34" charset="-122"/>
                <a:cs typeface="Calibri" pitchFamily="34" charset="-120"/>
              </a:rPr>
              <a:t>La red sigue el perfil pero comprime la amplitud: el recorrido previsto es el 36 % del real en el escenario nublado y el 55 % de media.</a:t>
            </a:r>
            <a:endParaRPr lang="en-US" sz="1200" dirty="0"/>
          </a:p>
        </p:txBody>
      </p:sp>
      <p:pic>
        <p:nvPicPr>
          <p:cNvPr id="7" name="Image 0" descr="img/lstm_precio_PrediccionEnLosDiasDeLaCampana.png">    </p:cNvPr>
          <p:cNvPicPr>
            <a:picLocks noChangeAspect="1"/>
          </p:cNvPicPr>
          <p:nvPr/>
        </p:nvPicPr>
        <p:blipFill>
          <a:blip r:embed="rId1"/>
          <a:stretch>
            <a:fillRect/>
          </a:stretch>
        </p:blipFill>
        <p:spPr>
          <a:xfrm>
            <a:off x="4709160" y="640080"/>
            <a:ext cx="6979615" cy="552582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TFG - EMS estacion multi-energia</dc:title>
  <dc:subject>PptxGenJS Presentation</dc:subject>
  <dc:creator>Fernando Roman Hidalgo</dc:creator>
  <cp:lastModifiedBy>Fernando Roman Hidalgo</cp:lastModifiedBy>
  <cp:revision>1</cp:revision>
  <dcterms:created xsi:type="dcterms:W3CDTF">2026-09-16T16:46:39Z</dcterms:created>
  <dcterms:modified xsi:type="dcterms:W3CDTF">2026-09-16T16:46:39Z</dcterms:modified>
</cp:coreProperties>
</file>